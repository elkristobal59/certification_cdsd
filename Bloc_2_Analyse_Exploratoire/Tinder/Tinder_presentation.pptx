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regular r:id="rId17"/>
      <p:bold r:id="rId18"/>
      <p:italic r:id="rId19"/>
      <p:boldItalic r:id="rId20"/>
    </p:embeddedFont>
    <p:embeddedFont>
      <p:font typeface="Inter ExtraBold"/>
      <p:bold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h6A7Gkoi13sWRPjkar1/1inPJA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7.xml"/><Relationship Id="rId22" Type="http://schemas.openxmlformats.org/officeDocument/2006/relationships/font" Target="fonts/InterExtraBold-boldItalic.fntdata"/><Relationship Id="rId10" Type="http://schemas.openxmlformats.org/officeDocument/2006/relationships/slide" Target="slides/slide6.xml"/><Relationship Id="rId21" Type="http://schemas.openxmlformats.org/officeDocument/2006/relationships/font" Target="fonts/InterExtraBold-bold.fntdata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regular.fntdata"/><Relationship Id="rId16" Type="http://schemas.openxmlformats.org/officeDocument/2006/relationships/font" Target="fonts/InterSemiBold-boldItalic.fntdata"/><Relationship Id="rId5" Type="http://schemas.openxmlformats.org/officeDocument/2006/relationships/slide" Target="slides/slide1.xml"/><Relationship Id="rId19" Type="http://schemas.openxmlformats.org/officeDocument/2006/relationships/font" Target="fonts/Inter-italic.fntdata"/><Relationship Id="rId6" Type="http://schemas.openxmlformats.org/officeDocument/2006/relationships/slide" Target="slides/slide2.xml"/><Relationship Id="rId18" Type="http://schemas.openxmlformats.org/officeDocument/2006/relationships/font" Target="fonts/Inter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8ac193dba_0_0:notes"/>
          <p:cNvSpPr/>
          <p:nvPr>
            <p:ph idx="2" type="sldImg"/>
          </p:nvPr>
        </p:nvSpPr>
        <p:spPr>
          <a:xfrm>
            <a:off x="28575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f8ac193dba_0_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-1166813" y="0"/>
            <a:ext cx="533400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f8ac193dba_0_6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g3f8ac193dba_0_6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g3f8ac193dba_0_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8ac193dba_0_0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g3f8ac193dba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g3f8ac193dba_0_0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18" name="Google Shape;18;g3f8ac193dba_0_0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CDSD BLOC 2</a:t>
              </a:r>
              <a:endParaRPr b="0" i="0" sz="1000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TINDER</a:t>
              </a:r>
              <a:endParaRPr b="0" i="0" sz="2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9" name="Google Shape;19;g3f8ac193dba_0_0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b="1" i="0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b="0" i="0" sz="10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0" name="Google Shape;20;g3f8ac193dba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5750" y="2101600"/>
            <a:ext cx="160812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f8ac193dba_0_0"/>
          <p:cNvSpPr txBox="1"/>
          <p:nvPr/>
        </p:nvSpPr>
        <p:spPr>
          <a:xfrm>
            <a:off x="3139425" y="1143000"/>
            <a:ext cx="5909100" cy="28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0" i="0" lang="en-US" sz="38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Qu'est-ce qui fait qu'on se plaît ?</a:t>
            </a:r>
            <a:endParaRPr b="0" i="0" sz="38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Analyse exploratoire de 8 378 rendez-vous de speed dating.</a:t>
            </a:r>
            <a:endParaRPr b="0" i="0" sz="15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2"/>
          <p:cNvPicPr preferRelativeResize="0"/>
          <p:nvPr/>
        </p:nvPicPr>
        <p:blipFill rotWithShape="1">
          <a:blip r:embed="rId3">
            <a:alphaModFix/>
          </a:blip>
          <a:srcRect b="169" l="0" r="0" t="169"/>
          <a:stretch/>
        </p:blipFill>
        <p:spPr>
          <a:xfrm>
            <a:off x="466344" y="304800"/>
            <a:ext cx="576000" cy="3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1170432" y="257175"/>
            <a:ext cx="7543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dispositif et les chiffres de cadrage </a:t>
            </a:r>
            <a:endParaRPr b="0" i="0" sz="22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256222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466725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677227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45720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551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5720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participants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256222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8 378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256222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rdv de 4 min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725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0B5A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42,0 %</a:t>
            </a:r>
            <a:endParaRPr b="0" sz="2600">
              <a:solidFill>
                <a:srgbClr val="00B5A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66725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 « oui » individuels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77227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16,5 %</a:t>
            </a:r>
            <a:endParaRPr b="0" sz="26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77227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matchs réciproques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572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572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E4674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858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coût de la réciprocité</a:t>
            </a:r>
            <a:endParaRPr b="0" sz="13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858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Un participant dit « oui » 4 fois sur 10, mais la sélectivité mutuelle divise le taux de match par 2,5 pour tomber à 16 %.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6863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6863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49149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piège du dataset</a:t>
            </a:r>
            <a:endParaRPr b="0" sz="13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9149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Certaines notes étaient sur 10, d'autres sur 100. Tout a été normalisé et les valeurs manquantes ont été imputées par la médiane pour garantir la fiabilité de l'analyse.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457200" y="3905250"/>
            <a:ext cx="8229600" cy="619200"/>
          </a:xfrm>
          <a:prstGeom prst="roundRect">
            <a:avLst>
              <a:gd fmla="val 12307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647700" y="3905250"/>
            <a:ext cx="7848600" cy="61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Rigueur méthodologique : </a:t>
            </a:r>
            <a:r>
              <a:rPr b="0" lang="en-US" sz="10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195 variables, 21 vagues et 2 protocoles de notation : l'imputation robuste par la médiane et la normalisation des échelles conditionnent la validité scientifique de toute l'analyse.</a:t>
            </a:r>
            <a:endParaRPr b="0" sz="105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57" name="Google Shape;5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 que déclarent chercher hommes et femmes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0" name="Google Shape;60;p3"/>
          <p:cNvGrpSpPr/>
          <p:nvPr/>
        </p:nvGrpSpPr>
        <p:grpSpPr>
          <a:xfrm>
            <a:off x="5953281" y="1085850"/>
            <a:ext cx="2820573" cy="1000200"/>
            <a:chOff x="5953125" y="1085850"/>
            <a:chExt cx="2714700" cy="1000200"/>
          </a:xfrm>
        </p:grpSpPr>
        <p:sp>
          <p:nvSpPr>
            <p:cNvPr id="61" name="Google Shape;61;p3"/>
            <p:cNvSpPr/>
            <p:nvPr/>
          </p:nvSpPr>
          <p:spPr>
            <a:xfrm>
              <a:off x="5953125" y="1085850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3"/>
            <p:cNvSpPr txBox="1"/>
            <p:nvPr/>
          </p:nvSpPr>
          <p:spPr>
            <a:xfrm>
              <a:off x="6067425" y="1162050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Physique : Écart marquant</a:t>
              </a:r>
              <a:endParaRPr b="1" i="0" sz="11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hommes y accordent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~50 % de plus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que les femmes (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27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 vs 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17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" name="Google Shape;63;p3"/>
          <p:cNvGrpSpPr/>
          <p:nvPr/>
        </p:nvGrpSpPr>
        <p:grpSpPr>
          <a:xfrm>
            <a:off x="5953121" y="2162175"/>
            <a:ext cx="2820573" cy="1000200"/>
            <a:chOff x="5953125" y="2162175"/>
            <a:chExt cx="2714700" cy="1000200"/>
          </a:xfrm>
        </p:grpSpPr>
        <p:sp>
          <p:nvSpPr>
            <p:cNvPr id="64" name="Google Shape;64;p3"/>
            <p:cNvSpPr/>
            <p:nvPr/>
          </p:nvSpPr>
          <p:spPr>
            <a:xfrm>
              <a:off x="5953125" y="2162175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3"/>
            <p:cNvSpPr txBox="1"/>
            <p:nvPr/>
          </p:nvSpPr>
          <p:spPr>
            <a:xfrm>
              <a:off x="6067425" y="2238375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Intelligence &amp; Sincérité</a:t>
              </a:r>
              <a:endParaRPr b="1" i="0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Ces critères restent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prioritaires pour les femmes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(2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0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 et 18,3 %).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6" name="Google Shape;66;p3"/>
          <p:cNvGrpSpPr/>
          <p:nvPr/>
        </p:nvGrpSpPr>
        <p:grpSpPr>
          <a:xfrm>
            <a:off x="5953121" y="3238500"/>
            <a:ext cx="2820573" cy="809700"/>
            <a:chOff x="5953125" y="3238500"/>
            <a:chExt cx="2714700" cy="809700"/>
          </a:xfrm>
        </p:grpSpPr>
        <p:sp>
          <p:nvSpPr>
            <p:cNvPr id="67" name="Google Shape;67;p3"/>
            <p:cNvSpPr/>
            <p:nvPr/>
          </p:nvSpPr>
          <p:spPr>
            <a:xfrm>
              <a:off x="5953125" y="3238500"/>
              <a:ext cx="2714700" cy="809700"/>
            </a:xfrm>
            <a:prstGeom prst="roundRect">
              <a:avLst>
                <a:gd fmla="val 941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3"/>
            <p:cNvSpPr txBox="1"/>
            <p:nvPr/>
          </p:nvSpPr>
          <p:spPr>
            <a:xfrm>
              <a:off x="6067425" y="3314700"/>
              <a:ext cx="2486100" cy="6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Ambition : Critère secondaire</a:t>
              </a:r>
              <a:endParaRPr b="1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lang="en-US" sz="11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Délaissée chez les hommes (8,7 %, leur dernier critère), mais valorisée par les femmes (12,8 %)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9" name="Google Shape;69;p3"/>
          <p:cNvSpPr/>
          <p:nvPr/>
        </p:nvSpPr>
        <p:spPr>
          <a:xfrm>
            <a:off x="457200" y="4143375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"/>
          <p:cNvSpPr txBox="1"/>
          <p:nvPr/>
        </p:nvSpPr>
        <p:spPr>
          <a:xfrm>
            <a:off x="619125" y="4143375"/>
            <a:ext cx="79059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Hommes et femmes s'accordent sur l'intelligence et le fun, mais divergent fortement sur le poids avoué de l'attirance physique.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85148"/>
            <a:ext cx="5648324" cy="24691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77" name="Google Shape;7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4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discours contre le comportement réel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"/>
          <p:cNvSpPr txBox="1"/>
          <p:nvPr/>
        </p:nvSpPr>
        <p:spPr>
          <a:xfrm>
            <a:off x="152400" y="3476625"/>
            <a:ext cx="5334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Impact réel sur la décision de revoir la personne</a:t>
            </a:r>
            <a:endParaRPr b="0" i="1" sz="95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1" name="Google Shape;81;p4"/>
          <p:cNvGrpSpPr/>
          <p:nvPr/>
        </p:nvGrpSpPr>
        <p:grpSpPr>
          <a:xfrm>
            <a:off x="5715000" y="1095375"/>
            <a:ext cx="2971800" cy="838200"/>
            <a:chOff x="5715000" y="1095375"/>
            <a:chExt cx="2971800" cy="838200"/>
          </a:xfrm>
        </p:grpSpPr>
        <p:sp>
          <p:nvSpPr>
            <p:cNvPr id="82" name="Google Shape;82;p4"/>
            <p:cNvSpPr/>
            <p:nvPr/>
          </p:nvSpPr>
          <p:spPr>
            <a:xfrm>
              <a:off x="5715000" y="10953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4"/>
            <p:cNvSpPr txBox="1"/>
            <p:nvPr/>
          </p:nvSpPr>
          <p:spPr>
            <a:xfrm>
              <a:off x="5829300" y="11715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Sur le papier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n'était que 3ᵉ dans les déclarations 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des femmes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17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,</a:t>
              </a:r>
              <a:r>
                <a:rPr lang="en-US" sz="1000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9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4" name="Google Shape;84;p4"/>
          <p:cNvGrpSpPr/>
          <p:nvPr/>
        </p:nvGrpSpPr>
        <p:grpSpPr>
          <a:xfrm>
            <a:off x="5715000" y="2028825"/>
            <a:ext cx="2971800" cy="838200"/>
            <a:chOff x="5715000" y="2028825"/>
            <a:chExt cx="2971800" cy="838200"/>
          </a:xfrm>
        </p:grpSpPr>
        <p:sp>
          <p:nvSpPr>
            <p:cNvPr id="85" name="Google Shape;85;p4"/>
            <p:cNvSpPr/>
            <p:nvPr/>
          </p:nvSpPr>
          <p:spPr>
            <a:xfrm>
              <a:off x="5715000" y="202882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4"/>
            <p:cNvSpPr txBox="1"/>
            <p:nvPr/>
          </p:nvSpPr>
          <p:spPr>
            <a:xfrm>
              <a:off x="5829300" y="210502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En réalité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écrase la décision (corrélation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0,49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), suivi de près par le Fun (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0,41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4"/>
          <p:cNvGrpSpPr/>
          <p:nvPr/>
        </p:nvGrpSpPr>
        <p:grpSpPr>
          <a:xfrm>
            <a:off x="5715000" y="2962275"/>
            <a:ext cx="2971800" cy="838200"/>
            <a:chOff x="5715000" y="2962275"/>
            <a:chExt cx="2971800" cy="838200"/>
          </a:xfrm>
        </p:grpSpPr>
        <p:sp>
          <p:nvSpPr>
            <p:cNvPr id="88" name="Google Shape;88;p4"/>
            <p:cNvSpPr/>
            <p:nvPr/>
          </p:nvSpPr>
          <p:spPr>
            <a:xfrm>
              <a:off x="5715000" y="29622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4"/>
            <p:cNvSpPr txBox="1"/>
            <p:nvPr/>
          </p:nvSpPr>
          <p:spPr>
            <a:xfrm>
              <a:off x="5829300" y="30384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Le décalage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L'intelligence (0,21) et la sincérité sont deux fois moins prédictives que ce qui était annoncé.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0" name="Google Shape;90;p4"/>
          <p:cNvGrpSpPr/>
          <p:nvPr/>
        </p:nvGrpSpPr>
        <p:grpSpPr>
          <a:xfrm>
            <a:off x="457200" y="4000500"/>
            <a:ext cx="8229600" cy="571500"/>
            <a:chOff x="457200" y="4000500"/>
            <a:chExt cx="8229600" cy="571500"/>
          </a:xfrm>
        </p:grpSpPr>
        <p:sp>
          <p:nvSpPr>
            <p:cNvPr id="91" name="Google Shape;91;p4"/>
            <p:cNvSpPr/>
            <p:nvPr/>
          </p:nvSpPr>
          <p:spPr>
            <a:xfrm>
              <a:off x="457200" y="4000500"/>
              <a:ext cx="8229600" cy="571500"/>
            </a:xfrm>
            <a:prstGeom prst="roundRect">
              <a:avLst>
                <a:gd fmla="val 13333" name="adj"/>
              </a:avLst>
            </a:prstGeom>
            <a:solidFill>
              <a:srgbClr val="EDFFFE"/>
            </a:solidFill>
            <a:ln cap="flat" cmpd="sng" w="9525">
              <a:solidFill>
                <a:srgbClr val="C3FFF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4"/>
            <p:cNvSpPr txBox="1"/>
            <p:nvPr/>
          </p:nvSpPr>
          <p:spPr>
            <a:xfrm>
              <a:off x="647700" y="4000500"/>
              <a:ext cx="7848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À retenir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Le physique et l'humour pèsent bien plus lourd dans la décision réelle que ce que les utilisateurs admettent.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3" name="Google Shape;93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4300" y="1236785"/>
            <a:ext cx="5410200" cy="1844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99" name="Google Shape;9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Intérêts communs ou même origine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" name="Google Shape;102;p5"/>
          <p:cNvGrpSpPr/>
          <p:nvPr/>
        </p:nvGrpSpPr>
        <p:grpSpPr>
          <a:xfrm>
            <a:off x="6096000" y="1143000"/>
            <a:ext cx="2762440" cy="1238400"/>
            <a:chOff x="4456256" y="1143000"/>
            <a:chExt cx="4523400" cy="1238400"/>
          </a:xfrm>
        </p:grpSpPr>
        <p:sp>
          <p:nvSpPr>
            <p:cNvPr id="103" name="Google Shape;103;p5"/>
            <p:cNvSpPr/>
            <p:nvPr/>
          </p:nvSpPr>
          <p:spPr>
            <a:xfrm>
              <a:off x="4456256" y="1143000"/>
              <a:ext cx="45234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5"/>
            <p:cNvSpPr txBox="1"/>
            <p:nvPr/>
          </p:nvSpPr>
          <p:spPr>
            <a:xfrm>
              <a:off x="4456256" y="1143000"/>
              <a:ext cx="45234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Même origine ethnique</a:t>
              </a:r>
              <a:endParaRPr b="1" i="0" sz="12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Effet quasi nul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seulement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pt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de différence, passant de 16,1 % à 17,1 %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5"/>
          <p:cNvGrpSpPr/>
          <p:nvPr/>
        </p:nvGrpSpPr>
        <p:grpSpPr>
          <a:xfrm>
            <a:off x="6096000" y="2476500"/>
            <a:ext cx="2762411" cy="1238400"/>
            <a:chOff x="4119281" y="2476500"/>
            <a:chExt cx="4884900" cy="1238400"/>
          </a:xfrm>
        </p:grpSpPr>
        <p:sp>
          <p:nvSpPr>
            <p:cNvPr id="106" name="Google Shape;106;p5"/>
            <p:cNvSpPr/>
            <p:nvPr/>
          </p:nvSpPr>
          <p:spPr>
            <a:xfrm>
              <a:off x="4119281" y="2476500"/>
              <a:ext cx="48849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5"/>
            <p:cNvSpPr txBox="1"/>
            <p:nvPr/>
          </p:nvSpPr>
          <p:spPr>
            <a:xfrm>
              <a:off x="4119281" y="2476500"/>
              <a:ext cx="48849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Passions partagées</a:t>
              </a:r>
              <a:endParaRPr b="1" i="0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Effet modéré mais réel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un gain de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+4,8 pts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, de 14,7 % à 19,5%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8" name="Google Shape;108;p5"/>
          <p:cNvSpPr/>
          <p:nvPr/>
        </p:nvSpPr>
        <p:spPr>
          <a:xfrm>
            <a:off x="285750" y="3905250"/>
            <a:ext cx="85725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285750" y="390525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Partager les mêmes loisirs est un bonus appréciable, mais aucun de ces deux facteurs n'égale l'impact de l'attirance physique.</a:t>
            </a:r>
            <a:endParaRPr b="1" i="0" sz="115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0" name="Google Shape;110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350" y="1380478"/>
            <a:ext cx="5364426" cy="198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16" name="Google Shape;11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6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Les participants connaissent-ils leur propre valeur ?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411480" y="3749040"/>
            <a:ext cx="3977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0" name="Google Shape;120;p6"/>
          <p:cNvGrpSpPr/>
          <p:nvPr/>
        </p:nvGrpSpPr>
        <p:grpSpPr>
          <a:xfrm>
            <a:off x="5715000" y="1095375"/>
            <a:ext cx="2971800" cy="904800"/>
            <a:chOff x="5715000" y="1095375"/>
            <a:chExt cx="2971800" cy="904800"/>
          </a:xfrm>
        </p:grpSpPr>
        <p:sp>
          <p:nvSpPr>
            <p:cNvPr id="121" name="Google Shape;121;p6"/>
            <p:cNvSpPr/>
            <p:nvPr/>
          </p:nvSpPr>
          <p:spPr>
            <a:xfrm>
              <a:off x="5715000" y="10953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6"/>
            <p:cNvSpPr txBox="1"/>
            <p:nvPr/>
          </p:nvSpPr>
          <p:spPr>
            <a:xfrm>
              <a:off x="5829300" y="11906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Surestimation systématique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Presque tous les points se situent dans la zone de surestimation.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3" name="Google Shape;123;p6"/>
          <p:cNvGrpSpPr/>
          <p:nvPr/>
        </p:nvGrpSpPr>
        <p:grpSpPr>
          <a:xfrm>
            <a:off x="5715000" y="2143125"/>
            <a:ext cx="2971800" cy="904800"/>
            <a:chOff x="5715000" y="2143125"/>
            <a:chExt cx="2971800" cy="904800"/>
          </a:xfrm>
        </p:grpSpPr>
        <p:sp>
          <p:nvSpPr>
            <p:cNvPr id="124" name="Google Shape;124;p6"/>
            <p:cNvSpPr/>
            <p:nvPr/>
          </p:nvSpPr>
          <p:spPr>
            <a:xfrm>
              <a:off x="5715000" y="214312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6"/>
            <p:cNvSpPr txBox="1"/>
            <p:nvPr/>
          </p:nvSpPr>
          <p:spPr>
            <a:xfrm>
              <a:off x="5829300" y="223837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Les hommes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6" name="Google Shape;126;p6"/>
          <p:cNvGrpSpPr/>
          <p:nvPr/>
        </p:nvGrpSpPr>
        <p:grpSpPr>
          <a:xfrm>
            <a:off x="5715000" y="3190875"/>
            <a:ext cx="2971800" cy="904800"/>
            <a:chOff x="5715000" y="3190875"/>
            <a:chExt cx="2971800" cy="904800"/>
          </a:xfrm>
        </p:grpSpPr>
        <p:sp>
          <p:nvSpPr>
            <p:cNvPr id="127" name="Google Shape;127;p6"/>
            <p:cNvSpPr/>
            <p:nvPr/>
          </p:nvSpPr>
          <p:spPr>
            <a:xfrm>
              <a:off x="5715000" y="31908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6"/>
            <p:cNvSpPr txBox="1"/>
            <p:nvPr/>
          </p:nvSpPr>
          <p:spPr>
            <a:xfrm>
              <a:off x="5829300" y="32861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Les femmes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+0,8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29" name="Google Shape;129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500" y="1075213"/>
            <a:ext cx="4972715" cy="36743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35" name="Google Shape;13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Premier ou dernier rendez-vous de la soirée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715000" y="2514600"/>
            <a:ext cx="2971800" cy="1238400"/>
          </a:xfrm>
          <a:prstGeom prst="roundRect">
            <a:avLst>
              <a:gd fmla="val 6153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" name="Google Shape;139;p7"/>
          <p:cNvGrpSpPr/>
          <p:nvPr/>
        </p:nvGrpSpPr>
        <p:grpSpPr>
          <a:xfrm>
            <a:off x="5715000" y="1143000"/>
            <a:ext cx="2971800" cy="1238400"/>
            <a:chOff x="5715000" y="1143000"/>
            <a:chExt cx="2971800" cy="1238400"/>
          </a:xfrm>
        </p:grpSpPr>
        <p:sp>
          <p:nvSpPr>
            <p:cNvPr id="140" name="Google Shape;140;p7"/>
            <p:cNvSpPr/>
            <p:nvPr/>
          </p:nvSpPr>
          <p:spPr>
            <a:xfrm>
              <a:off x="5715000" y="1143000"/>
              <a:ext cx="29718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7"/>
            <p:cNvSpPr txBox="1"/>
            <p:nvPr/>
          </p:nvSpPr>
          <p:spPr>
            <a:xfrm>
              <a:off x="5829300" y="1238250"/>
              <a:ext cx="2743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Premier ou dernier ?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premiers rendez-vous de la soirée bénéficient d'un taux de "Oui" légèrement supérieur (43.8%), qui s'effrite légèrement au fil de la soirée (40.0%).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2" name="Google Shape;142;p7"/>
          <p:cNvSpPr/>
          <p:nvPr/>
        </p:nvSpPr>
        <p:spPr>
          <a:xfrm>
            <a:off x="457200" y="4000500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57200" y="40005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L'effet d'ordre existe (mieux vaut passer en début de soirée), mais son impact reste marginal face au charisme et à l'humour.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5715000" y="2514600"/>
            <a:ext cx="29718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Effet de position</a:t>
            </a:r>
            <a:endParaRPr b="1" i="0" sz="115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La position pèse beaucoup moins que le physique ou le fun. À choisir, mieux vaut passer dans les premiers — c'est un ajustement à la marge.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5" name="Google Shape;145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085148"/>
            <a:ext cx="5410201" cy="2365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51" name="Google Shape;15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Conclusion &amp; Recommandations pour Tinder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64867" y="1417332"/>
            <a:ext cx="2322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1. La photo reste reine</a:t>
            </a:r>
            <a:endParaRPr b="1" i="0" sz="120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21767" y="1714403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Le physique étant le driver n°1 réel, Tinder doit intégrer des outils IA de sélection, de recadrage et d'optimisation des photos de profil.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324612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341071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5AC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341071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2. Recalibrer les perceptions</a:t>
            </a:r>
            <a:endParaRPr b="1" i="0" sz="12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Proposer un audit bienveillant du profil pour réaligner les attentes et limiter la frustration.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603504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19963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619963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Prévenir la fatigue de swipe</a:t>
            </a:r>
            <a:endParaRPr b="1" i="0" sz="12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Introduire des pauses ou des formats limités pour préserver l'attention des utilisateurs.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457200" y="2743200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Hiérarchie réelle des facteurs de décision</a:t>
            </a:r>
            <a:endParaRPr b="1" i="0" sz="13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566928" y="3063240"/>
            <a:ext cx="8046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52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Physique, puis fun, puis perception de réciprocité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— on dit plus volontiers oui à qui semble nous apprécier.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Intelligence et sincérité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survalorisées dans le discours, peu mobilisées dans la décision. </a:t>
            </a: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Ambition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quasi ignorée.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0" i="1" lang="en-US" sz="10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Limite de l'étude : Échantillon étudiant (Columbia 2002-2004), dates en face-à-face de 4 min — résultats à transposer avec précaution sur les algorithmes modernes.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457200" y="4069080"/>
            <a:ext cx="8229600" cy="567000"/>
          </a:xfrm>
          <a:prstGeom prst="roundRect">
            <a:avLst>
              <a:gd fmla="val 12903" name="adj"/>
            </a:avLst>
          </a:prstGeom>
          <a:solidFill>
            <a:srgbClr val="EDFFFE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621792" y="4069080"/>
            <a:ext cx="79095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Ne jamais calibrer un algorithme de recommandation sur ce que les utilisateurs déclarent vouloir, mais sur leurs actions réelles.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2026-07-30T13:08:46Z</dcterms:created>
  <dc:creator>Yannis</dc:creator>
</cp:coreProperties>
</file>