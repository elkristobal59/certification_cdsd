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5143500" cx="9144000"/>
  <p:notesSz cx="5143500" cy="9144000"/>
  <p:embeddedFontLst>
    <p:embeddedFont>
      <p:font typeface="Inter SemiBold"/>
      <p:regular r:id="rId13"/>
      <p:bold r:id="rId14"/>
      <p:italic r:id="rId15"/>
      <p:boldItalic r:id="rId16"/>
    </p:embeddedFont>
    <p:embeddedFont>
      <p:font typeface="Inter"/>
      <p:regular r:id="rId17"/>
      <p:bold r:id="rId18"/>
      <p:italic r:id="rId19"/>
      <p:boldItalic r:id="rId20"/>
    </p:embeddedFont>
    <p:embeddedFont>
      <p:font typeface="Inter ExtraBold"/>
      <p:bold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gNOQ59ANj+RnEelDYvZ5mDPBUi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Italic.fntdata"/><Relationship Id="rId11" Type="http://schemas.openxmlformats.org/officeDocument/2006/relationships/slide" Target="slides/slide7.xml"/><Relationship Id="rId22" Type="http://schemas.openxmlformats.org/officeDocument/2006/relationships/font" Target="fonts/InterExtraBold-boldItalic.fntdata"/><Relationship Id="rId10" Type="http://schemas.openxmlformats.org/officeDocument/2006/relationships/slide" Target="slides/slide6.xml"/><Relationship Id="rId21" Type="http://schemas.openxmlformats.org/officeDocument/2006/relationships/font" Target="fonts/InterExtraBold-bold.fntdata"/><Relationship Id="rId13" Type="http://schemas.openxmlformats.org/officeDocument/2006/relationships/font" Target="fonts/InterSemiBold-regular.fntdata"/><Relationship Id="rId12" Type="http://schemas.openxmlformats.org/officeDocument/2006/relationships/slide" Target="slides/slide8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InterSemiBold-italic.fntdata"/><Relationship Id="rId14" Type="http://schemas.openxmlformats.org/officeDocument/2006/relationships/font" Target="fonts/InterSemiBold-bold.fntdata"/><Relationship Id="rId17" Type="http://schemas.openxmlformats.org/officeDocument/2006/relationships/font" Target="fonts/Inter-regular.fntdata"/><Relationship Id="rId16" Type="http://schemas.openxmlformats.org/officeDocument/2006/relationships/font" Target="fonts/InterSemiBold-boldItalic.fntdata"/><Relationship Id="rId5" Type="http://schemas.openxmlformats.org/officeDocument/2006/relationships/slide" Target="slides/slide1.xml"/><Relationship Id="rId19" Type="http://schemas.openxmlformats.org/officeDocument/2006/relationships/font" Target="fonts/Inter-italic.fntdata"/><Relationship Id="rId6" Type="http://schemas.openxmlformats.org/officeDocument/2006/relationships/slide" Target="slides/slide2.xml"/><Relationship Id="rId18" Type="http://schemas.openxmlformats.org/officeDocument/2006/relationships/font" Target="fonts/Inter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f8ac193dba_0_0:notes"/>
          <p:cNvSpPr/>
          <p:nvPr>
            <p:ph idx="2" type="sldImg"/>
          </p:nvPr>
        </p:nvSpPr>
        <p:spPr>
          <a:xfrm>
            <a:off x="28575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g3f8ac193dba_0_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" name="Google Shape;5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:notes"/>
          <p:cNvSpPr/>
          <p:nvPr>
            <p:ph idx="2" type="sldImg"/>
          </p:nvPr>
        </p:nvSpPr>
        <p:spPr>
          <a:xfrm>
            <a:off x="-1166813" y="0"/>
            <a:ext cx="533400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6" name="Google Shape;9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" name="Google Shape;132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f8ac193dba_0_6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g3f8ac193dba_0_6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g3f8ac193dba_0_6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f8ac193dba_0_0"/>
          <p:cNvSpPr/>
          <p:nvPr/>
        </p:nvSpPr>
        <p:spPr>
          <a:xfrm>
            <a:off x="0" y="0"/>
            <a:ext cx="3048000" cy="5143500"/>
          </a:xfrm>
          <a:prstGeom prst="rect">
            <a:avLst/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g3f8ac193dba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28625"/>
            <a:ext cx="720900" cy="759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17;g3f8ac193dba_0_0"/>
          <p:cNvGrpSpPr/>
          <p:nvPr/>
        </p:nvGrpSpPr>
        <p:grpSpPr>
          <a:xfrm>
            <a:off x="285750" y="1428750"/>
            <a:ext cx="2476500" cy="3381375"/>
            <a:chOff x="285750" y="1428750"/>
            <a:chExt cx="2476500" cy="3381375"/>
          </a:xfrm>
        </p:grpSpPr>
        <p:sp>
          <p:nvSpPr>
            <p:cNvPr id="18" name="Google Shape;18;g3f8ac193dba_0_0"/>
            <p:cNvSpPr txBox="1"/>
            <p:nvPr/>
          </p:nvSpPr>
          <p:spPr>
            <a:xfrm>
              <a:off x="285750" y="1428750"/>
              <a:ext cx="24765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3FDAD2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Certification CDSD BLOC 2</a:t>
              </a:r>
              <a:endParaRPr b="0" i="0" sz="1000" u="none" cap="none" strike="noStrike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TINDER</a:t>
              </a:r>
              <a:endParaRPr b="0" i="0" sz="24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19" name="Google Shape;19;g3f8ac193dba_0_0"/>
            <p:cNvSpPr txBox="1"/>
            <p:nvPr/>
          </p:nvSpPr>
          <p:spPr>
            <a:xfrm>
              <a:off x="285750" y="4238625"/>
              <a:ext cx="2476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Christopher Gilleron</a:t>
              </a:r>
              <a:endParaRPr b="1" i="0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8 octobre 2026</a:t>
              </a:r>
              <a:endParaRPr b="0" i="0" sz="10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20" name="Google Shape;20;g3f8ac193dba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5750" y="2101600"/>
            <a:ext cx="1608120" cy="10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f8ac193dba_0_0"/>
          <p:cNvSpPr txBox="1"/>
          <p:nvPr/>
        </p:nvSpPr>
        <p:spPr>
          <a:xfrm>
            <a:off x="3139425" y="1143000"/>
            <a:ext cx="5909100" cy="285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b="0" i="0" lang="en-US" sz="38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Qu'est-ce qui fait qu'on se plaît ?</a:t>
            </a:r>
            <a:endParaRPr b="0" i="0" sz="380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Analyse exploratoire de 8 378 rendez-vous de speed dating.</a:t>
            </a:r>
            <a:endParaRPr b="0" i="0" sz="15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2"/>
          <p:cNvPicPr preferRelativeResize="0"/>
          <p:nvPr/>
        </p:nvPicPr>
        <p:blipFill rotWithShape="1">
          <a:blip r:embed="rId3">
            <a:alphaModFix/>
          </a:blip>
          <a:srcRect b="169" l="0" r="0" t="169"/>
          <a:stretch/>
        </p:blipFill>
        <p:spPr>
          <a:xfrm>
            <a:off x="466344" y="304800"/>
            <a:ext cx="576000" cy="3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2"/>
          <p:cNvSpPr/>
          <p:nvPr/>
        </p:nvSpPr>
        <p:spPr>
          <a:xfrm>
            <a:off x="1170432" y="257175"/>
            <a:ext cx="7543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dispositif et les chiffres de cadrage </a:t>
            </a:r>
            <a:endParaRPr b="0" i="0" sz="220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2562225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4667250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6772275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457200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551</a:t>
            </a:r>
            <a:endParaRPr b="0" sz="260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57200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participants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2562225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8 378</a:t>
            </a:r>
            <a:endParaRPr b="0" sz="260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2562225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rdv de 4 min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4667250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0B5AC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42,0 %</a:t>
            </a:r>
            <a:endParaRPr b="0" sz="2600">
              <a:solidFill>
                <a:srgbClr val="00B5AC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667250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 « oui » individuels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772275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E4674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16,5 %</a:t>
            </a:r>
            <a:endParaRPr b="0" sz="2600">
              <a:solidFill>
                <a:srgbClr val="E4674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772275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matchs réciproques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57200" y="2143125"/>
            <a:ext cx="4000500" cy="1476300"/>
          </a:xfrm>
          <a:prstGeom prst="roundRect">
            <a:avLst>
              <a:gd fmla="val 516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57200" y="2143125"/>
            <a:ext cx="57300" cy="1476300"/>
          </a:xfrm>
          <a:prstGeom prst="roundRect">
            <a:avLst>
              <a:gd fmla="val 50000" name="adj"/>
            </a:avLst>
          </a:prstGeom>
          <a:solidFill>
            <a:srgbClr val="E4674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685800" y="2286000"/>
            <a:ext cx="3581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E4674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coût de la réciprocité</a:t>
            </a:r>
            <a:endParaRPr b="0" sz="1300">
              <a:solidFill>
                <a:srgbClr val="E4674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85800" y="2600325"/>
            <a:ext cx="3581400" cy="85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Un participant dit « oui » 4 fois sur 10, mais la sélectivité mutuelle divise le taux de match par 2,5 pour tomber à 16 %.</a:t>
            </a:r>
            <a:endParaRPr b="0" sz="1050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4686300" y="2143125"/>
            <a:ext cx="4000500" cy="1476300"/>
          </a:xfrm>
          <a:prstGeom prst="roundRect">
            <a:avLst>
              <a:gd fmla="val 516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4686300" y="2143125"/>
            <a:ext cx="57300" cy="1476300"/>
          </a:xfrm>
          <a:prstGeom prst="roundRect">
            <a:avLst>
              <a:gd fmla="val 50000" name="adj"/>
            </a:avLst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4914900" y="2286000"/>
            <a:ext cx="3581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piège du dataset</a:t>
            </a:r>
            <a:endParaRPr b="0" sz="130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4914900" y="2600325"/>
            <a:ext cx="3581400" cy="85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Certaines notes étaient sur 10, d'autres sur 100. Tout a été normalisé et les valeurs manquantes ont été imputées par la médiane pour garantir la fiabilité de l'analyse.</a:t>
            </a:r>
            <a:endParaRPr b="0" sz="1050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457200" y="3905250"/>
            <a:ext cx="8229600" cy="619200"/>
          </a:xfrm>
          <a:prstGeom prst="roundRect">
            <a:avLst>
              <a:gd fmla="val 12307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647700" y="3905250"/>
            <a:ext cx="7848600" cy="61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Rigueur méthodologique : </a:t>
            </a:r>
            <a:r>
              <a:rPr b="0" lang="en-US" sz="105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195 variables, 21 vagues et 2 protocoles de notation : l'imputation robuste par la médiane et la normalisation des échelles conditionnent la validité scientifique de toute l'analyse.</a:t>
            </a:r>
            <a:endParaRPr b="0" sz="105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57" name="Google Shape;5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3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Ce que déclarent chercher hommes et femmes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0" name="Google Shape;60;p3"/>
          <p:cNvGrpSpPr/>
          <p:nvPr/>
        </p:nvGrpSpPr>
        <p:grpSpPr>
          <a:xfrm>
            <a:off x="5953281" y="1085850"/>
            <a:ext cx="2820573" cy="1000200"/>
            <a:chOff x="5953125" y="1085850"/>
            <a:chExt cx="2714700" cy="1000200"/>
          </a:xfrm>
        </p:grpSpPr>
        <p:sp>
          <p:nvSpPr>
            <p:cNvPr id="61" name="Google Shape;61;p3"/>
            <p:cNvSpPr/>
            <p:nvPr/>
          </p:nvSpPr>
          <p:spPr>
            <a:xfrm>
              <a:off x="5953125" y="1085850"/>
              <a:ext cx="2714700" cy="1000200"/>
            </a:xfrm>
            <a:prstGeom prst="roundRect">
              <a:avLst>
                <a:gd fmla="val 7619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3"/>
            <p:cNvSpPr txBox="1"/>
            <p:nvPr/>
          </p:nvSpPr>
          <p:spPr>
            <a:xfrm>
              <a:off x="6067425" y="1162050"/>
              <a:ext cx="2486100" cy="8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Physique : Écart marquant</a:t>
              </a:r>
              <a:endParaRPr b="1" i="0" sz="110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Les hommes y accordent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~50 % de plus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que les femmes (</a:t>
              </a: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27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% vs </a:t>
              </a: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17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,</a:t>
              </a: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9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%).</a:t>
              </a:r>
              <a:endParaRPr b="0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3" name="Google Shape;63;p3"/>
          <p:cNvGrpSpPr/>
          <p:nvPr/>
        </p:nvGrpSpPr>
        <p:grpSpPr>
          <a:xfrm>
            <a:off x="5953121" y="2162175"/>
            <a:ext cx="2820573" cy="1000200"/>
            <a:chOff x="5953125" y="2162175"/>
            <a:chExt cx="2714700" cy="1000200"/>
          </a:xfrm>
        </p:grpSpPr>
        <p:sp>
          <p:nvSpPr>
            <p:cNvPr id="64" name="Google Shape;64;p3"/>
            <p:cNvSpPr/>
            <p:nvPr/>
          </p:nvSpPr>
          <p:spPr>
            <a:xfrm>
              <a:off x="5953125" y="2162175"/>
              <a:ext cx="2714700" cy="1000200"/>
            </a:xfrm>
            <a:prstGeom prst="roundRect">
              <a:avLst>
                <a:gd fmla="val 7619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3"/>
            <p:cNvSpPr txBox="1"/>
            <p:nvPr/>
          </p:nvSpPr>
          <p:spPr>
            <a:xfrm>
              <a:off x="6067425" y="2238375"/>
              <a:ext cx="2486100" cy="8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Intelligence &amp; Sincérité</a:t>
              </a:r>
              <a:endParaRPr b="1" i="0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Ces critères restent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prioritaires pour les femmes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(2</a:t>
              </a: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0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,</a:t>
              </a: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9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% et 18,3 %).</a:t>
              </a:r>
              <a:endParaRPr b="0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6" name="Google Shape;66;p3"/>
          <p:cNvGrpSpPr/>
          <p:nvPr/>
        </p:nvGrpSpPr>
        <p:grpSpPr>
          <a:xfrm>
            <a:off x="5953121" y="3238500"/>
            <a:ext cx="2820573" cy="809700"/>
            <a:chOff x="5953125" y="3238500"/>
            <a:chExt cx="2714700" cy="809700"/>
          </a:xfrm>
        </p:grpSpPr>
        <p:sp>
          <p:nvSpPr>
            <p:cNvPr id="67" name="Google Shape;67;p3"/>
            <p:cNvSpPr/>
            <p:nvPr/>
          </p:nvSpPr>
          <p:spPr>
            <a:xfrm>
              <a:off x="5953125" y="3238500"/>
              <a:ext cx="2714700" cy="809700"/>
            </a:xfrm>
            <a:prstGeom prst="roundRect">
              <a:avLst>
                <a:gd fmla="val 941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3"/>
            <p:cNvSpPr txBox="1"/>
            <p:nvPr/>
          </p:nvSpPr>
          <p:spPr>
            <a:xfrm>
              <a:off x="6067425" y="3314700"/>
              <a:ext cx="2486100" cy="6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Ambition : Critère secondaire</a:t>
              </a:r>
              <a:endParaRPr b="1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Délaissée chez les hommes (8,7 %, leur dernier critère), mais valorisée par les femmes (12,8 %)</a:t>
              </a:r>
              <a:endParaRPr b="0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69" name="Google Shape;69;p3"/>
          <p:cNvSpPr/>
          <p:nvPr/>
        </p:nvSpPr>
        <p:spPr>
          <a:xfrm>
            <a:off x="457200" y="4143375"/>
            <a:ext cx="8229600" cy="571500"/>
          </a:xfrm>
          <a:prstGeom prst="roundRect">
            <a:avLst>
              <a:gd fmla="val 13333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"/>
          <p:cNvSpPr txBox="1"/>
          <p:nvPr/>
        </p:nvSpPr>
        <p:spPr>
          <a:xfrm>
            <a:off x="619125" y="4143375"/>
            <a:ext cx="79059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Hommes et femmes s'accordent sur l'intelligence et le fun, mais divergent fortement sur le poids avoué de l'attirance physique.</a:t>
            </a:r>
            <a:endParaRPr b="1" i="0" sz="11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1" name="Google Shape;71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085148"/>
            <a:ext cx="5648324" cy="24691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77" name="Google Shape;7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4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discours contre le comportement réel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"/>
          <p:cNvSpPr txBox="1"/>
          <p:nvPr/>
        </p:nvSpPr>
        <p:spPr>
          <a:xfrm>
            <a:off x="152400" y="3476625"/>
            <a:ext cx="5334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Impact réel sur la décision de revoir la personne</a:t>
            </a:r>
            <a:endParaRPr b="0" i="1" sz="95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81" name="Google Shape;81;p4"/>
          <p:cNvGrpSpPr/>
          <p:nvPr/>
        </p:nvGrpSpPr>
        <p:grpSpPr>
          <a:xfrm>
            <a:off x="5715000" y="1095375"/>
            <a:ext cx="2971800" cy="838200"/>
            <a:chOff x="5715000" y="1095375"/>
            <a:chExt cx="2971800" cy="838200"/>
          </a:xfrm>
        </p:grpSpPr>
        <p:sp>
          <p:nvSpPr>
            <p:cNvPr id="82" name="Google Shape;82;p4"/>
            <p:cNvSpPr/>
            <p:nvPr/>
          </p:nvSpPr>
          <p:spPr>
            <a:xfrm>
              <a:off x="5715000" y="1095375"/>
              <a:ext cx="2971800" cy="838200"/>
            </a:xfrm>
            <a:prstGeom prst="roundRect">
              <a:avLst>
                <a:gd fmla="val 9090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4"/>
            <p:cNvSpPr txBox="1"/>
            <p:nvPr/>
          </p:nvSpPr>
          <p:spPr>
            <a:xfrm>
              <a:off x="5829300" y="117157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Sur le papier</a:t>
              </a:r>
              <a:endParaRPr b="1" i="0" sz="11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 physique n'était que 3ᵉ dans les déclarations </a:t>
              </a:r>
              <a:r>
                <a:rPr lang="en-US" sz="10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des femmes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(</a:t>
              </a:r>
              <a:r>
                <a:rPr lang="en-US" sz="10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17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,</a:t>
              </a:r>
              <a:r>
                <a:rPr lang="en-US" sz="10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9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%).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4" name="Google Shape;84;p4"/>
          <p:cNvGrpSpPr/>
          <p:nvPr/>
        </p:nvGrpSpPr>
        <p:grpSpPr>
          <a:xfrm>
            <a:off x="5715000" y="2028825"/>
            <a:ext cx="2971800" cy="838200"/>
            <a:chOff x="5715000" y="2028825"/>
            <a:chExt cx="2971800" cy="838200"/>
          </a:xfrm>
        </p:grpSpPr>
        <p:sp>
          <p:nvSpPr>
            <p:cNvPr id="85" name="Google Shape;85;p4"/>
            <p:cNvSpPr/>
            <p:nvPr/>
          </p:nvSpPr>
          <p:spPr>
            <a:xfrm>
              <a:off x="5715000" y="2028825"/>
              <a:ext cx="2971800" cy="838200"/>
            </a:xfrm>
            <a:prstGeom prst="roundRect">
              <a:avLst>
                <a:gd fmla="val 9090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4"/>
            <p:cNvSpPr txBox="1"/>
            <p:nvPr/>
          </p:nvSpPr>
          <p:spPr>
            <a:xfrm>
              <a:off x="5829300" y="210502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En réalité</a:t>
              </a:r>
              <a:endParaRPr b="1" i="0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 physique écrase la décision (corrélation de 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0,49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), suivi de près par le Fun (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0,41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).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7" name="Google Shape;87;p4"/>
          <p:cNvGrpSpPr/>
          <p:nvPr/>
        </p:nvGrpSpPr>
        <p:grpSpPr>
          <a:xfrm>
            <a:off x="5715000" y="2962275"/>
            <a:ext cx="2971800" cy="838200"/>
            <a:chOff x="5715000" y="2962275"/>
            <a:chExt cx="2971800" cy="838200"/>
          </a:xfrm>
        </p:grpSpPr>
        <p:sp>
          <p:nvSpPr>
            <p:cNvPr id="88" name="Google Shape;88;p4"/>
            <p:cNvSpPr/>
            <p:nvPr/>
          </p:nvSpPr>
          <p:spPr>
            <a:xfrm>
              <a:off x="5715000" y="2962275"/>
              <a:ext cx="2971800" cy="838200"/>
            </a:xfrm>
            <a:prstGeom prst="roundRect">
              <a:avLst>
                <a:gd fmla="val 9090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4"/>
            <p:cNvSpPr txBox="1"/>
            <p:nvPr/>
          </p:nvSpPr>
          <p:spPr>
            <a:xfrm>
              <a:off x="5829300" y="303847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Le décalage</a:t>
              </a:r>
              <a:endParaRPr b="1" i="0" sz="11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L'intelligence (0,21) et la sincérité sont deux fois moins prédictives que ce qui était annoncé.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0" name="Google Shape;90;p4"/>
          <p:cNvGrpSpPr/>
          <p:nvPr/>
        </p:nvGrpSpPr>
        <p:grpSpPr>
          <a:xfrm>
            <a:off x="457200" y="4000500"/>
            <a:ext cx="8229600" cy="571500"/>
            <a:chOff x="457200" y="4000500"/>
            <a:chExt cx="8229600" cy="571500"/>
          </a:xfrm>
        </p:grpSpPr>
        <p:sp>
          <p:nvSpPr>
            <p:cNvPr id="91" name="Google Shape;91;p4"/>
            <p:cNvSpPr/>
            <p:nvPr/>
          </p:nvSpPr>
          <p:spPr>
            <a:xfrm>
              <a:off x="457200" y="4000500"/>
              <a:ext cx="8229600" cy="571500"/>
            </a:xfrm>
            <a:prstGeom prst="roundRect">
              <a:avLst>
                <a:gd fmla="val 13333" name="adj"/>
              </a:avLst>
            </a:prstGeom>
            <a:solidFill>
              <a:srgbClr val="EDFFFE"/>
            </a:solidFill>
            <a:ln cap="flat" cmpd="sng" w="9525">
              <a:solidFill>
                <a:srgbClr val="C3FFF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4"/>
            <p:cNvSpPr txBox="1"/>
            <p:nvPr/>
          </p:nvSpPr>
          <p:spPr>
            <a:xfrm>
              <a:off x="647700" y="4000500"/>
              <a:ext cx="7848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À retenir :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Le physique et l'humour pèsent bien plus lourd dans la décision réelle que ce que les utilisateurs admettent.</a:t>
              </a:r>
              <a:endParaRPr b="0" i="0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93" name="Google Shape;93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4300" y="1236785"/>
            <a:ext cx="5410200" cy="1844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99" name="Google Shape;9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5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Intérêts communs ou même origine 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" name="Google Shape;102;p5"/>
          <p:cNvGrpSpPr/>
          <p:nvPr/>
        </p:nvGrpSpPr>
        <p:grpSpPr>
          <a:xfrm>
            <a:off x="6096000" y="1143000"/>
            <a:ext cx="2762440" cy="1238400"/>
            <a:chOff x="4456256" y="1143000"/>
            <a:chExt cx="4523400" cy="1238400"/>
          </a:xfrm>
        </p:grpSpPr>
        <p:sp>
          <p:nvSpPr>
            <p:cNvPr id="103" name="Google Shape;103;p5"/>
            <p:cNvSpPr/>
            <p:nvPr/>
          </p:nvSpPr>
          <p:spPr>
            <a:xfrm>
              <a:off x="4456256" y="1143000"/>
              <a:ext cx="4523400" cy="1238400"/>
            </a:xfrm>
            <a:prstGeom prst="roundRect">
              <a:avLst>
                <a:gd fmla="val 6153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5"/>
            <p:cNvSpPr txBox="1"/>
            <p:nvPr/>
          </p:nvSpPr>
          <p:spPr>
            <a:xfrm>
              <a:off x="4456256" y="1143000"/>
              <a:ext cx="45234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Même origine ethnique</a:t>
              </a:r>
              <a:endParaRPr b="1" i="0" sz="12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Effet quasi nul :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seulement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+1,0 pt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de différence, passant de 16,1 % à 17,1 % de match.</a:t>
              </a:r>
              <a:endParaRPr b="0" i="0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" name="Google Shape;105;p5"/>
          <p:cNvGrpSpPr/>
          <p:nvPr/>
        </p:nvGrpSpPr>
        <p:grpSpPr>
          <a:xfrm>
            <a:off x="6096000" y="2476500"/>
            <a:ext cx="2762411" cy="1238400"/>
            <a:chOff x="4119281" y="2476500"/>
            <a:chExt cx="4884900" cy="1238400"/>
          </a:xfrm>
        </p:grpSpPr>
        <p:sp>
          <p:nvSpPr>
            <p:cNvPr id="106" name="Google Shape;106;p5"/>
            <p:cNvSpPr/>
            <p:nvPr/>
          </p:nvSpPr>
          <p:spPr>
            <a:xfrm>
              <a:off x="4119281" y="2476500"/>
              <a:ext cx="4884900" cy="1238400"/>
            </a:xfrm>
            <a:prstGeom prst="roundRect">
              <a:avLst>
                <a:gd fmla="val 6153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5"/>
            <p:cNvSpPr txBox="1"/>
            <p:nvPr/>
          </p:nvSpPr>
          <p:spPr>
            <a:xfrm>
              <a:off x="4119281" y="2476500"/>
              <a:ext cx="48849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Passions partagées</a:t>
              </a:r>
              <a:endParaRPr b="1" i="0" sz="12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Effet modéré mais réel :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un gain de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+4,8 pts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, de 14,7 % à 19,5% de match.</a:t>
              </a:r>
              <a:endParaRPr b="0" i="0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08" name="Google Shape;108;p5"/>
          <p:cNvSpPr/>
          <p:nvPr/>
        </p:nvSpPr>
        <p:spPr>
          <a:xfrm>
            <a:off x="285750" y="3905250"/>
            <a:ext cx="8572500" cy="571500"/>
          </a:xfrm>
          <a:prstGeom prst="roundRect">
            <a:avLst>
              <a:gd fmla="val 13333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285750" y="3905250"/>
            <a:ext cx="8572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Partager les mêmes loisirs est un bonus appréciable, mais aucun de ces deux facteurs n'égale l'impact de l'attirance physique.</a:t>
            </a:r>
            <a:endParaRPr b="1" i="0" sz="115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0" name="Google Shape;110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825" y="1270125"/>
            <a:ext cx="5595349" cy="2071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116" name="Google Shape;11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6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Les participants connaissent-ils leur propre valeur ?</a:t>
            </a:r>
            <a:endParaRPr b="1" i="0" sz="21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411480" y="3749040"/>
            <a:ext cx="3977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0" name="Google Shape;120;p6"/>
          <p:cNvGrpSpPr/>
          <p:nvPr/>
        </p:nvGrpSpPr>
        <p:grpSpPr>
          <a:xfrm>
            <a:off x="5715000" y="1095375"/>
            <a:ext cx="2971800" cy="904800"/>
            <a:chOff x="5715000" y="1095375"/>
            <a:chExt cx="2971800" cy="904800"/>
          </a:xfrm>
        </p:grpSpPr>
        <p:sp>
          <p:nvSpPr>
            <p:cNvPr id="121" name="Google Shape;121;p6"/>
            <p:cNvSpPr/>
            <p:nvPr/>
          </p:nvSpPr>
          <p:spPr>
            <a:xfrm>
              <a:off x="5715000" y="1095375"/>
              <a:ext cx="2971800" cy="904800"/>
            </a:xfrm>
            <a:prstGeom prst="roundRect">
              <a:avLst>
                <a:gd fmla="val 842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6"/>
            <p:cNvSpPr txBox="1"/>
            <p:nvPr/>
          </p:nvSpPr>
          <p:spPr>
            <a:xfrm>
              <a:off x="5829300" y="119062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Surestimation systématique</a:t>
              </a:r>
              <a:endParaRPr b="1" i="0" sz="11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Presque tous les points se situent dans la zone de surestimation.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3" name="Google Shape;123;p6"/>
          <p:cNvGrpSpPr/>
          <p:nvPr/>
        </p:nvGrpSpPr>
        <p:grpSpPr>
          <a:xfrm>
            <a:off x="5715000" y="2143125"/>
            <a:ext cx="2971800" cy="904800"/>
            <a:chOff x="5715000" y="2143125"/>
            <a:chExt cx="2971800" cy="904800"/>
          </a:xfrm>
        </p:grpSpPr>
        <p:sp>
          <p:nvSpPr>
            <p:cNvPr id="124" name="Google Shape;124;p6"/>
            <p:cNvSpPr/>
            <p:nvPr/>
          </p:nvSpPr>
          <p:spPr>
            <a:xfrm>
              <a:off x="5715000" y="2143125"/>
              <a:ext cx="2971800" cy="904800"/>
            </a:xfrm>
            <a:prstGeom prst="roundRect">
              <a:avLst>
                <a:gd fmla="val 842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6"/>
            <p:cNvSpPr txBox="1"/>
            <p:nvPr/>
          </p:nvSpPr>
          <p:spPr>
            <a:xfrm>
              <a:off x="5829300" y="223837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Les hommes</a:t>
              </a:r>
              <a:endParaRPr b="1" i="0" sz="11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Se sur estiment en moyenne de 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+1,0 point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sur 10.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6" name="Google Shape;126;p6"/>
          <p:cNvGrpSpPr/>
          <p:nvPr/>
        </p:nvGrpSpPr>
        <p:grpSpPr>
          <a:xfrm>
            <a:off x="5715000" y="3190875"/>
            <a:ext cx="2971800" cy="904800"/>
            <a:chOff x="5715000" y="3190875"/>
            <a:chExt cx="2971800" cy="904800"/>
          </a:xfrm>
        </p:grpSpPr>
        <p:sp>
          <p:nvSpPr>
            <p:cNvPr id="127" name="Google Shape;127;p6"/>
            <p:cNvSpPr/>
            <p:nvPr/>
          </p:nvSpPr>
          <p:spPr>
            <a:xfrm>
              <a:off x="5715000" y="3190875"/>
              <a:ext cx="2971800" cy="904800"/>
            </a:xfrm>
            <a:prstGeom prst="roundRect">
              <a:avLst>
                <a:gd fmla="val 842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6"/>
            <p:cNvSpPr txBox="1"/>
            <p:nvPr/>
          </p:nvSpPr>
          <p:spPr>
            <a:xfrm>
              <a:off x="5829300" y="328612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Les femmes</a:t>
              </a:r>
              <a:endParaRPr b="1" i="0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Se surestiment en moyenne de 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+0,8 point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sur 10.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129" name="Google Shape;129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500" y="1075213"/>
            <a:ext cx="4972715" cy="36743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135" name="Google Shape;13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7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Premier ou dernier rendez-vous de la soirée 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5715000" y="2514600"/>
            <a:ext cx="2971800" cy="1238400"/>
          </a:xfrm>
          <a:prstGeom prst="roundRect">
            <a:avLst>
              <a:gd fmla="val 6153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9" name="Google Shape;139;p7"/>
          <p:cNvGrpSpPr/>
          <p:nvPr/>
        </p:nvGrpSpPr>
        <p:grpSpPr>
          <a:xfrm>
            <a:off x="5715000" y="1143000"/>
            <a:ext cx="2971800" cy="1238400"/>
            <a:chOff x="5715000" y="1143000"/>
            <a:chExt cx="2971800" cy="1238400"/>
          </a:xfrm>
        </p:grpSpPr>
        <p:sp>
          <p:nvSpPr>
            <p:cNvPr id="140" name="Google Shape;140;p7"/>
            <p:cNvSpPr/>
            <p:nvPr/>
          </p:nvSpPr>
          <p:spPr>
            <a:xfrm>
              <a:off x="5715000" y="1143000"/>
              <a:ext cx="2971800" cy="1238400"/>
            </a:xfrm>
            <a:prstGeom prst="roundRect">
              <a:avLst>
                <a:gd fmla="val 6153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7"/>
            <p:cNvSpPr txBox="1"/>
            <p:nvPr/>
          </p:nvSpPr>
          <p:spPr>
            <a:xfrm>
              <a:off x="5829300" y="1238250"/>
              <a:ext cx="2743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Premier ou dernier ?</a:t>
              </a:r>
              <a:endParaRPr b="1" i="0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Les premiers rendez-vous de la soirée bénéficient d'un taux de "Oui" légèrement supérieur (43.8%), qui s'effrite légèrement au fil de la soirée (40.0%).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42" name="Google Shape;142;p7"/>
          <p:cNvSpPr/>
          <p:nvPr/>
        </p:nvSpPr>
        <p:spPr>
          <a:xfrm>
            <a:off x="457200" y="4000500"/>
            <a:ext cx="8229600" cy="571500"/>
          </a:xfrm>
          <a:prstGeom prst="roundRect">
            <a:avLst>
              <a:gd fmla="val 13333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457200" y="40005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L'effet d'ordre existe (mieux vaut passer en début de soirée), mais son impact reste marginal face au charisme et à l'humour.</a:t>
            </a:r>
            <a:endParaRPr b="1" i="0" sz="11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5715000" y="2514600"/>
            <a:ext cx="29718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Effet de position</a:t>
            </a:r>
            <a:endParaRPr b="1" i="0" sz="1150" u="none" cap="none" strike="noStrike">
              <a:solidFill>
                <a:srgbClr val="E467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La position pèse beaucoup moins que le physique ou le fun. À choisir, mieux vaut passer dans les premiers — c'est un ajustement à la marge.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5" name="Google Shape;145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085148"/>
            <a:ext cx="5410201" cy="2365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151" name="Google Shape;15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Conclusion &amp; Recommandations pour Tinder</a:t>
            </a:r>
            <a:endParaRPr b="1" i="0" sz="21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57200" y="1051560"/>
            <a:ext cx="2651700" cy="1554600"/>
          </a:xfrm>
          <a:prstGeom prst="roundRect">
            <a:avLst>
              <a:gd fmla="val 4706" name="adj"/>
            </a:avLst>
          </a:prstGeom>
          <a:solidFill>
            <a:srgbClr val="F4F7F8"/>
          </a:solidFill>
          <a:ln cap="flat" cmpd="sng" w="12700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664867" y="1417332"/>
            <a:ext cx="2322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1. La photo reste reine</a:t>
            </a:r>
            <a:endParaRPr b="1" i="0" sz="1200" u="none" cap="none" strike="noStrike">
              <a:solidFill>
                <a:srgbClr val="E467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621767" y="1714403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Le physique étant le driver n°1 réel, Tinder doit intégrer des outils IA de sélection, de recadrage et d'optimisation des photos de profil.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3246120" y="1051560"/>
            <a:ext cx="2651700" cy="1554600"/>
          </a:xfrm>
          <a:prstGeom prst="roundRect">
            <a:avLst>
              <a:gd fmla="val 4706" name="adj"/>
            </a:avLst>
          </a:prstGeom>
          <a:solidFill>
            <a:srgbClr val="F4F7F8"/>
          </a:solidFill>
          <a:ln cap="flat" cmpd="sng" w="12700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3410712" y="1170432"/>
            <a:ext cx="232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5AC"/>
              </a:buClr>
              <a:buSzPts val="1250"/>
              <a:buFont typeface="Calibri"/>
              <a:buNone/>
            </a:pPr>
            <a:r>
              <a:t/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3410712" y="1463040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2. Recalibrer les perceptions</a:t>
            </a:r>
            <a:endParaRPr b="1" i="0" sz="12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Proposer un audit bienveillant du profil pour réaligner les attentes et limiter la frustration.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6035040" y="1051560"/>
            <a:ext cx="2651700" cy="1554600"/>
          </a:xfrm>
          <a:prstGeom prst="roundRect">
            <a:avLst>
              <a:gd fmla="val 4706" name="adj"/>
            </a:avLst>
          </a:prstGeom>
          <a:solidFill>
            <a:srgbClr val="F4F7F8"/>
          </a:solidFill>
          <a:ln cap="flat" cmpd="sng" w="12700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6199632" y="1170432"/>
            <a:ext cx="232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1250"/>
              <a:buFont typeface="Calibri"/>
              <a:buNone/>
            </a:pPr>
            <a:r>
              <a:t/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6199632" y="1463040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3. Prévenir la fatigue de swipe</a:t>
            </a:r>
            <a:endParaRPr b="1" i="0" sz="12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Introduire des pauses ou des formats limités pour préserver l'attention des utilisateurs.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457200" y="2743200"/>
            <a:ext cx="8229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Hiérarchie réelle des facteurs de décision</a:t>
            </a:r>
            <a:endParaRPr b="1" i="0" sz="13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566928" y="3063240"/>
            <a:ext cx="80466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9527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b="1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Physique, puis fun, puis perception de réciprocité</a:t>
            </a:r>
            <a:r>
              <a:rPr b="0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— on dit plus volontiers oui à qui semble nous apprécier.</a:t>
            </a:r>
            <a:endParaRPr b="0" i="0" sz="105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5275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b="1" i="0" lang="en-US" sz="10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Intelligence et sincérité</a:t>
            </a:r>
            <a:r>
              <a:rPr b="0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: survalorisées dans le discours, peu mobilisées dans la décision. </a:t>
            </a:r>
            <a:r>
              <a:rPr b="1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Ambition</a:t>
            </a:r>
            <a:r>
              <a:rPr b="0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: quasi ignorée.</a:t>
            </a:r>
            <a:endParaRPr b="0" i="0" sz="105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5275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b="0" i="1" lang="en-US" sz="105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Limite de l'étude : Échantillon étudiant (Columbia 2002-2004), dates en face-à-face de 4 min — résultats à transposer avec précaution sur les algorithmes modernes.</a:t>
            </a:r>
            <a:endParaRPr b="0" i="0" sz="105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457200" y="4069080"/>
            <a:ext cx="8229600" cy="567000"/>
          </a:xfrm>
          <a:prstGeom prst="roundRect">
            <a:avLst>
              <a:gd fmla="val 12903" name="adj"/>
            </a:avLst>
          </a:prstGeom>
          <a:solidFill>
            <a:srgbClr val="EDFFFE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621792" y="4069080"/>
            <a:ext cx="7909500" cy="56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Ne jamais calibrer un algorithme de recommandation sur ce que les utilisateurs déclarent vouloir, mais sur leurs actions réelles.</a:t>
            </a:r>
            <a:endParaRPr b="1" i="0" sz="11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2026-07-30T13:08:46Z</dcterms:created>
  <dc:creator>Yannis</dc:creator>
</cp:coreProperties>
</file>