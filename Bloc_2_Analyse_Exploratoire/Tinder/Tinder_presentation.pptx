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5143500" cx="9144000"/>
  <p:notesSz cx="5143500" cy="9144000"/>
  <p:embeddedFontLst>
    <p:embeddedFont>
      <p:font typeface="Inter SemiBold"/>
      <p:regular r:id="rId13"/>
      <p:bold r:id="rId14"/>
      <p:italic r:id="rId15"/>
      <p:boldItalic r:id="rId16"/>
    </p:embeddedFont>
    <p:embeddedFont>
      <p:font typeface="Inter"/>
      <p:regular r:id="rId17"/>
      <p:bold r:id="rId18"/>
      <p:italic r:id="rId19"/>
      <p:boldItalic r:id="rId20"/>
    </p:embeddedFont>
    <p:embeddedFont>
      <p:font typeface="Inter ExtraBold"/>
      <p:bold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3" roundtripDataSignature="AMtx7mg5APeFNvRUeYeaiuYcqxSyDkHhN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-boldItalic.fntdata"/><Relationship Id="rId11" Type="http://schemas.openxmlformats.org/officeDocument/2006/relationships/slide" Target="slides/slide7.xml"/><Relationship Id="rId22" Type="http://schemas.openxmlformats.org/officeDocument/2006/relationships/font" Target="fonts/InterExtraBold-boldItalic.fntdata"/><Relationship Id="rId10" Type="http://schemas.openxmlformats.org/officeDocument/2006/relationships/slide" Target="slides/slide6.xml"/><Relationship Id="rId21" Type="http://schemas.openxmlformats.org/officeDocument/2006/relationships/font" Target="fonts/InterExtraBold-bold.fntdata"/><Relationship Id="rId13" Type="http://schemas.openxmlformats.org/officeDocument/2006/relationships/font" Target="fonts/InterSemiBold-regular.fntdata"/><Relationship Id="rId12" Type="http://schemas.openxmlformats.org/officeDocument/2006/relationships/slide" Target="slides/slide8.xml"/><Relationship Id="rId23" Type="http://customschemas.google.com/relationships/presentationmetadata" Target="meta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InterSemiBold-italic.fntdata"/><Relationship Id="rId14" Type="http://schemas.openxmlformats.org/officeDocument/2006/relationships/font" Target="fonts/InterSemiBold-bold.fntdata"/><Relationship Id="rId17" Type="http://schemas.openxmlformats.org/officeDocument/2006/relationships/font" Target="fonts/Inter-regular.fntdata"/><Relationship Id="rId16" Type="http://schemas.openxmlformats.org/officeDocument/2006/relationships/font" Target="fonts/InterSemiBold-boldItalic.fntdata"/><Relationship Id="rId5" Type="http://schemas.openxmlformats.org/officeDocument/2006/relationships/slide" Target="slides/slide1.xml"/><Relationship Id="rId19" Type="http://schemas.openxmlformats.org/officeDocument/2006/relationships/font" Target="fonts/Inter-italic.fntdata"/><Relationship Id="rId6" Type="http://schemas.openxmlformats.org/officeDocument/2006/relationships/slide" Target="slides/slide2.xml"/><Relationship Id="rId18" Type="http://schemas.openxmlformats.org/officeDocument/2006/relationships/font" Target="fonts/Inter-bold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857400" y="685800"/>
            <a:ext cx="34291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g3f8ac193dba_0_0:notes"/>
          <p:cNvSpPr/>
          <p:nvPr>
            <p:ph idx="2" type="sldImg"/>
          </p:nvPr>
        </p:nvSpPr>
        <p:spPr>
          <a:xfrm>
            <a:off x="28575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g3f8ac193dba_0_0:notes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" name="Google Shape;24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4" name="Google Shape;54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3" name="Google Shape;73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5:notes"/>
          <p:cNvSpPr/>
          <p:nvPr>
            <p:ph idx="2" type="sldImg"/>
          </p:nvPr>
        </p:nvSpPr>
        <p:spPr>
          <a:xfrm>
            <a:off x="-1166813" y="0"/>
            <a:ext cx="5334001" cy="3000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5" name="Google Shape;95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2" name="Google Shape;112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1" name="Google Shape;131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7" name="Google Shape;147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;g3f8ac193dba_0_68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g3f8ac193dba_0_6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g3f8ac193dba_0_6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g3f8ac193dba_0_0"/>
          <p:cNvSpPr/>
          <p:nvPr/>
        </p:nvSpPr>
        <p:spPr>
          <a:xfrm>
            <a:off x="0" y="0"/>
            <a:ext cx="3048000" cy="5143500"/>
          </a:xfrm>
          <a:prstGeom prst="rect">
            <a:avLst/>
          </a:prstGeom>
          <a:solidFill>
            <a:srgbClr val="0E344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" name="Google Shape;16;g3f8ac193dba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28625"/>
            <a:ext cx="720900" cy="7593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" name="Google Shape;17;g3f8ac193dba_0_0"/>
          <p:cNvGrpSpPr/>
          <p:nvPr/>
        </p:nvGrpSpPr>
        <p:grpSpPr>
          <a:xfrm>
            <a:off x="285750" y="1428750"/>
            <a:ext cx="2476500" cy="3381375"/>
            <a:chOff x="285750" y="1428750"/>
            <a:chExt cx="2476500" cy="3381375"/>
          </a:xfrm>
        </p:grpSpPr>
        <p:sp>
          <p:nvSpPr>
            <p:cNvPr id="18" name="Google Shape;18;g3f8ac193dba_0_0"/>
            <p:cNvSpPr txBox="1"/>
            <p:nvPr/>
          </p:nvSpPr>
          <p:spPr>
            <a:xfrm>
              <a:off x="285750" y="1428750"/>
              <a:ext cx="2476500" cy="1428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3FDAD2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Certification CDSD BLOC 2</a:t>
              </a:r>
              <a:endParaRPr b="0" i="0" sz="1000" u="none" cap="none" strike="noStrike">
                <a:solidFill>
                  <a:srgbClr val="3FDAD2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FFFFFF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TINDER</a:t>
              </a:r>
              <a:endParaRPr b="0" i="0" sz="2400" u="none" cap="none" strike="noStrike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  <p:sp>
          <p:nvSpPr>
            <p:cNvPr id="19" name="Google Shape;19;g3f8ac193dba_0_0"/>
            <p:cNvSpPr txBox="1"/>
            <p:nvPr/>
          </p:nvSpPr>
          <p:spPr>
            <a:xfrm>
              <a:off x="285750" y="4238625"/>
              <a:ext cx="2476500" cy="571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b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-US" sz="1200" u="none" cap="none" strike="noStrike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Christopher Gilleron</a:t>
              </a:r>
              <a:endParaRPr b="1" i="0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8 octobre 2026</a:t>
              </a:r>
              <a:endParaRPr b="0" i="0" sz="10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pic>
        <p:nvPicPr>
          <p:cNvPr id="20" name="Google Shape;20;g3f8ac193dba_0_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85750" y="2101600"/>
            <a:ext cx="1608120" cy="1000200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g3f8ac193dba_0_0"/>
          <p:cNvSpPr txBox="1"/>
          <p:nvPr/>
        </p:nvSpPr>
        <p:spPr>
          <a:xfrm>
            <a:off x="3139425" y="1143000"/>
            <a:ext cx="5909100" cy="285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rPr b="0" i="0" lang="en-US" sz="3800" u="none" cap="none" strike="noStrike">
                <a:solidFill>
                  <a:srgbClr val="0E3449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Qu'est-ce qui fait qu'on se plaît ?</a:t>
            </a:r>
            <a:endParaRPr b="0" i="0" sz="3800" u="none" cap="none" strike="noStrike">
              <a:solidFill>
                <a:srgbClr val="0E3449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5B7180"/>
                </a:solidFill>
                <a:latin typeface="Inter"/>
                <a:ea typeface="Inter"/>
                <a:cs typeface="Inter"/>
                <a:sym typeface="Inter"/>
              </a:rPr>
              <a:t>Analyse exploratoire de 8 378 rendez-vous de speed dating.</a:t>
            </a:r>
            <a:endParaRPr b="0" i="0" sz="1500" u="none" cap="none" strike="noStrike">
              <a:solidFill>
                <a:srgbClr val="5B7180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2"/>
          <p:cNvPicPr preferRelativeResize="0"/>
          <p:nvPr/>
        </p:nvPicPr>
        <p:blipFill rotWithShape="1">
          <a:blip r:embed="rId3">
            <a:alphaModFix/>
          </a:blip>
          <a:srcRect b="169" l="0" r="0" t="169"/>
          <a:stretch/>
        </p:blipFill>
        <p:spPr>
          <a:xfrm>
            <a:off x="466344" y="304800"/>
            <a:ext cx="576000" cy="384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2"/>
          <p:cNvSpPr/>
          <p:nvPr/>
        </p:nvSpPr>
        <p:spPr>
          <a:xfrm>
            <a:off x="1170432" y="257175"/>
            <a:ext cx="7543800" cy="476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0E3449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Le dispositif et les chiffres de cadrage </a:t>
            </a:r>
            <a:endParaRPr b="0" i="0" sz="2200" u="none" cap="none" strike="noStrike">
              <a:solidFill>
                <a:srgbClr val="0E3449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29" name="Google Shape;29;p2"/>
          <p:cNvSpPr/>
          <p:nvPr/>
        </p:nvSpPr>
        <p:spPr>
          <a:xfrm>
            <a:off x="9144" y="4892040"/>
            <a:ext cx="9144000" cy="251400"/>
          </a:xfrm>
          <a:prstGeom prst="rect">
            <a:avLst/>
          </a:prstGeom>
          <a:solidFill>
            <a:srgbClr val="C3FFFC"/>
          </a:solidFill>
          <a:ln cap="flat" cmpd="sng" w="12700">
            <a:solidFill>
              <a:srgbClr val="C3FF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457200" y="1000125"/>
            <a:ext cx="1905000" cy="904800"/>
          </a:xfrm>
          <a:prstGeom prst="roundRect">
            <a:avLst>
              <a:gd fmla="val 8421" name="adj"/>
            </a:avLst>
          </a:prstGeom>
          <a:solidFill>
            <a:srgbClr val="F4F7F8"/>
          </a:solidFill>
          <a:ln cap="flat" cmpd="sng" w="9525">
            <a:solidFill>
              <a:srgbClr val="E1E8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2"/>
          <p:cNvSpPr/>
          <p:nvPr/>
        </p:nvSpPr>
        <p:spPr>
          <a:xfrm>
            <a:off x="2562225" y="1000125"/>
            <a:ext cx="1905000" cy="904800"/>
          </a:xfrm>
          <a:prstGeom prst="roundRect">
            <a:avLst>
              <a:gd fmla="val 8421" name="adj"/>
            </a:avLst>
          </a:prstGeom>
          <a:solidFill>
            <a:srgbClr val="F4F7F8"/>
          </a:solidFill>
          <a:ln cap="flat" cmpd="sng" w="9525">
            <a:solidFill>
              <a:srgbClr val="E1E8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2"/>
          <p:cNvSpPr/>
          <p:nvPr/>
        </p:nvSpPr>
        <p:spPr>
          <a:xfrm>
            <a:off x="4667250" y="1000125"/>
            <a:ext cx="1905000" cy="904800"/>
          </a:xfrm>
          <a:prstGeom prst="roundRect">
            <a:avLst>
              <a:gd fmla="val 8421" name="adj"/>
            </a:avLst>
          </a:prstGeom>
          <a:solidFill>
            <a:srgbClr val="F4F7F8"/>
          </a:solidFill>
          <a:ln cap="flat" cmpd="sng" w="9525">
            <a:solidFill>
              <a:srgbClr val="E1E8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2"/>
          <p:cNvSpPr/>
          <p:nvPr/>
        </p:nvSpPr>
        <p:spPr>
          <a:xfrm>
            <a:off x="6772275" y="1000125"/>
            <a:ext cx="1905000" cy="904800"/>
          </a:xfrm>
          <a:prstGeom prst="roundRect">
            <a:avLst>
              <a:gd fmla="val 8421" name="adj"/>
            </a:avLst>
          </a:prstGeom>
          <a:solidFill>
            <a:srgbClr val="F4F7F8"/>
          </a:solidFill>
          <a:ln cap="flat" cmpd="sng" w="9525">
            <a:solidFill>
              <a:srgbClr val="E1E8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2"/>
          <p:cNvSpPr/>
          <p:nvPr/>
        </p:nvSpPr>
        <p:spPr>
          <a:xfrm>
            <a:off x="457200" y="1095375"/>
            <a:ext cx="1905000" cy="400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600">
                <a:solidFill>
                  <a:srgbClr val="0E3449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551</a:t>
            </a:r>
            <a:endParaRPr b="0" sz="2600">
              <a:solidFill>
                <a:srgbClr val="0E3449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457200" y="1504950"/>
            <a:ext cx="1905000" cy="28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5B718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participants</a:t>
            </a:r>
            <a:endParaRPr b="0" sz="1050">
              <a:solidFill>
                <a:srgbClr val="5B7180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2562225" y="1095375"/>
            <a:ext cx="1905000" cy="400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600">
                <a:solidFill>
                  <a:srgbClr val="0E3449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8 378</a:t>
            </a:r>
            <a:endParaRPr b="0" sz="2600">
              <a:solidFill>
                <a:srgbClr val="0E3449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2562225" y="1504950"/>
            <a:ext cx="1905000" cy="28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5B718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rdv de 4 min</a:t>
            </a:r>
            <a:endParaRPr b="0" sz="1050">
              <a:solidFill>
                <a:srgbClr val="5B7180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4667250" y="1095375"/>
            <a:ext cx="1905000" cy="400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600">
                <a:solidFill>
                  <a:srgbClr val="00B5AC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42,0 %</a:t>
            </a:r>
            <a:endParaRPr b="0" sz="2600">
              <a:solidFill>
                <a:srgbClr val="00B5AC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4667250" y="1504950"/>
            <a:ext cx="1905000" cy="28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5B718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de « oui » individuels</a:t>
            </a:r>
            <a:endParaRPr b="0" sz="1050">
              <a:solidFill>
                <a:srgbClr val="5B7180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6772275" y="1095375"/>
            <a:ext cx="1905000" cy="400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600">
                <a:solidFill>
                  <a:srgbClr val="E4674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16,5 %</a:t>
            </a:r>
            <a:endParaRPr b="0" sz="2600">
              <a:solidFill>
                <a:srgbClr val="E4674F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6772275" y="1504950"/>
            <a:ext cx="1905000" cy="28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5B718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matchs réciproques</a:t>
            </a:r>
            <a:endParaRPr b="0" sz="1050">
              <a:solidFill>
                <a:srgbClr val="5B7180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457200" y="2143125"/>
            <a:ext cx="4000500" cy="1476300"/>
          </a:xfrm>
          <a:prstGeom prst="roundRect">
            <a:avLst>
              <a:gd fmla="val 5161" name="adj"/>
            </a:avLst>
          </a:prstGeom>
          <a:solidFill>
            <a:srgbClr val="F4F7F8"/>
          </a:solidFill>
          <a:ln cap="flat" cmpd="sng" w="9525">
            <a:solidFill>
              <a:srgbClr val="E1E8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2"/>
          <p:cNvSpPr/>
          <p:nvPr/>
        </p:nvSpPr>
        <p:spPr>
          <a:xfrm>
            <a:off x="457200" y="2143125"/>
            <a:ext cx="57300" cy="1476300"/>
          </a:xfrm>
          <a:prstGeom prst="roundRect">
            <a:avLst>
              <a:gd fmla="val 50000" name="adj"/>
            </a:avLst>
          </a:prstGeom>
          <a:solidFill>
            <a:srgbClr val="E4674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2"/>
          <p:cNvSpPr/>
          <p:nvPr/>
        </p:nvSpPr>
        <p:spPr>
          <a:xfrm>
            <a:off x="685800" y="2286000"/>
            <a:ext cx="3581400" cy="266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E4674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Le coût de la réciprocité</a:t>
            </a:r>
            <a:endParaRPr b="0" sz="1300">
              <a:solidFill>
                <a:srgbClr val="E4674F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685800" y="2600325"/>
            <a:ext cx="3581400" cy="857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5B7180"/>
                </a:solidFill>
                <a:latin typeface="Inter"/>
                <a:ea typeface="Inter"/>
                <a:cs typeface="Inter"/>
                <a:sym typeface="Inter"/>
              </a:rPr>
              <a:t>Un participant dit « oui » 4 fois sur 10, mais la sélectivité mutuelle divise le taux de match par 2,5 pour tomber à 16 %.</a:t>
            </a:r>
            <a:endParaRPr b="0" sz="1050">
              <a:solidFill>
                <a:srgbClr val="5B718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4686300" y="2143125"/>
            <a:ext cx="4000500" cy="1476300"/>
          </a:xfrm>
          <a:prstGeom prst="roundRect">
            <a:avLst>
              <a:gd fmla="val 5161" name="adj"/>
            </a:avLst>
          </a:prstGeom>
          <a:solidFill>
            <a:srgbClr val="F4F7F8"/>
          </a:solidFill>
          <a:ln cap="flat" cmpd="sng" w="9525">
            <a:solidFill>
              <a:srgbClr val="E1E8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2"/>
          <p:cNvSpPr/>
          <p:nvPr/>
        </p:nvSpPr>
        <p:spPr>
          <a:xfrm>
            <a:off x="4686300" y="2143125"/>
            <a:ext cx="57300" cy="1476300"/>
          </a:xfrm>
          <a:prstGeom prst="roundRect">
            <a:avLst>
              <a:gd fmla="val 50000" name="adj"/>
            </a:avLst>
          </a:prstGeom>
          <a:solidFill>
            <a:srgbClr val="0E344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2"/>
          <p:cNvSpPr/>
          <p:nvPr/>
        </p:nvSpPr>
        <p:spPr>
          <a:xfrm>
            <a:off x="4914900" y="2286000"/>
            <a:ext cx="3581400" cy="266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0E3449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Le piège du dataset</a:t>
            </a:r>
            <a:endParaRPr b="0" sz="1300">
              <a:solidFill>
                <a:srgbClr val="0E3449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4914900" y="2600325"/>
            <a:ext cx="3581400" cy="857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5B7180"/>
                </a:solidFill>
                <a:latin typeface="Inter"/>
                <a:ea typeface="Inter"/>
                <a:cs typeface="Inter"/>
                <a:sym typeface="Inter"/>
              </a:rPr>
              <a:t>Certaines notes étaient sur 10, d'autres sur 100. Tout a été normalisé et les valeurs manquantes ont été imputées par la médiane pour garantir la fiabilité de l'analyse.</a:t>
            </a:r>
            <a:endParaRPr b="0" sz="1050">
              <a:solidFill>
                <a:srgbClr val="5B718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457200" y="3905250"/>
            <a:ext cx="8229600" cy="619200"/>
          </a:xfrm>
          <a:prstGeom prst="roundRect">
            <a:avLst>
              <a:gd fmla="val 12307" name="adj"/>
            </a:avLst>
          </a:prstGeom>
          <a:solidFill>
            <a:srgbClr val="EDFFFE"/>
          </a:solidFill>
          <a:ln cap="flat" cmpd="sng" w="9525">
            <a:solidFill>
              <a:srgbClr val="C3FF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2"/>
          <p:cNvSpPr/>
          <p:nvPr/>
        </p:nvSpPr>
        <p:spPr>
          <a:xfrm>
            <a:off x="647700" y="3905250"/>
            <a:ext cx="7848600" cy="619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00B5AC"/>
                </a:solidFill>
                <a:latin typeface="Inter"/>
                <a:ea typeface="Inter"/>
                <a:cs typeface="Inter"/>
                <a:sym typeface="Inter"/>
              </a:rPr>
              <a:t>Rigueur méthodologique : </a:t>
            </a:r>
            <a:r>
              <a:rPr b="0" lang="en-US" sz="1050">
                <a:solidFill>
                  <a:srgbClr val="0E3449"/>
                </a:solidFill>
                <a:latin typeface="Inter"/>
                <a:ea typeface="Inter"/>
                <a:cs typeface="Inter"/>
                <a:sym typeface="Inter"/>
              </a:rPr>
              <a:t>195 variables, 21 vagues et 2 protocoles de notation : l'imputation robuste par la médiane et la normalisation des échelles conditionnent la validité scientifique de toute l'analyse.</a:t>
            </a:r>
            <a:endParaRPr b="0" sz="1050">
              <a:solidFill>
                <a:srgbClr val="0E3449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ssets/logo_mark.png" id="57" name="Google Shape;5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6344" y="457200"/>
            <a:ext cx="576072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3"/>
          <p:cNvSpPr/>
          <p:nvPr/>
        </p:nvSpPr>
        <p:spPr>
          <a:xfrm>
            <a:off x="1170432" y="384048"/>
            <a:ext cx="75438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449"/>
              </a:buClr>
              <a:buSzPts val="2100"/>
              <a:buFont typeface="Inter SemiBold"/>
              <a:buNone/>
            </a:pPr>
            <a:r>
              <a:rPr b="1" i="0" lang="en-US" sz="2100" u="none" cap="none" strike="noStrike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Ce que déclarent chercher hommes et femmes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3"/>
          <p:cNvSpPr/>
          <p:nvPr/>
        </p:nvSpPr>
        <p:spPr>
          <a:xfrm>
            <a:off x="9144" y="4892040"/>
            <a:ext cx="9144000" cy="251400"/>
          </a:xfrm>
          <a:prstGeom prst="rect">
            <a:avLst/>
          </a:prstGeom>
          <a:solidFill>
            <a:srgbClr val="C3FFFC"/>
          </a:solidFill>
          <a:ln cap="flat" cmpd="sng" w="12700">
            <a:solidFill>
              <a:srgbClr val="C3FF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0" name="Google Shape;60;p3"/>
          <p:cNvGrpSpPr/>
          <p:nvPr/>
        </p:nvGrpSpPr>
        <p:grpSpPr>
          <a:xfrm>
            <a:off x="5953125" y="1085850"/>
            <a:ext cx="2714700" cy="1000200"/>
            <a:chOff x="5953125" y="1085850"/>
            <a:chExt cx="2714700" cy="1000200"/>
          </a:xfrm>
        </p:grpSpPr>
        <p:sp>
          <p:nvSpPr>
            <p:cNvPr id="61" name="Google Shape;61;p3"/>
            <p:cNvSpPr/>
            <p:nvPr/>
          </p:nvSpPr>
          <p:spPr>
            <a:xfrm>
              <a:off x="5953125" y="1085850"/>
              <a:ext cx="2714700" cy="1000200"/>
            </a:xfrm>
            <a:prstGeom prst="roundRect">
              <a:avLst>
                <a:gd fmla="val 7619" name="adj"/>
              </a:avLst>
            </a:prstGeom>
            <a:solidFill>
              <a:srgbClr val="F4F7F8"/>
            </a:solidFill>
            <a:ln cap="flat" cmpd="sng" w="9525">
              <a:solidFill>
                <a:srgbClr val="E1E8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" name="Google Shape;62;p3"/>
            <p:cNvSpPr txBox="1"/>
            <p:nvPr/>
          </p:nvSpPr>
          <p:spPr>
            <a:xfrm>
              <a:off x="6067425" y="1162050"/>
              <a:ext cx="2486100" cy="84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en-US" sz="1100" u="none" cap="none" strike="noStrike">
                  <a:solidFill>
                    <a:srgbClr val="E4674F"/>
                  </a:solidFill>
                  <a:latin typeface="Inter"/>
                  <a:ea typeface="Inter"/>
                  <a:cs typeface="Inter"/>
                  <a:sym typeface="Inter"/>
                </a:rPr>
                <a:t>Physique : Écart marquant</a:t>
              </a:r>
              <a:endParaRPr b="1" i="0" sz="1100" u="none" cap="none" strike="noStrike">
                <a:solidFill>
                  <a:srgbClr val="E4674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en-US" sz="1100" u="none" cap="none" strike="noStrike">
                  <a:solidFill>
                    <a:srgbClr val="5B7180"/>
                  </a:solidFill>
                  <a:latin typeface="Inter"/>
                  <a:ea typeface="Inter"/>
                  <a:cs typeface="Inter"/>
                  <a:sym typeface="Inter"/>
                </a:rPr>
                <a:t>Les hommes y accordent </a:t>
              </a:r>
              <a:r>
                <a:rPr b="1" i="0" lang="en-US" sz="1100" u="none" cap="none" strike="noStrike">
                  <a:solidFill>
                    <a:srgbClr val="0E3449"/>
                  </a:solidFill>
                  <a:latin typeface="Inter"/>
                  <a:ea typeface="Inter"/>
                  <a:cs typeface="Inter"/>
                  <a:sym typeface="Inter"/>
                </a:rPr>
                <a:t>~50 % de plus</a:t>
              </a:r>
              <a:r>
                <a:rPr b="0" i="0" lang="en-US" sz="1100" u="none" cap="none" strike="noStrike">
                  <a:solidFill>
                    <a:srgbClr val="5B7180"/>
                  </a:solidFill>
                  <a:latin typeface="Inter"/>
                  <a:ea typeface="Inter"/>
                  <a:cs typeface="Inter"/>
                  <a:sym typeface="Inter"/>
                </a:rPr>
                <a:t> que les femmes (26,9 % vs 18,0 %).</a:t>
              </a:r>
              <a:endParaRPr b="0" i="0" sz="1100" u="none" cap="none" strike="noStrike">
                <a:solidFill>
                  <a:srgbClr val="5B718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63" name="Google Shape;63;p3"/>
          <p:cNvGrpSpPr/>
          <p:nvPr/>
        </p:nvGrpSpPr>
        <p:grpSpPr>
          <a:xfrm>
            <a:off x="5953125" y="2162175"/>
            <a:ext cx="2714700" cy="1000200"/>
            <a:chOff x="5953125" y="2162175"/>
            <a:chExt cx="2714700" cy="1000200"/>
          </a:xfrm>
        </p:grpSpPr>
        <p:sp>
          <p:nvSpPr>
            <p:cNvPr id="64" name="Google Shape;64;p3"/>
            <p:cNvSpPr/>
            <p:nvPr/>
          </p:nvSpPr>
          <p:spPr>
            <a:xfrm>
              <a:off x="5953125" y="2162175"/>
              <a:ext cx="2714700" cy="1000200"/>
            </a:xfrm>
            <a:prstGeom prst="roundRect">
              <a:avLst>
                <a:gd fmla="val 7619" name="adj"/>
              </a:avLst>
            </a:prstGeom>
            <a:solidFill>
              <a:srgbClr val="F4F7F8"/>
            </a:solidFill>
            <a:ln cap="flat" cmpd="sng" w="9525">
              <a:solidFill>
                <a:srgbClr val="E1E8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" name="Google Shape;65;p3"/>
            <p:cNvSpPr txBox="1"/>
            <p:nvPr/>
          </p:nvSpPr>
          <p:spPr>
            <a:xfrm>
              <a:off x="6067425" y="2238375"/>
              <a:ext cx="2486100" cy="84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en-US" sz="1100" u="none" cap="none" strike="noStrike">
                  <a:solidFill>
                    <a:srgbClr val="00B5AC"/>
                  </a:solidFill>
                  <a:latin typeface="Inter"/>
                  <a:ea typeface="Inter"/>
                  <a:cs typeface="Inter"/>
                  <a:sym typeface="Inter"/>
                </a:rPr>
                <a:t>Intelligence &amp; Sincérité</a:t>
              </a:r>
              <a:endParaRPr b="1" i="0" sz="1100" u="none" cap="none" strike="noStrike">
                <a:solidFill>
                  <a:srgbClr val="00B5AC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en-US" sz="1100" u="none" cap="none" strike="noStrike">
                  <a:solidFill>
                    <a:srgbClr val="5B7180"/>
                  </a:solidFill>
                  <a:latin typeface="Inter"/>
                  <a:ea typeface="Inter"/>
                  <a:cs typeface="Inter"/>
                  <a:sym typeface="Inter"/>
                </a:rPr>
                <a:t>Ces critères restent </a:t>
              </a:r>
              <a:r>
                <a:rPr b="1" i="0" lang="en-US" sz="1100" u="none" cap="none" strike="noStrike">
                  <a:solidFill>
                    <a:srgbClr val="0E3449"/>
                  </a:solidFill>
                  <a:latin typeface="Inter"/>
                  <a:ea typeface="Inter"/>
                  <a:cs typeface="Inter"/>
                  <a:sym typeface="Inter"/>
                </a:rPr>
                <a:t>prioritaires pour les femmes</a:t>
              </a:r>
              <a:r>
                <a:rPr b="0" i="0" lang="en-US" sz="1100" u="none" cap="none" strike="noStrike">
                  <a:solidFill>
                    <a:srgbClr val="5B7180"/>
                  </a:solidFill>
                  <a:latin typeface="Inter"/>
                  <a:ea typeface="Inter"/>
                  <a:cs typeface="Inter"/>
                  <a:sym typeface="Inter"/>
                </a:rPr>
                <a:t> (21,0 % et 18,3 %).</a:t>
              </a:r>
              <a:endParaRPr b="0" i="0" sz="1100" u="none" cap="none" strike="noStrike">
                <a:solidFill>
                  <a:srgbClr val="5B718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66" name="Google Shape;66;p3"/>
          <p:cNvGrpSpPr/>
          <p:nvPr/>
        </p:nvGrpSpPr>
        <p:grpSpPr>
          <a:xfrm>
            <a:off x="5953125" y="3238500"/>
            <a:ext cx="2714700" cy="809700"/>
            <a:chOff x="5953125" y="3238500"/>
            <a:chExt cx="2714700" cy="809700"/>
          </a:xfrm>
        </p:grpSpPr>
        <p:sp>
          <p:nvSpPr>
            <p:cNvPr id="67" name="Google Shape;67;p3"/>
            <p:cNvSpPr/>
            <p:nvPr/>
          </p:nvSpPr>
          <p:spPr>
            <a:xfrm>
              <a:off x="5953125" y="3238500"/>
              <a:ext cx="2714700" cy="809700"/>
            </a:xfrm>
            <a:prstGeom prst="roundRect">
              <a:avLst>
                <a:gd fmla="val 9411" name="adj"/>
              </a:avLst>
            </a:prstGeom>
            <a:solidFill>
              <a:srgbClr val="F4F7F8"/>
            </a:solidFill>
            <a:ln cap="flat" cmpd="sng" w="9525">
              <a:solidFill>
                <a:srgbClr val="E1E8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" name="Google Shape;68;p3"/>
            <p:cNvSpPr txBox="1"/>
            <p:nvPr/>
          </p:nvSpPr>
          <p:spPr>
            <a:xfrm>
              <a:off x="6067425" y="3314700"/>
              <a:ext cx="2486100" cy="65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en-US" sz="1100" u="none" cap="none" strike="noStrike">
                  <a:solidFill>
                    <a:srgbClr val="5B7180"/>
                  </a:solidFill>
                  <a:latin typeface="Inter"/>
                  <a:ea typeface="Inter"/>
                  <a:cs typeface="Inter"/>
                  <a:sym typeface="Inter"/>
                </a:rPr>
                <a:t>Ambition : Critère secondaire</a:t>
              </a:r>
              <a:endParaRPr b="1" i="0" sz="1100" u="none" cap="none" strike="noStrike">
                <a:solidFill>
                  <a:srgbClr val="5B7180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en-US" sz="1100" u="none" cap="none" strike="noStrike">
                  <a:solidFill>
                    <a:srgbClr val="5B7180"/>
                  </a:solidFill>
                  <a:latin typeface="Inter"/>
                  <a:ea typeface="Inter"/>
                  <a:cs typeface="Inter"/>
                  <a:sym typeface="Inter"/>
                </a:rPr>
                <a:t>Le critère le moins avoué par les deux genres (</a:t>
              </a:r>
              <a:r>
                <a:rPr b="1" i="0" lang="en-US" sz="1100" u="none" cap="none" strike="noStrike">
                  <a:solidFill>
                    <a:srgbClr val="0E3449"/>
                  </a:solidFill>
                  <a:latin typeface="Inter"/>
                  <a:ea typeface="Inter"/>
                  <a:cs typeface="Inter"/>
                  <a:sym typeface="Inter"/>
                </a:rPr>
                <a:t>~8 %</a:t>
              </a:r>
              <a:r>
                <a:rPr b="0" i="0" lang="en-US" sz="1100" u="none" cap="none" strike="noStrike">
                  <a:solidFill>
                    <a:srgbClr val="5B7180"/>
                  </a:solidFill>
                  <a:latin typeface="Inter"/>
                  <a:ea typeface="Inter"/>
                  <a:cs typeface="Inter"/>
                  <a:sym typeface="Inter"/>
                </a:rPr>
                <a:t>).</a:t>
              </a:r>
              <a:endParaRPr b="0" i="0" sz="1100" u="none" cap="none" strike="noStrike">
                <a:solidFill>
                  <a:srgbClr val="5B718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69" name="Google Shape;69;p3"/>
          <p:cNvSpPr/>
          <p:nvPr/>
        </p:nvSpPr>
        <p:spPr>
          <a:xfrm>
            <a:off x="457200" y="4143375"/>
            <a:ext cx="8229600" cy="571500"/>
          </a:xfrm>
          <a:prstGeom prst="roundRect">
            <a:avLst>
              <a:gd fmla="val 13333" name="adj"/>
            </a:avLst>
          </a:prstGeom>
          <a:solidFill>
            <a:srgbClr val="EDFFFE"/>
          </a:solidFill>
          <a:ln cap="flat" cmpd="sng" w="9525">
            <a:solidFill>
              <a:srgbClr val="C3FF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3"/>
          <p:cNvSpPr txBox="1"/>
          <p:nvPr/>
        </p:nvSpPr>
        <p:spPr>
          <a:xfrm>
            <a:off x="619125" y="4143375"/>
            <a:ext cx="79059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0B5AC"/>
                </a:solidFill>
                <a:latin typeface="Inter"/>
                <a:ea typeface="Inter"/>
                <a:cs typeface="Inter"/>
                <a:sym typeface="Inter"/>
              </a:rPr>
              <a:t>À retenir : </a:t>
            </a:r>
            <a:r>
              <a:rPr b="0" i="0" lang="en-US" sz="1100" u="none" cap="none" strike="noStrike">
                <a:solidFill>
                  <a:srgbClr val="0E3449"/>
                </a:solidFill>
                <a:latin typeface="Inter"/>
                <a:ea typeface="Inter"/>
                <a:cs typeface="Inter"/>
                <a:sym typeface="Inter"/>
              </a:rPr>
              <a:t>Hommes et femmes s'accordent sur l'intelligence et le fun, mais divergent fortement sur le poids avoué de l'attirance physique.</a:t>
            </a:r>
            <a:endParaRPr b="1" i="0" sz="1100" u="none" cap="none" strike="noStrike">
              <a:solidFill>
                <a:srgbClr val="00B5AC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ssets/logo_mark.png" id="76" name="Google Shape;7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6344" y="457200"/>
            <a:ext cx="576072" cy="384048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4"/>
          <p:cNvPicPr preferRelativeResize="0"/>
          <p:nvPr/>
        </p:nvPicPr>
        <p:blipFill rotWithShape="1">
          <a:blip r:embed="rId4">
            <a:alphaModFix/>
          </a:blip>
          <a:srcRect b="60" l="0" r="0" t="50"/>
          <a:stretch/>
        </p:blipFill>
        <p:spPr>
          <a:xfrm>
            <a:off x="152400" y="1095375"/>
            <a:ext cx="5334000" cy="2305200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4"/>
          <p:cNvSpPr/>
          <p:nvPr/>
        </p:nvSpPr>
        <p:spPr>
          <a:xfrm>
            <a:off x="1170432" y="384048"/>
            <a:ext cx="75438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449"/>
              </a:buClr>
              <a:buSzPts val="2100"/>
              <a:buFont typeface="Inter SemiBold"/>
              <a:buNone/>
            </a:pPr>
            <a:r>
              <a:rPr b="1" i="0" lang="en-US" sz="2100" u="none" cap="none" strike="noStrike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Le discours contre le comportement réel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4"/>
          <p:cNvSpPr/>
          <p:nvPr/>
        </p:nvSpPr>
        <p:spPr>
          <a:xfrm>
            <a:off x="9144" y="4892040"/>
            <a:ext cx="9144000" cy="251400"/>
          </a:xfrm>
          <a:prstGeom prst="rect">
            <a:avLst/>
          </a:prstGeom>
          <a:solidFill>
            <a:srgbClr val="C3FFFC"/>
          </a:solidFill>
          <a:ln cap="flat" cmpd="sng" w="12700">
            <a:solidFill>
              <a:srgbClr val="C3FF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4"/>
          <p:cNvSpPr txBox="1"/>
          <p:nvPr/>
        </p:nvSpPr>
        <p:spPr>
          <a:xfrm>
            <a:off x="152400" y="3476625"/>
            <a:ext cx="53340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1" lang="en-US" sz="950" u="none" cap="none" strike="noStrike">
                <a:solidFill>
                  <a:srgbClr val="5B7180"/>
                </a:solidFill>
                <a:latin typeface="Inter"/>
                <a:ea typeface="Inter"/>
                <a:cs typeface="Inter"/>
                <a:sym typeface="Inter"/>
              </a:rPr>
              <a:t>Impact réel sur la décision de revoir la personne</a:t>
            </a:r>
            <a:endParaRPr b="0" i="1" sz="950" u="none" cap="none" strike="noStrike">
              <a:solidFill>
                <a:srgbClr val="5B718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81" name="Google Shape;81;p4"/>
          <p:cNvGrpSpPr/>
          <p:nvPr/>
        </p:nvGrpSpPr>
        <p:grpSpPr>
          <a:xfrm>
            <a:off x="5715000" y="1095375"/>
            <a:ext cx="2971800" cy="838200"/>
            <a:chOff x="5715000" y="1095375"/>
            <a:chExt cx="2971800" cy="838200"/>
          </a:xfrm>
        </p:grpSpPr>
        <p:sp>
          <p:nvSpPr>
            <p:cNvPr id="82" name="Google Shape;82;p4"/>
            <p:cNvSpPr/>
            <p:nvPr/>
          </p:nvSpPr>
          <p:spPr>
            <a:xfrm>
              <a:off x="5715000" y="1095375"/>
              <a:ext cx="2971800" cy="838200"/>
            </a:xfrm>
            <a:prstGeom prst="roundRect">
              <a:avLst>
                <a:gd fmla="val 9090" name="adj"/>
              </a:avLst>
            </a:prstGeom>
            <a:solidFill>
              <a:srgbClr val="F4F7F8"/>
            </a:solidFill>
            <a:ln cap="flat" cmpd="sng" w="9525">
              <a:solidFill>
                <a:srgbClr val="E1E8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" name="Google Shape;83;p4"/>
            <p:cNvSpPr txBox="1"/>
            <p:nvPr/>
          </p:nvSpPr>
          <p:spPr>
            <a:xfrm>
              <a:off x="5829300" y="1171575"/>
              <a:ext cx="2743200" cy="68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50"/>
                <a:buFont typeface="Arial"/>
                <a:buNone/>
              </a:pPr>
              <a:r>
                <a:rPr b="1" i="0" lang="en-US" sz="1150" u="none" cap="none" strike="noStrike">
                  <a:solidFill>
                    <a:srgbClr val="E4674F"/>
                  </a:solidFill>
                  <a:latin typeface="Inter"/>
                  <a:ea typeface="Inter"/>
                  <a:cs typeface="Inter"/>
                  <a:sym typeface="Inter"/>
                </a:rPr>
                <a:t>Sur le papier</a:t>
              </a:r>
              <a:endParaRPr b="1" i="0" sz="1150" u="none" cap="none" strike="noStrike">
                <a:solidFill>
                  <a:srgbClr val="E4674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5B7180"/>
                  </a:solidFill>
                  <a:latin typeface="Inter"/>
                  <a:ea typeface="Inter"/>
                  <a:cs typeface="Inter"/>
                  <a:sym typeface="Inter"/>
                </a:rPr>
                <a:t>Le physique n'était que 3ᵉ dans les déclarations (22,5 %).</a:t>
              </a:r>
              <a:endParaRPr b="0" i="0" sz="1000" u="none" cap="none" strike="noStrike">
                <a:solidFill>
                  <a:srgbClr val="5B718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84" name="Google Shape;84;p4"/>
          <p:cNvGrpSpPr/>
          <p:nvPr/>
        </p:nvGrpSpPr>
        <p:grpSpPr>
          <a:xfrm>
            <a:off x="5715000" y="2028825"/>
            <a:ext cx="2971800" cy="838200"/>
            <a:chOff x="5715000" y="2028825"/>
            <a:chExt cx="2971800" cy="838200"/>
          </a:xfrm>
        </p:grpSpPr>
        <p:sp>
          <p:nvSpPr>
            <p:cNvPr id="85" name="Google Shape;85;p4"/>
            <p:cNvSpPr/>
            <p:nvPr/>
          </p:nvSpPr>
          <p:spPr>
            <a:xfrm>
              <a:off x="5715000" y="2028825"/>
              <a:ext cx="2971800" cy="838200"/>
            </a:xfrm>
            <a:prstGeom prst="roundRect">
              <a:avLst>
                <a:gd fmla="val 9090" name="adj"/>
              </a:avLst>
            </a:prstGeom>
            <a:solidFill>
              <a:srgbClr val="F4F7F8"/>
            </a:solidFill>
            <a:ln cap="flat" cmpd="sng" w="9525">
              <a:solidFill>
                <a:srgbClr val="E1E8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" name="Google Shape;86;p4"/>
            <p:cNvSpPr txBox="1"/>
            <p:nvPr/>
          </p:nvSpPr>
          <p:spPr>
            <a:xfrm>
              <a:off x="5829300" y="2105025"/>
              <a:ext cx="2743200" cy="68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50"/>
                <a:buFont typeface="Arial"/>
                <a:buNone/>
              </a:pPr>
              <a:r>
                <a:rPr b="1" i="0" lang="en-US" sz="1150" u="none" cap="none" strike="noStrike">
                  <a:solidFill>
                    <a:srgbClr val="00B5AC"/>
                  </a:solidFill>
                  <a:latin typeface="Inter"/>
                  <a:ea typeface="Inter"/>
                  <a:cs typeface="Inter"/>
                  <a:sym typeface="Inter"/>
                </a:rPr>
                <a:t>En réalité</a:t>
              </a:r>
              <a:endParaRPr b="1" i="0" sz="1150" u="none" cap="none" strike="noStrike">
                <a:solidFill>
                  <a:srgbClr val="00B5AC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5B7180"/>
                  </a:solidFill>
                  <a:latin typeface="Inter"/>
                  <a:ea typeface="Inter"/>
                  <a:cs typeface="Inter"/>
                  <a:sym typeface="Inter"/>
                </a:rPr>
                <a:t>Le physique écrase la décision (corrélation de </a:t>
              </a:r>
              <a:r>
                <a:rPr b="1" i="0" lang="en-US" sz="1000" u="none" cap="none" strike="noStrike">
                  <a:solidFill>
                    <a:srgbClr val="0E3449"/>
                  </a:solidFill>
                  <a:latin typeface="Inter"/>
                  <a:ea typeface="Inter"/>
                  <a:cs typeface="Inter"/>
                  <a:sym typeface="Inter"/>
                </a:rPr>
                <a:t>0,49</a:t>
              </a:r>
              <a:r>
                <a:rPr b="0" i="0" lang="en-US" sz="1000" u="none" cap="none" strike="noStrike">
                  <a:solidFill>
                    <a:srgbClr val="5B7180"/>
                  </a:solidFill>
                  <a:latin typeface="Inter"/>
                  <a:ea typeface="Inter"/>
                  <a:cs typeface="Inter"/>
                  <a:sym typeface="Inter"/>
                </a:rPr>
                <a:t>), suivi de près par le Fun (</a:t>
              </a:r>
              <a:r>
                <a:rPr b="1" i="0" lang="en-US" sz="1000" u="none" cap="none" strike="noStrike">
                  <a:solidFill>
                    <a:srgbClr val="0E3449"/>
                  </a:solidFill>
                  <a:latin typeface="Inter"/>
                  <a:ea typeface="Inter"/>
                  <a:cs typeface="Inter"/>
                  <a:sym typeface="Inter"/>
                </a:rPr>
                <a:t>0,41</a:t>
              </a:r>
              <a:r>
                <a:rPr b="0" i="0" lang="en-US" sz="1000" u="none" cap="none" strike="noStrike">
                  <a:solidFill>
                    <a:srgbClr val="5B7180"/>
                  </a:solidFill>
                  <a:latin typeface="Inter"/>
                  <a:ea typeface="Inter"/>
                  <a:cs typeface="Inter"/>
                  <a:sym typeface="Inter"/>
                </a:rPr>
                <a:t>).</a:t>
              </a:r>
              <a:endParaRPr b="0" i="0" sz="1000" u="none" cap="none" strike="noStrike">
                <a:solidFill>
                  <a:srgbClr val="5B718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87" name="Google Shape;87;p4"/>
          <p:cNvGrpSpPr/>
          <p:nvPr/>
        </p:nvGrpSpPr>
        <p:grpSpPr>
          <a:xfrm>
            <a:off x="5715000" y="2962275"/>
            <a:ext cx="2971800" cy="838200"/>
            <a:chOff x="5715000" y="2962275"/>
            <a:chExt cx="2971800" cy="838200"/>
          </a:xfrm>
        </p:grpSpPr>
        <p:sp>
          <p:nvSpPr>
            <p:cNvPr id="88" name="Google Shape;88;p4"/>
            <p:cNvSpPr/>
            <p:nvPr/>
          </p:nvSpPr>
          <p:spPr>
            <a:xfrm>
              <a:off x="5715000" y="2962275"/>
              <a:ext cx="2971800" cy="838200"/>
            </a:xfrm>
            <a:prstGeom prst="roundRect">
              <a:avLst>
                <a:gd fmla="val 9090" name="adj"/>
              </a:avLst>
            </a:prstGeom>
            <a:solidFill>
              <a:srgbClr val="F4F7F8"/>
            </a:solidFill>
            <a:ln cap="flat" cmpd="sng" w="9525">
              <a:solidFill>
                <a:srgbClr val="E1E8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" name="Google Shape;89;p4"/>
            <p:cNvSpPr txBox="1"/>
            <p:nvPr/>
          </p:nvSpPr>
          <p:spPr>
            <a:xfrm>
              <a:off x="5829300" y="3038475"/>
              <a:ext cx="2743200" cy="68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50"/>
                <a:buFont typeface="Arial"/>
                <a:buNone/>
              </a:pPr>
              <a:r>
                <a:rPr b="1" i="0" lang="en-US" sz="1150" u="none" cap="none" strike="noStrike">
                  <a:solidFill>
                    <a:srgbClr val="0E3449"/>
                  </a:solidFill>
                  <a:latin typeface="Inter"/>
                  <a:ea typeface="Inter"/>
                  <a:cs typeface="Inter"/>
                  <a:sym typeface="Inter"/>
                </a:rPr>
                <a:t>Le décalage</a:t>
              </a:r>
              <a:endParaRPr b="1" i="0" sz="1150" u="none" cap="none" strike="noStrike">
                <a:solidFill>
                  <a:srgbClr val="0E344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5B7180"/>
                  </a:solidFill>
                  <a:latin typeface="Inter"/>
                  <a:ea typeface="Inter"/>
                  <a:cs typeface="Inter"/>
                  <a:sym typeface="Inter"/>
                </a:rPr>
                <a:t>L'intelligence (0,21) et la sincérité sont deux fois moins prédictives que ce qui était annoncé.</a:t>
              </a:r>
              <a:endParaRPr b="0" i="0" sz="1000" u="none" cap="none" strike="noStrike">
                <a:solidFill>
                  <a:srgbClr val="5B718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90" name="Google Shape;90;p4"/>
          <p:cNvGrpSpPr/>
          <p:nvPr/>
        </p:nvGrpSpPr>
        <p:grpSpPr>
          <a:xfrm>
            <a:off x="457200" y="4000500"/>
            <a:ext cx="8229600" cy="571500"/>
            <a:chOff x="457200" y="4000500"/>
            <a:chExt cx="8229600" cy="571500"/>
          </a:xfrm>
        </p:grpSpPr>
        <p:sp>
          <p:nvSpPr>
            <p:cNvPr id="91" name="Google Shape;91;p4"/>
            <p:cNvSpPr/>
            <p:nvPr/>
          </p:nvSpPr>
          <p:spPr>
            <a:xfrm>
              <a:off x="457200" y="4000500"/>
              <a:ext cx="8229600" cy="571500"/>
            </a:xfrm>
            <a:prstGeom prst="roundRect">
              <a:avLst>
                <a:gd fmla="val 13333" name="adj"/>
              </a:avLst>
            </a:prstGeom>
            <a:solidFill>
              <a:srgbClr val="EDFFFE"/>
            </a:solidFill>
            <a:ln cap="flat" cmpd="sng" w="9525">
              <a:solidFill>
                <a:srgbClr val="C3FFF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" name="Google Shape;92;p4"/>
            <p:cNvSpPr txBox="1"/>
            <p:nvPr/>
          </p:nvSpPr>
          <p:spPr>
            <a:xfrm>
              <a:off x="647700" y="4000500"/>
              <a:ext cx="78486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en-US" sz="1100" u="none" cap="none" strike="noStrike">
                  <a:solidFill>
                    <a:srgbClr val="00B5AC"/>
                  </a:solidFill>
                  <a:latin typeface="Inter"/>
                  <a:ea typeface="Inter"/>
                  <a:cs typeface="Inter"/>
                  <a:sym typeface="Inter"/>
                </a:rPr>
                <a:t>À retenir :</a:t>
              </a:r>
              <a:r>
                <a:rPr b="0" i="0" lang="en-US" sz="1100" u="none" cap="none" strike="noStrike">
                  <a:solidFill>
                    <a:srgbClr val="0E3449"/>
                  </a:solidFill>
                  <a:latin typeface="Inter"/>
                  <a:ea typeface="Inter"/>
                  <a:cs typeface="Inter"/>
                  <a:sym typeface="Inter"/>
                </a:rPr>
                <a:t> Le physique et l'humour pèsent bien plus lourd dans la décision réelle que ce que les utilisateurs admettent.</a:t>
              </a:r>
              <a:endParaRPr b="0" i="0" sz="1100" u="none" cap="none" strike="noStrike">
                <a:solidFill>
                  <a:srgbClr val="0E344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ssets/logo_mark.png" id="98" name="Google Shape;9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6344" y="457200"/>
            <a:ext cx="576072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5"/>
          <p:cNvSpPr/>
          <p:nvPr/>
        </p:nvSpPr>
        <p:spPr>
          <a:xfrm>
            <a:off x="1170432" y="384048"/>
            <a:ext cx="75438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449"/>
              </a:buClr>
              <a:buSzPts val="2100"/>
              <a:buFont typeface="Inter SemiBold"/>
              <a:buNone/>
            </a:pPr>
            <a:r>
              <a:rPr b="1" i="0" lang="en-US" sz="2100" u="none" cap="none" strike="noStrike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Intérêts communs ou même origine ?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5"/>
          <p:cNvSpPr/>
          <p:nvPr/>
        </p:nvSpPr>
        <p:spPr>
          <a:xfrm>
            <a:off x="9144" y="4892040"/>
            <a:ext cx="9144000" cy="251400"/>
          </a:xfrm>
          <a:prstGeom prst="rect">
            <a:avLst/>
          </a:prstGeom>
          <a:solidFill>
            <a:srgbClr val="C3FFFC"/>
          </a:solidFill>
          <a:ln cap="flat" cmpd="sng" w="12700">
            <a:solidFill>
              <a:srgbClr val="C3FF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1" name="Google Shape;101;p5"/>
          <p:cNvGrpSpPr/>
          <p:nvPr/>
        </p:nvGrpSpPr>
        <p:grpSpPr>
          <a:xfrm>
            <a:off x="6096000" y="1143000"/>
            <a:ext cx="2762440" cy="1238400"/>
            <a:chOff x="4456256" y="1143000"/>
            <a:chExt cx="4523400" cy="1238400"/>
          </a:xfrm>
        </p:grpSpPr>
        <p:sp>
          <p:nvSpPr>
            <p:cNvPr id="102" name="Google Shape;102;p5"/>
            <p:cNvSpPr/>
            <p:nvPr/>
          </p:nvSpPr>
          <p:spPr>
            <a:xfrm>
              <a:off x="4456256" y="1143000"/>
              <a:ext cx="4523400" cy="1238400"/>
            </a:xfrm>
            <a:prstGeom prst="roundRect">
              <a:avLst>
                <a:gd fmla="val 6153" name="adj"/>
              </a:avLst>
            </a:prstGeom>
            <a:solidFill>
              <a:srgbClr val="F4F7F8"/>
            </a:solidFill>
            <a:ln cap="flat" cmpd="sng" w="9525">
              <a:solidFill>
                <a:srgbClr val="E1E8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" name="Google Shape;103;p5"/>
            <p:cNvSpPr txBox="1"/>
            <p:nvPr/>
          </p:nvSpPr>
          <p:spPr>
            <a:xfrm>
              <a:off x="4456256" y="1143000"/>
              <a:ext cx="4523400" cy="1238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-US" sz="1200" u="none" cap="none" strike="noStrike">
                  <a:solidFill>
                    <a:srgbClr val="5B7180"/>
                  </a:solidFill>
                  <a:latin typeface="Inter"/>
                  <a:ea typeface="Inter"/>
                  <a:cs typeface="Inter"/>
                  <a:sym typeface="Inter"/>
                </a:rPr>
                <a:t>Même origine ethnique</a:t>
              </a:r>
              <a:endParaRPr b="1" i="0" sz="1200" u="none" cap="none" strike="noStrike">
                <a:solidFill>
                  <a:srgbClr val="5B7180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45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en-US" sz="1100" u="none" cap="none" strike="noStrike">
                  <a:solidFill>
                    <a:srgbClr val="E4674F"/>
                  </a:solidFill>
                  <a:latin typeface="Inter"/>
                  <a:ea typeface="Inter"/>
                  <a:cs typeface="Inter"/>
                  <a:sym typeface="Inter"/>
                </a:rPr>
                <a:t>Effet quasi nul :</a:t>
              </a:r>
              <a:r>
                <a:rPr b="0" i="0" lang="en-US" sz="1100" u="none" cap="none" strike="noStrike">
                  <a:solidFill>
                    <a:srgbClr val="0E3449"/>
                  </a:solidFill>
                  <a:latin typeface="Inter"/>
                  <a:ea typeface="Inter"/>
                  <a:cs typeface="Inter"/>
                  <a:sym typeface="Inter"/>
                </a:rPr>
                <a:t> seulement </a:t>
              </a:r>
              <a:r>
                <a:rPr b="1" i="0" lang="en-US" sz="1100" u="none" cap="none" strike="noStrike">
                  <a:solidFill>
                    <a:srgbClr val="0E3449"/>
                  </a:solidFill>
                  <a:latin typeface="Inter"/>
                  <a:ea typeface="Inter"/>
                  <a:cs typeface="Inter"/>
                  <a:sym typeface="Inter"/>
                </a:rPr>
                <a:t>+1,0 pt</a:t>
              </a:r>
              <a:r>
                <a:rPr b="0" i="0" lang="en-US" sz="1100" u="none" cap="none" strike="noStrike">
                  <a:solidFill>
                    <a:srgbClr val="0E3449"/>
                  </a:solidFill>
                  <a:latin typeface="Inter"/>
                  <a:ea typeface="Inter"/>
                  <a:cs typeface="Inter"/>
                  <a:sym typeface="Inter"/>
                </a:rPr>
                <a:t> de différence, passant de 16,1 % à 17,1 % de match.</a:t>
              </a:r>
              <a:endParaRPr b="0" i="0" sz="1100" u="none" cap="none" strike="noStrike">
                <a:solidFill>
                  <a:srgbClr val="0E344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04" name="Google Shape;104;p5"/>
          <p:cNvGrpSpPr/>
          <p:nvPr/>
        </p:nvGrpSpPr>
        <p:grpSpPr>
          <a:xfrm>
            <a:off x="6096000" y="2476500"/>
            <a:ext cx="2762411" cy="1238400"/>
            <a:chOff x="4119281" y="2476500"/>
            <a:chExt cx="4884900" cy="1238400"/>
          </a:xfrm>
        </p:grpSpPr>
        <p:sp>
          <p:nvSpPr>
            <p:cNvPr id="105" name="Google Shape;105;p5"/>
            <p:cNvSpPr/>
            <p:nvPr/>
          </p:nvSpPr>
          <p:spPr>
            <a:xfrm>
              <a:off x="4119281" y="2476500"/>
              <a:ext cx="4884900" cy="1238400"/>
            </a:xfrm>
            <a:prstGeom prst="roundRect">
              <a:avLst>
                <a:gd fmla="val 6153" name="adj"/>
              </a:avLst>
            </a:prstGeom>
            <a:solidFill>
              <a:srgbClr val="F4F7F8"/>
            </a:solidFill>
            <a:ln cap="flat" cmpd="sng" w="9525">
              <a:solidFill>
                <a:srgbClr val="E1E8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" name="Google Shape;106;p5"/>
            <p:cNvSpPr txBox="1"/>
            <p:nvPr/>
          </p:nvSpPr>
          <p:spPr>
            <a:xfrm>
              <a:off x="4119281" y="2476500"/>
              <a:ext cx="4884900" cy="1238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-US" sz="1200" u="none" cap="none" strike="noStrike">
                  <a:solidFill>
                    <a:srgbClr val="00B5AC"/>
                  </a:solidFill>
                  <a:latin typeface="Inter"/>
                  <a:ea typeface="Inter"/>
                  <a:cs typeface="Inter"/>
                  <a:sym typeface="Inter"/>
                </a:rPr>
                <a:t>Passions partagées</a:t>
              </a:r>
              <a:endParaRPr b="1" i="0" sz="1200" u="none" cap="none" strike="noStrike">
                <a:solidFill>
                  <a:srgbClr val="00B5AC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45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en-US" sz="1100" u="none" cap="none" strike="noStrike">
                  <a:solidFill>
                    <a:srgbClr val="00B5AC"/>
                  </a:solidFill>
                  <a:latin typeface="Inter"/>
                  <a:ea typeface="Inter"/>
                  <a:cs typeface="Inter"/>
                  <a:sym typeface="Inter"/>
                </a:rPr>
                <a:t>Effet modéré mais réel :</a:t>
              </a:r>
              <a:r>
                <a:rPr b="0" i="0" lang="en-US" sz="1100" u="none" cap="none" strike="noStrike">
                  <a:solidFill>
                    <a:srgbClr val="0E3449"/>
                  </a:solidFill>
                  <a:latin typeface="Inter"/>
                  <a:ea typeface="Inter"/>
                  <a:cs typeface="Inter"/>
                  <a:sym typeface="Inter"/>
                </a:rPr>
                <a:t> un gain de </a:t>
              </a:r>
              <a:r>
                <a:rPr b="1" i="0" lang="en-US" sz="1100" u="none" cap="none" strike="noStrike">
                  <a:solidFill>
                    <a:srgbClr val="0E3449"/>
                  </a:solidFill>
                  <a:latin typeface="Inter"/>
                  <a:ea typeface="Inter"/>
                  <a:cs typeface="Inter"/>
                  <a:sym typeface="Inter"/>
                </a:rPr>
                <a:t>+4,8 pts</a:t>
              </a:r>
              <a:r>
                <a:rPr b="0" i="0" lang="en-US" sz="1100" u="none" cap="none" strike="noStrike">
                  <a:solidFill>
                    <a:srgbClr val="0E3449"/>
                  </a:solidFill>
                  <a:latin typeface="Inter"/>
                  <a:ea typeface="Inter"/>
                  <a:cs typeface="Inter"/>
                  <a:sym typeface="Inter"/>
                </a:rPr>
                <a:t>, de 14,7 % à 19,25% de match.</a:t>
              </a:r>
              <a:endParaRPr b="0" i="0" sz="1100" u="none" cap="none" strike="noStrike">
                <a:solidFill>
                  <a:srgbClr val="0E344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107" name="Google Shape;107;p5"/>
          <p:cNvSpPr/>
          <p:nvPr/>
        </p:nvSpPr>
        <p:spPr>
          <a:xfrm>
            <a:off x="285750" y="3905250"/>
            <a:ext cx="8572500" cy="571500"/>
          </a:xfrm>
          <a:prstGeom prst="roundRect">
            <a:avLst>
              <a:gd fmla="val 13333" name="adj"/>
            </a:avLst>
          </a:prstGeom>
          <a:solidFill>
            <a:srgbClr val="EDFFFE"/>
          </a:solidFill>
          <a:ln cap="flat" cmpd="sng" w="9525">
            <a:solidFill>
              <a:srgbClr val="C3FF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5"/>
          <p:cNvSpPr txBox="1"/>
          <p:nvPr/>
        </p:nvSpPr>
        <p:spPr>
          <a:xfrm>
            <a:off x="285750" y="3905250"/>
            <a:ext cx="85725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00B5AC"/>
                </a:solidFill>
                <a:latin typeface="Inter"/>
                <a:ea typeface="Inter"/>
                <a:cs typeface="Inter"/>
                <a:sym typeface="Inter"/>
              </a:rPr>
              <a:t>À retenir : </a:t>
            </a:r>
            <a:r>
              <a:rPr b="0" i="0" lang="en-US" sz="1150" u="none" cap="none" strike="noStrike">
                <a:solidFill>
                  <a:srgbClr val="0E3449"/>
                </a:solidFill>
                <a:latin typeface="Inter"/>
                <a:ea typeface="Inter"/>
                <a:cs typeface="Inter"/>
                <a:sym typeface="Inter"/>
              </a:rPr>
              <a:t>Partager les mêmes loisirs est un bonus appréciable, mais aucun de ces deux facteurs n'égale l'impact de l'attirance physique.</a:t>
            </a:r>
            <a:endParaRPr b="1" i="0" sz="1150" u="none" cap="none" strike="noStrike">
              <a:solidFill>
                <a:srgbClr val="00B5A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09" name="Google Shape;109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1921" y="1019161"/>
            <a:ext cx="5944079" cy="26957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ssets/logo_mark.png" id="115" name="Google Shape;115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6344" y="457200"/>
            <a:ext cx="576072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6"/>
          <p:cNvSpPr/>
          <p:nvPr/>
        </p:nvSpPr>
        <p:spPr>
          <a:xfrm>
            <a:off x="1170432" y="384048"/>
            <a:ext cx="7543800" cy="548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0E3449"/>
                </a:solidFill>
                <a:latin typeface="Inter"/>
                <a:ea typeface="Inter"/>
                <a:cs typeface="Inter"/>
                <a:sym typeface="Inter"/>
              </a:rPr>
              <a:t>Les participants connaissent-ils leur propre valeur ?</a:t>
            </a:r>
            <a:endParaRPr b="1" i="0" sz="2100" u="none" cap="none" strike="noStrike">
              <a:solidFill>
                <a:srgbClr val="0E344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7" name="Google Shape;117;p6"/>
          <p:cNvSpPr/>
          <p:nvPr/>
        </p:nvSpPr>
        <p:spPr>
          <a:xfrm>
            <a:off x="9144" y="4892040"/>
            <a:ext cx="9144000" cy="251400"/>
          </a:xfrm>
          <a:prstGeom prst="rect">
            <a:avLst/>
          </a:prstGeom>
          <a:solidFill>
            <a:srgbClr val="C3FFFC"/>
          </a:solidFill>
          <a:ln cap="flat" cmpd="sng" w="12700">
            <a:solidFill>
              <a:srgbClr val="C3FF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6"/>
          <p:cNvSpPr/>
          <p:nvPr/>
        </p:nvSpPr>
        <p:spPr>
          <a:xfrm>
            <a:off x="411480" y="3749040"/>
            <a:ext cx="39777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9" name="Google Shape;119;p6"/>
          <p:cNvPicPr preferRelativeResize="0"/>
          <p:nvPr/>
        </p:nvPicPr>
        <p:blipFill rotWithShape="1">
          <a:blip r:embed="rId4">
            <a:alphaModFix/>
          </a:blip>
          <a:srcRect b="10" l="0" r="0" t="20"/>
          <a:stretch/>
        </p:blipFill>
        <p:spPr>
          <a:xfrm>
            <a:off x="457200" y="1095375"/>
            <a:ext cx="4953000" cy="34767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0" name="Google Shape;120;p6"/>
          <p:cNvGrpSpPr/>
          <p:nvPr/>
        </p:nvGrpSpPr>
        <p:grpSpPr>
          <a:xfrm>
            <a:off x="5715000" y="1095375"/>
            <a:ext cx="2971800" cy="904800"/>
            <a:chOff x="5715000" y="1095375"/>
            <a:chExt cx="2971800" cy="904800"/>
          </a:xfrm>
        </p:grpSpPr>
        <p:sp>
          <p:nvSpPr>
            <p:cNvPr id="121" name="Google Shape;121;p6"/>
            <p:cNvSpPr/>
            <p:nvPr/>
          </p:nvSpPr>
          <p:spPr>
            <a:xfrm>
              <a:off x="5715000" y="1095375"/>
              <a:ext cx="2971800" cy="904800"/>
            </a:xfrm>
            <a:prstGeom prst="roundRect">
              <a:avLst>
                <a:gd fmla="val 8421" name="adj"/>
              </a:avLst>
            </a:prstGeom>
            <a:solidFill>
              <a:srgbClr val="F4F7F8"/>
            </a:solidFill>
            <a:ln cap="flat" cmpd="sng" w="9525">
              <a:solidFill>
                <a:srgbClr val="E1E8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Google Shape;122;p6"/>
            <p:cNvSpPr txBox="1"/>
            <p:nvPr/>
          </p:nvSpPr>
          <p:spPr>
            <a:xfrm>
              <a:off x="5829300" y="1190625"/>
              <a:ext cx="27432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50"/>
                <a:buFont typeface="Arial"/>
                <a:buNone/>
              </a:pPr>
              <a:r>
                <a:rPr b="1" i="0" lang="en-US" sz="1150" u="none" cap="none" strike="noStrike">
                  <a:solidFill>
                    <a:srgbClr val="0E3449"/>
                  </a:solidFill>
                  <a:latin typeface="Inter"/>
                  <a:ea typeface="Inter"/>
                  <a:cs typeface="Inter"/>
                  <a:sym typeface="Inter"/>
                </a:rPr>
                <a:t>Surestimation systématique</a:t>
              </a:r>
              <a:endParaRPr b="1" i="0" sz="1150" u="none" cap="none" strike="noStrike">
                <a:solidFill>
                  <a:srgbClr val="0E344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5B7180"/>
                  </a:solidFill>
                  <a:latin typeface="Inter"/>
                  <a:ea typeface="Inter"/>
                  <a:cs typeface="Inter"/>
                  <a:sym typeface="Inter"/>
                </a:rPr>
                <a:t>Presque tous les points se situent dans la zone de surestimation.</a:t>
              </a:r>
              <a:endParaRPr b="0" i="0" sz="1000" u="none" cap="none" strike="noStrike">
                <a:solidFill>
                  <a:srgbClr val="5B718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23" name="Google Shape;123;p6"/>
          <p:cNvGrpSpPr/>
          <p:nvPr/>
        </p:nvGrpSpPr>
        <p:grpSpPr>
          <a:xfrm>
            <a:off x="5715000" y="2143125"/>
            <a:ext cx="2971800" cy="904800"/>
            <a:chOff x="5715000" y="2143125"/>
            <a:chExt cx="2971800" cy="904800"/>
          </a:xfrm>
        </p:grpSpPr>
        <p:sp>
          <p:nvSpPr>
            <p:cNvPr id="124" name="Google Shape;124;p6"/>
            <p:cNvSpPr/>
            <p:nvPr/>
          </p:nvSpPr>
          <p:spPr>
            <a:xfrm>
              <a:off x="5715000" y="2143125"/>
              <a:ext cx="2971800" cy="904800"/>
            </a:xfrm>
            <a:prstGeom prst="roundRect">
              <a:avLst>
                <a:gd fmla="val 8421" name="adj"/>
              </a:avLst>
            </a:prstGeom>
            <a:solidFill>
              <a:srgbClr val="F4F7F8"/>
            </a:solidFill>
            <a:ln cap="flat" cmpd="sng" w="9525">
              <a:solidFill>
                <a:srgbClr val="E1E8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Google Shape;125;p6"/>
            <p:cNvSpPr txBox="1"/>
            <p:nvPr/>
          </p:nvSpPr>
          <p:spPr>
            <a:xfrm>
              <a:off x="5829300" y="2238375"/>
              <a:ext cx="27432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50"/>
                <a:buFont typeface="Arial"/>
                <a:buNone/>
              </a:pPr>
              <a:r>
                <a:rPr b="1" i="0" lang="en-US" sz="1150" u="none" cap="none" strike="noStrike">
                  <a:solidFill>
                    <a:srgbClr val="E4674F"/>
                  </a:solidFill>
                  <a:latin typeface="Inter"/>
                  <a:ea typeface="Inter"/>
                  <a:cs typeface="Inter"/>
                  <a:sym typeface="Inter"/>
                </a:rPr>
                <a:t>Les hommes</a:t>
              </a:r>
              <a:endParaRPr b="1" i="0" sz="1150" u="none" cap="none" strike="noStrike">
                <a:solidFill>
                  <a:srgbClr val="E4674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5B7180"/>
                  </a:solidFill>
                  <a:latin typeface="Inter"/>
                  <a:ea typeface="Inter"/>
                  <a:cs typeface="Inter"/>
                  <a:sym typeface="Inter"/>
                </a:rPr>
                <a:t>Se sur estiment en moyenne de </a:t>
              </a:r>
              <a:r>
                <a:rPr b="1" i="0" lang="en-US" sz="1000" u="none" cap="none" strike="noStrike">
                  <a:solidFill>
                    <a:srgbClr val="0E3449"/>
                  </a:solidFill>
                  <a:latin typeface="Inter"/>
                  <a:ea typeface="Inter"/>
                  <a:cs typeface="Inter"/>
                  <a:sym typeface="Inter"/>
                </a:rPr>
                <a:t>+1,0 point</a:t>
              </a:r>
              <a:r>
                <a:rPr b="0" i="0" lang="en-US" sz="1000" u="none" cap="none" strike="noStrike">
                  <a:solidFill>
                    <a:srgbClr val="5B7180"/>
                  </a:solidFill>
                  <a:latin typeface="Inter"/>
                  <a:ea typeface="Inter"/>
                  <a:cs typeface="Inter"/>
                  <a:sym typeface="Inter"/>
                </a:rPr>
                <a:t> sur 10.</a:t>
              </a:r>
              <a:endParaRPr b="0" i="0" sz="1000" u="none" cap="none" strike="noStrike">
                <a:solidFill>
                  <a:srgbClr val="5B718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26" name="Google Shape;126;p6"/>
          <p:cNvGrpSpPr/>
          <p:nvPr/>
        </p:nvGrpSpPr>
        <p:grpSpPr>
          <a:xfrm>
            <a:off x="5715000" y="3190875"/>
            <a:ext cx="2971800" cy="904800"/>
            <a:chOff x="5715000" y="3190875"/>
            <a:chExt cx="2971800" cy="904800"/>
          </a:xfrm>
        </p:grpSpPr>
        <p:sp>
          <p:nvSpPr>
            <p:cNvPr id="127" name="Google Shape;127;p6"/>
            <p:cNvSpPr/>
            <p:nvPr/>
          </p:nvSpPr>
          <p:spPr>
            <a:xfrm>
              <a:off x="5715000" y="3190875"/>
              <a:ext cx="2971800" cy="904800"/>
            </a:xfrm>
            <a:prstGeom prst="roundRect">
              <a:avLst>
                <a:gd fmla="val 8421" name="adj"/>
              </a:avLst>
            </a:prstGeom>
            <a:solidFill>
              <a:srgbClr val="F4F7F8"/>
            </a:solidFill>
            <a:ln cap="flat" cmpd="sng" w="9525">
              <a:solidFill>
                <a:srgbClr val="E1E8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" name="Google Shape;128;p6"/>
            <p:cNvSpPr txBox="1"/>
            <p:nvPr/>
          </p:nvSpPr>
          <p:spPr>
            <a:xfrm>
              <a:off x="5829300" y="3286125"/>
              <a:ext cx="27432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50"/>
                <a:buFont typeface="Arial"/>
                <a:buNone/>
              </a:pPr>
              <a:r>
                <a:rPr b="1" i="0" lang="en-US" sz="1150" u="none" cap="none" strike="noStrike">
                  <a:solidFill>
                    <a:srgbClr val="00B5AC"/>
                  </a:solidFill>
                  <a:latin typeface="Inter"/>
                  <a:ea typeface="Inter"/>
                  <a:cs typeface="Inter"/>
                  <a:sym typeface="Inter"/>
                </a:rPr>
                <a:t>Les femmes</a:t>
              </a:r>
              <a:endParaRPr b="1" i="0" sz="1150" u="none" cap="none" strike="noStrike">
                <a:solidFill>
                  <a:srgbClr val="00B5AC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5B7180"/>
                  </a:solidFill>
                  <a:latin typeface="Inter"/>
                  <a:ea typeface="Inter"/>
                  <a:cs typeface="Inter"/>
                  <a:sym typeface="Inter"/>
                </a:rPr>
                <a:t>Se sur estiment en moyenne de </a:t>
              </a:r>
              <a:r>
                <a:rPr b="1" i="0" lang="en-US" sz="1000" u="none" cap="none" strike="noStrike">
                  <a:solidFill>
                    <a:srgbClr val="0E3449"/>
                  </a:solidFill>
                  <a:latin typeface="Inter"/>
                  <a:ea typeface="Inter"/>
                  <a:cs typeface="Inter"/>
                  <a:sym typeface="Inter"/>
                </a:rPr>
                <a:t>+0,8 point</a:t>
              </a:r>
              <a:r>
                <a:rPr b="0" i="0" lang="en-US" sz="1000" u="none" cap="none" strike="noStrike">
                  <a:solidFill>
                    <a:srgbClr val="5B7180"/>
                  </a:solidFill>
                  <a:latin typeface="Inter"/>
                  <a:ea typeface="Inter"/>
                  <a:cs typeface="Inter"/>
                  <a:sym typeface="Inter"/>
                </a:rPr>
                <a:t> sur 10.</a:t>
              </a:r>
              <a:endParaRPr b="0" i="0" sz="1000" u="none" cap="none" strike="noStrike">
                <a:solidFill>
                  <a:srgbClr val="5B718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ssets/logo_mark.png" id="134" name="Google Shape;134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6344" y="457200"/>
            <a:ext cx="576072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7"/>
          <p:cNvSpPr/>
          <p:nvPr/>
        </p:nvSpPr>
        <p:spPr>
          <a:xfrm>
            <a:off x="1170432" y="384048"/>
            <a:ext cx="75438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449"/>
              </a:buClr>
              <a:buSzPts val="2100"/>
              <a:buFont typeface="Inter SemiBold"/>
              <a:buNone/>
            </a:pPr>
            <a:r>
              <a:rPr b="1" i="0" lang="en-US" sz="2100" u="none" cap="none" strike="noStrike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Premier ou dernier rendez-vous de la soirée ?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7"/>
          <p:cNvSpPr/>
          <p:nvPr/>
        </p:nvSpPr>
        <p:spPr>
          <a:xfrm>
            <a:off x="9144" y="4892040"/>
            <a:ext cx="9144000" cy="251400"/>
          </a:xfrm>
          <a:prstGeom prst="rect">
            <a:avLst/>
          </a:prstGeom>
          <a:solidFill>
            <a:srgbClr val="C3FFFC"/>
          </a:solidFill>
          <a:ln cap="flat" cmpd="sng" w="12700">
            <a:solidFill>
              <a:srgbClr val="C3FF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7"/>
          <p:cNvSpPr/>
          <p:nvPr/>
        </p:nvSpPr>
        <p:spPr>
          <a:xfrm>
            <a:off x="5715000" y="2514600"/>
            <a:ext cx="2971800" cy="1238400"/>
          </a:xfrm>
          <a:prstGeom prst="roundRect">
            <a:avLst>
              <a:gd fmla="val 6153" name="adj"/>
            </a:avLst>
          </a:prstGeom>
          <a:solidFill>
            <a:srgbClr val="F4F7F8"/>
          </a:solidFill>
          <a:ln cap="flat" cmpd="sng" w="9525">
            <a:solidFill>
              <a:srgbClr val="E1E8EB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12700">
              <a:srgbClr val="9AAAB2">
                <a:alpha val="25098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8" name="Google Shape;138;p7"/>
          <p:cNvGrpSpPr/>
          <p:nvPr/>
        </p:nvGrpSpPr>
        <p:grpSpPr>
          <a:xfrm>
            <a:off x="5715000" y="1143000"/>
            <a:ext cx="2971800" cy="1238400"/>
            <a:chOff x="5715000" y="1143000"/>
            <a:chExt cx="2971800" cy="1238400"/>
          </a:xfrm>
        </p:grpSpPr>
        <p:sp>
          <p:nvSpPr>
            <p:cNvPr id="139" name="Google Shape;139;p7"/>
            <p:cNvSpPr/>
            <p:nvPr/>
          </p:nvSpPr>
          <p:spPr>
            <a:xfrm>
              <a:off x="5715000" y="1143000"/>
              <a:ext cx="2971800" cy="1238400"/>
            </a:xfrm>
            <a:prstGeom prst="roundRect">
              <a:avLst>
                <a:gd fmla="val 6153" name="adj"/>
              </a:avLst>
            </a:prstGeom>
            <a:solidFill>
              <a:srgbClr val="F4F7F8"/>
            </a:solidFill>
            <a:ln cap="flat" cmpd="sng" w="9525">
              <a:solidFill>
                <a:srgbClr val="E1E8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" name="Google Shape;140;p7"/>
            <p:cNvSpPr txBox="1"/>
            <p:nvPr/>
          </p:nvSpPr>
          <p:spPr>
            <a:xfrm>
              <a:off x="5829300" y="1238250"/>
              <a:ext cx="27432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50"/>
                <a:buFont typeface="Arial"/>
                <a:buNone/>
              </a:pPr>
              <a:r>
                <a:rPr b="1" i="0" lang="en-US" sz="1150" u="none" cap="none" strike="noStrike">
                  <a:solidFill>
                    <a:srgbClr val="00B5AC"/>
                  </a:solidFill>
                  <a:latin typeface="Inter"/>
                  <a:ea typeface="Inter"/>
                  <a:cs typeface="Inter"/>
                  <a:sym typeface="Inter"/>
                </a:rPr>
                <a:t>Premier ou dernier ?</a:t>
              </a:r>
              <a:endParaRPr b="1" i="0" sz="1150" u="none" cap="none" strike="noStrike">
                <a:solidFill>
                  <a:srgbClr val="00B5AC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45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5B7180"/>
                  </a:solidFill>
                  <a:latin typeface="Inter"/>
                  <a:ea typeface="Inter"/>
                  <a:cs typeface="Inter"/>
                  <a:sym typeface="Inter"/>
                </a:rPr>
                <a:t>Les premiers rendez-vous de la soirée bénéficient d'un taux de "Oui" légèrement supérieur (43.8%), qui s'effrite légèrement au fil de la soirée (40.0%).</a:t>
              </a:r>
              <a:endParaRPr b="0" i="0" sz="1000" u="none" cap="none" strike="noStrike">
                <a:solidFill>
                  <a:srgbClr val="5B718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141" name="Google Shape;141;p7"/>
          <p:cNvSpPr/>
          <p:nvPr/>
        </p:nvSpPr>
        <p:spPr>
          <a:xfrm>
            <a:off x="457200" y="4000500"/>
            <a:ext cx="8229600" cy="571500"/>
          </a:xfrm>
          <a:prstGeom prst="roundRect">
            <a:avLst>
              <a:gd fmla="val 13333" name="adj"/>
            </a:avLst>
          </a:prstGeom>
          <a:solidFill>
            <a:srgbClr val="EDFFFE"/>
          </a:solidFill>
          <a:ln cap="flat" cmpd="sng" w="9525">
            <a:solidFill>
              <a:srgbClr val="C3FF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7"/>
          <p:cNvSpPr/>
          <p:nvPr/>
        </p:nvSpPr>
        <p:spPr>
          <a:xfrm>
            <a:off x="457200" y="4000500"/>
            <a:ext cx="82296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0B5AC"/>
                </a:solidFill>
                <a:latin typeface="Inter"/>
                <a:ea typeface="Inter"/>
                <a:cs typeface="Inter"/>
                <a:sym typeface="Inter"/>
              </a:rPr>
              <a:t>À retenir : </a:t>
            </a:r>
            <a:r>
              <a:rPr b="0" i="0" lang="en-US" sz="1100" u="none" cap="none" strike="noStrike">
                <a:solidFill>
                  <a:srgbClr val="0E3449"/>
                </a:solidFill>
                <a:latin typeface="Inter"/>
                <a:ea typeface="Inter"/>
                <a:cs typeface="Inter"/>
                <a:sym typeface="Inter"/>
              </a:rPr>
              <a:t>L'effet d'ordre existe (mieux vaut passer en début de soirée), mais son impact reste marginal face au charisme et à l'humour.</a:t>
            </a:r>
            <a:endParaRPr b="1" i="0" sz="1100" u="none" cap="none" strike="noStrike">
              <a:solidFill>
                <a:srgbClr val="00B5A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43" name="Google Shape;143;p7"/>
          <p:cNvPicPr preferRelativeResize="0"/>
          <p:nvPr/>
        </p:nvPicPr>
        <p:blipFill rotWithShape="1">
          <a:blip r:embed="rId4">
            <a:alphaModFix/>
          </a:blip>
          <a:srcRect b="0" l="1239" r="1239" t="0"/>
          <a:stretch/>
        </p:blipFill>
        <p:spPr>
          <a:xfrm>
            <a:off x="457200" y="1143000"/>
            <a:ext cx="4953000" cy="25146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7"/>
          <p:cNvSpPr/>
          <p:nvPr/>
        </p:nvSpPr>
        <p:spPr>
          <a:xfrm>
            <a:off x="5715000" y="2514600"/>
            <a:ext cx="2971800" cy="1238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E4674F"/>
                </a:solidFill>
                <a:latin typeface="Inter"/>
                <a:ea typeface="Inter"/>
                <a:cs typeface="Inter"/>
                <a:sym typeface="Inter"/>
              </a:rPr>
              <a:t>Effet de position</a:t>
            </a:r>
            <a:endParaRPr b="1" i="0" sz="1150" u="none" cap="none" strike="noStrike">
              <a:solidFill>
                <a:srgbClr val="E4674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5B7180"/>
                </a:solidFill>
                <a:latin typeface="Inter"/>
                <a:ea typeface="Inter"/>
                <a:cs typeface="Inter"/>
                <a:sym typeface="Inter"/>
              </a:rPr>
              <a:t>La position pèse beaucoup moins que le physique ou le fun. À choisir, mieux vaut passer dans les premiers — c'est un ajustement à la marge.</a:t>
            </a:r>
            <a:endParaRPr b="0" i="0" sz="1000" u="none" cap="none" strike="noStrike">
              <a:solidFill>
                <a:srgbClr val="5B7180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ssets/logo_mark.png" id="150" name="Google Shape;150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6344" y="457200"/>
            <a:ext cx="576072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8"/>
          <p:cNvSpPr/>
          <p:nvPr/>
        </p:nvSpPr>
        <p:spPr>
          <a:xfrm>
            <a:off x="1170432" y="384048"/>
            <a:ext cx="7543800" cy="548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0E3449"/>
                </a:solidFill>
                <a:latin typeface="Inter"/>
                <a:ea typeface="Inter"/>
                <a:cs typeface="Inter"/>
                <a:sym typeface="Inter"/>
              </a:rPr>
              <a:t>Conclusion &amp; Recommandations pour Tinder</a:t>
            </a:r>
            <a:endParaRPr b="1" i="0" sz="2100" u="none" cap="none" strike="noStrike">
              <a:solidFill>
                <a:srgbClr val="0E344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2" name="Google Shape;152;p8"/>
          <p:cNvSpPr/>
          <p:nvPr/>
        </p:nvSpPr>
        <p:spPr>
          <a:xfrm>
            <a:off x="9144" y="4892040"/>
            <a:ext cx="9144000" cy="251400"/>
          </a:xfrm>
          <a:prstGeom prst="rect">
            <a:avLst/>
          </a:prstGeom>
          <a:solidFill>
            <a:srgbClr val="C3FFFC"/>
          </a:solidFill>
          <a:ln cap="flat" cmpd="sng" w="12700">
            <a:solidFill>
              <a:srgbClr val="C3FF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8"/>
          <p:cNvSpPr/>
          <p:nvPr/>
        </p:nvSpPr>
        <p:spPr>
          <a:xfrm>
            <a:off x="457200" y="1051560"/>
            <a:ext cx="2651700" cy="1554600"/>
          </a:xfrm>
          <a:prstGeom prst="roundRect">
            <a:avLst>
              <a:gd fmla="val 4706" name="adj"/>
            </a:avLst>
          </a:prstGeom>
          <a:solidFill>
            <a:srgbClr val="F4F7F8"/>
          </a:solidFill>
          <a:ln cap="flat" cmpd="sng" w="12700">
            <a:solidFill>
              <a:srgbClr val="E1E8EB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12700">
              <a:srgbClr val="9AAAB2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8"/>
          <p:cNvSpPr/>
          <p:nvPr/>
        </p:nvSpPr>
        <p:spPr>
          <a:xfrm>
            <a:off x="664867" y="1417332"/>
            <a:ext cx="2322600" cy="274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E4674F"/>
                </a:solidFill>
                <a:latin typeface="Inter"/>
                <a:ea typeface="Inter"/>
                <a:cs typeface="Inter"/>
                <a:sym typeface="Inter"/>
              </a:rPr>
              <a:t>1. La photo reste reine</a:t>
            </a:r>
            <a:endParaRPr b="1" i="0" sz="1200" u="none" cap="none" strike="noStrike">
              <a:solidFill>
                <a:srgbClr val="E4674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5" name="Google Shape;155;p8"/>
          <p:cNvSpPr/>
          <p:nvPr/>
        </p:nvSpPr>
        <p:spPr>
          <a:xfrm>
            <a:off x="621767" y="1714403"/>
            <a:ext cx="2322600" cy="100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5B7180"/>
                </a:solidFill>
                <a:latin typeface="Inter"/>
                <a:ea typeface="Inter"/>
                <a:cs typeface="Inter"/>
                <a:sym typeface="Inter"/>
              </a:rPr>
              <a:t>Le physique étant le driver n°1 réel, Tinder doit intégrer des outils IA de sélection, de recadrage et d'optimisation des photos de profil.</a:t>
            </a:r>
            <a:endParaRPr b="0" i="0" sz="1000" u="none" cap="none" strike="noStrike">
              <a:solidFill>
                <a:srgbClr val="5B718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6" name="Google Shape;156;p8"/>
          <p:cNvSpPr/>
          <p:nvPr/>
        </p:nvSpPr>
        <p:spPr>
          <a:xfrm>
            <a:off x="3246120" y="1051560"/>
            <a:ext cx="2651700" cy="1554600"/>
          </a:xfrm>
          <a:prstGeom prst="roundRect">
            <a:avLst>
              <a:gd fmla="val 4706" name="adj"/>
            </a:avLst>
          </a:prstGeom>
          <a:solidFill>
            <a:srgbClr val="F4F7F8"/>
          </a:solidFill>
          <a:ln cap="flat" cmpd="sng" w="12700">
            <a:solidFill>
              <a:srgbClr val="E1E8EB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12700">
              <a:srgbClr val="9AAAB2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8"/>
          <p:cNvSpPr/>
          <p:nvPr/>
        </p:nvSpPr>
        <p:spPr>
          <a:xfrm>
            <a:off x="3410712" y="1170432"/>
            <a:ext cx="2322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5AC"/>
              </a:buClr>
              <a:buSzPts val="1250"/>
              <a:buFont typeface="Calibri"/>
              <a:buNone/>
            </a:pPr>
            <a:r>
              <a:t/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8"/>
          <p:cNvSpPr/>
          <p:nvPr/>
        </p:nvSpPr>
        <p:spPr>
          <a:xfrm>
            <a:off x="3410712" y="1463040"/>
            <a:ext cx="2322600" cy="100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B5AC"/>
                </a:solidFill>
                <a:latin typeface="Inter"/>
                <a:ea typeface="Inter"/>
                <a:cs typeface="Inter"/>
                <a:sym typeface="Inter"/>
              </a:rPr>
              <a:t>2. Recalibrer les perceptions</a:t>
            </a:r>
            <a:endParaRPr b="1" i="0" sz="1200" u="none" cap="none" strike="noStrike">
              <a:solidFill>
                <a:srgbClr val="00B5A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5B7180"/>
                </a:solidFill>
                <a:latin typeface="Inter"/>
                <a:ea typeface="Inter"/>
                <a:cs typeface="Inter"/>
                <a:sym typeface="Inter"/>
              </a:rPr>
              <a:t>Proposer un audit bienveillant du profil pour réaligner les attentes et limiter la frustration.</a:t>
            </a:r>
            <a:endParaRPr b="0" i="0" sz="1000" u="none" cap="none" strike="noStrike">
              <a:solidFill>
                <a:srgbClr val="5B718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9" name="Google Shape;159;p8"/>
          <p:cNvSpPr/>
          <p:nvPr/>
        </p:nvSpPr>
        <p:spPr>
          <a:xfrm>
            <a:off x="6035040" y="1051560"/>
            <a:ext cx="2651700" cy="1554600"/>
          </a:xfrm>
          <a:prstGeom prst="roundRect">
            <a:avLst>
              <a:gd fmla="val 4706" name="adj"/>
            </a:avLst>
          </a:prstGeom>
          <a:solidFill>
            <a:srgbClr val="F4F7F8"/>
          </a:solidFill>
          <a:ln cap="flat" cmpd="sng" w="12700">
            <a:solidFill>
              <a:srgbClr val="E1E8EB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12700">
              <a:srgbClr val="9AAAB2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8"/>
          <p:cNvSpPr/>
          <p:nvPr/>
        </p:nvSpPr>
        <p:spPr>
          <a:xfrm>
            <a:off x="6199632" y="1170432"/>
            <a:ext cx="2322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449"/>
              </a:buClr>
              <a:buSzPts val="1250"/>
              <a:buFont typeface="Calibri"/>
              <a:buNone/>
            </a:pPr>
            <a:r>
              <a:t/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8"/>
          <p:cNvSpPr/>
          <p:nvPr/>
        </p:nvSpPr>
        <p:spPr>
          <a:xfrm>
            <a:off x="6199632" y="1463040"/>
            <a:ext cx="2322600" cy="100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E3449"/>
                </a:solidFill>
                <a:latin typeface="Inter"/>
                <a:ea typeface="Inter"/>
                <a:cs typeface="Inter"/>
                <a:sym typeface="Inter"/>
              </a:rPr>
              <a:t>3. Prévenir la fatigue de swipe</a:t>
            </a:r>
            <a:endParaRPr b="1" i="0" sz="1200" u="none" cap="none" strike="noStrike">
              <a:solidFill>
                <a:srgbClr val="0E344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5B7180"/>
                </a:solidFill>
                <a:latin typeface="Inter"/>
                <a:ea typeface="Inter"/>
                <a:cs typeface="Inter"/>
                <a:sym typeface="Inter"/>
              </a:rPr>
              <a:t>Introduire des pauses ou des formats limités pour préserver l'attention des utilisateurs.</a:t>
            </a:r>
            <a:endParaRPr b="0" i="0" sz="1000" u="none" cap="none" strike="noStrike">
              <a:solidFill>
                <a:srgbClr val="5B718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2" name="Google Shape;162;p8"/>
          <p:cNvSpPr/>
          <p:nvPr/>
        </p:nvSpPr>
        <p:spPr>
          <a:xfrm>
            <a:off x="457200" y="2743200"/>
            <a:ext cx="8229600" cy="274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E3449"/>
                </a:solidFill>
                <a:latin typeface="Inter"/>
                <a:ea typeface="Inter"/>
                <a:cs typeface="Inter"/>
                <a:sym typeface="Inter"/>
              </a:rPr>
              <a:t>Hiérarchie réelle des facteurs de décision</a:t>
            </a:r>
            <a:endParaRPr b="1" i="0" sz="1300" u="none" cap="none" strike="noStrike">
              <a:solidFill>
                <a:srgbClr val="0E344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3" name="Google Shape;163;p8"/>
          <p:cNvSpPr/>
          <p:nvPr/>
        </p:nvSpPr>
        <p:spPr>
          <a:xfrm>
            <a:off x="566928" y="3063240"/>
            <a:ext cx="8046600" cy="914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295275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449"/>
              </a:buClr>
              <a:buSzPts val="1050"/>
              <a:buFont typeface="Inter"/>
              <a:buChar char="●"/>
            </a:pPr>
            <a:r>
              <a:rPr b="1" i="0" lang="en-US" sz="1050" u="none" cap="none" strike="noStrike">
                <a:solidFill>
                  <a:srgbClr val="0E3449"/>
                </a:solidFill>
                <a:latin typeface="Inter"/>
                <a:ea typeface="Inter"/>
                <a:cs typeface="Inter"/>
                <a:sym typeface="Inter"/>
              </a:rPr>
              <a:t>Physique, puis fun, puis perception de réciprocité</a:t>
            </a:r>
            <a:r>
              <a:rPr b="0" i="0" lang="en-US" sz="1050" u="none" cap="none" strike="noStrike">
                <a:solidFill>
                  <a:srgbClr val="0E3449"/>
                </a:solidFill>
                <a:latin typeface="Inter"/>
                <a:ea typeface="Inter"/>
                <a:cs typeface="Inter"/>
                <a:sym typeface="Inter"/>
              </a:rPr>
              <a:t> — on dit plus volontiers oui à qui semble nous apprécier.</a:t>
            </a:r>
            <a:endParaRPr b="0" i="0" sz="1050" u="none" cap="none" strike="noStrike">
              <a:solidFill>
                <a:srgbClr val="0E344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5275" lvl="0" marL="4572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E3449"/>
              </a:buClr>
              <a:buSzPts val="1050"/>
              <a:buFont typeface="Inter"/>
              <a:buChar char="●"/>
            </a:pPr>
            <a:r>
              <a:rPr b="1" i="0" lang="en-US" sz="1050" u="none" cap="none" strike="noStrike">
                <a:solidFill>
                  <a:srgbClr val="E4674F"/>
                </a:solidFill>
                <a:latin typeface="Inter"/>
                <a:ea typeface="Inter"/>
                <a:cs typeface="Inter"/>
                <a:sym typeface="Inter"/>
              </a:rPr>
              <a:t>Intelligence et sincérité</a:t>
            </a:r>
            <a:r>
              <a:rPr b="0" i="0" lang="en-US" sz="1050" u="none" cap="none" strike="noStrike">
                <a:solidFill>
                  <a:srgbClr val="0E3449"/>
                </a:solidFill>
                <a:latin typeface="Inter"/>
                <a:ea typeface="Inter"/>
                <a:cs typeface="Inter"/>
                <a:sym typeface="Inter"/>
              </a:rPr>
              <a:t> : survalorisées dans le discours, peu mobilisées dans la décision. </a:t>
            </a:r>
            <a:r>
              <a:rPr b="1" i="0" lang="en-US" sz="1050" u="none" cap="none" strike="noStrike">
                <a:solidFill>
                  <a:srgbClr val="0E3449"/>
                </a:solidFill>
                <a:latin typeface="Inter"/>
                <a:ea typeface="Inter"/>
                <a:cs typeface="Inter"/>
                <a:sym typeface="Inter"/>
              </a:rPr>
              <a:t>Ambition</a:t>
            </a:r>
            <a:r>
              <a:rPr b="0" i="0" lang="en-US" sz="1050" u="none" cap="none" strike="noStrike">
                <a:solidFill>
                  <a:srgbClr val="0E3449"/>
                </a:solidFill>
                <a:latin typeface="Inter"/>
                <a:ea typeface="Inter"/>
                <a:cs typeface="Inter"/>
                <a:sym typeface="Inter"/>
              </a:rPr>
              <a:t> : quasi ignorée.</a:t>
            </a:r>
            <a:endParaRPr b="0" i="0" sz="1050" u="none" cap="none" strike="noStrike">
              <a:solidFill>
                <a:srgbClr val="0E344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5275" lvl="0" marL="4572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E3449"/>
              </a:buClr>
              <a:buSzPts val="1050"/>
              <a:buFont typeface="Inter"/>
              <a:buChar char="●"/>
            </a:pPr>
            <a:r>
              <a:rPr b="0" i="1" lang="en-US" sz="1050" u="none" cap="none" strike="noStrike">
                <a:solidFill>
                  <a:srgbClr val="5B7180"/>
                </a:solidFill>
                <a:latin typeface="Inter"/>
                <a:ea typeface="Inter"/>
                <a:cs typeface="Inter"/>
                <a:sym typeface="Inter"/>
              </a:rPr>
              <a:t>Limite de l'étude : Échantillon étudiant (Columbia 2002-2004), dates en face-à-face de 4 min — résultats à transposer avec précaution sur les algorithmes modernes.</a:t>
            </a:r>
            <a:endParaRPr b="0" i="0" sz="1050" u="none" cap="none" strike="noStrike">
              <a:solidFill>
                <a:srgbClr val="0E344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4" name="Google Shape;164;p8"/>
          <p:cNvSpPr/>
          <p:nvPr/>
        </p:nvSpPr>
        <p:spPr>
          <a:xfrm>
            <a:off x="457200" y="4069080"/>
            <a:ext cx="8229600" cy="567000"/>
          </a:xfrm>
          <a:prstGeom prst="roundRect">
            <a:avLst>
              <a:gd fmla="val 12903" name="adj"/>
            </a:avLst>
          </a:prstGeom>
          <a:solidFill>
            <a:srgbClr val="EDFFFE"/>
          </a:solidFill>
          <a:ln cap="flat" cmpd="sng" w="12700">
            <a:solidFill>
              <a:srgbClr val="C3FF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8"/>
          <p:cNvSpPr/>
          <p:nvPr/>
        </p:nvSpPr>
        <p:spPr>
          <a:xfrm>
            <a:off x="621792" y="4069080"/>
            <a:ext cx="7909500" cy="567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0B5AC"/>
                </a:solidFill>
                <a:latin typeface="Inter"/>
                <a:ea typeface="Inter"/>
                <a:cs typeface="Inter"/>
                <a:sym typeface="Inter"/>
              </a:rPr>
              <a:t>À retenir : </a:t>
            </a:r>
            <a:r>
              <a:rPr b="0" i="0" lang="en-US" sz="1100" u="none" cap="none" strike="noStrike">
                <a:solidFill>
                  <a:srgbClr val="0E3449"/>
                </a:solidFill>
                <a:latin typeface="Inter"/>
                <a:ea typeface="Inter"/>
                <a:cs typeface="Inter"/>
                <a:sym typeface="Inter"/>
              </a:rPr>
              <a:t>Ne jamais calibrer un algorithme de recommandation sur ce que les utilisateurs déclarent vouloir, mais sur leurs actions réelles.</a:t>
            </a:r>
            <a:endParaRPr b="1" i="0" sz="1100" u="none" cap="none" strike="noStrike">
              <a:solidFill>
                <a:srgbClr val="00B5AC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2026-07-30T13:08:46Z</dcterms:created>
  <dc:creator>Yannis</dc:creator>
</cp:coreProperties>
</file>