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embeddedFontLst>
    <p:embeddedFont>
      <p:font typeface="Inter" panose="020B0604020202020204" charset="0"/>
      <p:regular r:id="rId11"/>
      <p:bold r:id="rId12"/>
      <p:italic r:id="rId13"/>
      <p:boldItalic r:id="rId14"/>
    </p:embeddedFont>
    <p:embeddedFont>
      <p:font typeface="Inter ExtraBold" panose="020B0604020202020204" charset="0"/>
      <p:bold r:id="rId15"/>
      <p:boldItalic r:id="rId16"/>
    </p:embeddedFont>
    <p:embeddedFont>
      <p:font typeface="Inter SemiBold" panose="020B060402020202020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3" roundtripDataSignature="AMtx7miWybZ548vWvsr14pyCPj53u9ROy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10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customschemas.google.com/relationships/presentationmetadata" Target="metadata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g3f8ac193db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g3f8ac193dba_0_0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" name="Google Shape;24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" name="Google Shape;51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1" name="Google Shape;71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3" name="Google Shape;93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0" name="Google Shape;110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9" name="Google Shape;129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5" name="Google Shape;145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g3f8ac193dba_0_68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sz="5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sz="5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sz="5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sz="5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sz="5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sz="5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sz="5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sz="5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sz="5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g3f8ac193dba_0_68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g3f8ac193dba_0_6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g3f8ac193dba_0_0"/>
          <p:cNvSpPr/>
          <p:nvPr/>
        </p:nvSpPr>
        <p:spPr>
          <a:xfrm>
            <a:off x="0" y="0"/>
            <a:ext cx="3048000" cy="5143500"/>
          </a:xfrm>
          <a:prstGeom prst="rect">
            <a:avLst/>
          </a:prstGeom>
          <a:solidFill>
            <a:srgbClr val="0E3449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" name="Google Shape;16;g3f8ac193dba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28625"/>
            <a:ext cx="720900" cy="759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" name="Google Shape;17;g3f8ac193dba_0_0"/>
          <p:cNvGrpSpPr/>
          <p:nvPr/>
        </p:nvGrpSpPr>
        <p:grpSpPr>
          <a:xfrm>
            <a:off x="285750" y="1428750"/>
            <a:ext cx="2476500" cy="3381375"/>
            <a:chOff x="285750" y="1428750"/>
            <a:chExt cx="2476500" cy="3381375"/>
          </a:xfrm>
        </p:grpSpPr>
        <p:sp>
          <p:nvSpPr>
            <p:cNvPr id="18" name="Google Shape;18;g3f8ac193dba_0_0"/>
            <p:cNvSpPr txBox="1"/>
            <p:nvPr/>
          </p:nvSpPr>
          <p:spPr>
            <a:xfrm>
              <a:off x="285750" y="1428750"/>
              <a:ext cx="2476500" cy="1428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rgbClr val="3FDAD2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Certification CDSD BLOC 2</a:t>
              </a:r>
              <a:endParaRPr sz="1000" b="0" i="0" u="none" strike="noStrike" cap="none">
                <a:solidFill>
                  <a:srgbClr val="3FDAD2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b="0" i="0" u="none" strike="noStrike" cap="none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TINDER</a:t>
              </a:r>
              <a:endParaRPr sz="2400" b="0" i="0" u="none" strike="noStrike" cap="non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19" name="Google Shape;19;g3f8ac193dba_0_0"/>
            <p:cNvSpPr txBox="1"/>
            <p:nvPr/>
          </p:nvSpPr>
          <p:spPr>
            <a:xfrm>
              <a:off x="285750" y="4238625"/>
              <a:ext cx="2476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Christopher Gilleron</a:t>
              </a:r>
              <a:endParaRPr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8 octobre 2026</a:t>
              </a:r>
              <a:endParaRPr sz="10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20" name="Google Shape;20;g3f8ac193dba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85750" y="2101600"/>
            <a:ext cx="1608120" cy="1000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g3f8ac193dba_0_0"/>
          <p:cNvSpPr txBox="1"/>
          <p:nvPr/>
        </p:nvSpPr>
        <p:spPr>
          <a:xfrm>
            <a:off x="3139425" y="1143000"/>
            <a:ext cx="5909100" cy="285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rPr lang="en-US" sz="3800" b="0" i="0" u="none" strike="noStrike" cap="non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Qu'est-ce qui fait qu'on se plaît ?</a:t>
            </a:r>
            <a:endParaRPr sz="3800" b="0" i="0" u="none" strike="noStrike" cap="non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Analyse exploratoire de 8 378 rendez-vous de speed dating.</a:t>
            </a:r>
            <a:endParaRPr sz="1500" b="0" i="0" u="none" strike="noStrike" cap="non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2"/>
          <p:cNvPicPr preferRelativeResize="0"/>
          <p:nvPr/>
        </p:nvPicPr>
        <p:blipFill rotWithShape="1">
          <a:blip r:embed="rId3">
            <a:alphaModFix/>
          </a:blip>
          <a:srcRect t="169" b="169"/>
          <a:stretch/>
        </p:blipFill>
        <p:spPr>
          <a:xfrm>
            <a:off x="466344" y="304800"/>
            <a:ext cx="576000" cy="3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2"/>
          <p:cNvSpPr/>
          <p:nvPr/>
        </p:nvSpPr>
        <p:spPr>
          <a:xfrm>
            <a:off x="1170432" y="257175"/>
            <a:ext cx="75438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Le dispositif et les chiffres de cadrage &amp; le pipeline</a:t>
            </a:r>
            <a:endParaRPr sz="2200" b="0" i="0" u="none" strike="noStrike" cap="non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w="12700" cap="flat" cmpd="sng">
            <a:solidFill>
              <a:srgbClr val="C3FFF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457200" y="762000"/>
            <a:ext cx="1905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5"/>
              <a:buFont typeface="Arial"/>
              <a:buNone/>
            </a:pPr>
            <a:r>
              <a:rPr lang="en-US" sz="2405" b="0" i="0" u="none" strike="noStrike" cap="non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551</a:t>
            </a:r>
            <a:endParaRPr sz="2405" b="0" i="0" u="none" strike="noStrike" cap="non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457200" y="1123950"/>
            <a:ext cx="1905000" cy="238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5B718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participants</a:t>
            </a:r>
            <a:endParaRPr sz="1000" b="0" i="0" u="none" strike="noStrike" cap="none">
              <a:solidFill>
                <a:srgbClr val="5B718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2552700" y="762000"/>
            <a:ext cx="1905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5"/>
              <a:buFont typeface="Arial"/>
              <a:buNone/>
            </a:pPr>
            <a:r>
              <a:rPr lang="en-US" sz="2405" b="0" i="0" u="none" strike="noStrike" cap="non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8 378</a:t>
            </a:r>
            <a:endParaRPr sz="2405" b="0" i="0" u="none" strike="noStrike" cap="non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2552700" y="1123950"/>
            <a:ext cx="1905000" cy="238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5B718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rdv de 4 min</a:t>
            </a:r>
            <a:endParaRPr sz="1000" b="0" i="0" u="none" strike="noStrike" cap="none">
              <a:solidFill>
                <a:srgbClr val="5B718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4648200" y="762000"/>
            <a:ext cx="1905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5"/>
              <a:buFont typeface="Arial"/>
              <a:buNone/>
            </a:pPr>
            <a:r>
              <a:rPr lang="en-US" sz="2405" b="0" i="0" u="none" strike="noStrike" cap="none">
                <a:solidFill>
                  <a:srgbClr val="00B5AC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42,0 %</a:t>
            </a:r>
            <a:endParaRPr sz="2405" b="0" i="0" u="none" strike="noStrike" cap="none">
              <a:solidFill>
                <a:srgbClr val="00B5AC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4648200" y="1123950"/>
            <a:ext cx="1905000" cy="238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5B718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 « oui » individuels</a:t>
            </a:r>
            <a:endParaRPr sz="1000" b="0" i="0" u="none" strike="noStrike" cap="none">
              <a:solidFill>
                <a:srgbClr val="5B718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6743700" y="762000"/>
            <a:ext cx="1905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5"/>
              <a:buFont typeface="Arial"/>
              <a:buNone/>
            </a:pPr>
            <a:r>
              <a:rPr lang="en-US" sz="2405" b="0" i="0" u="none" strike="noStrike" cap="none">
                <a:solidFill>
                  <a:srgbClr val="E4674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16,5 %</a:t>
            </a:r>
            <a:endParaRPr sz="2405" b="0" i="0" u="none" strike="noStrike" cap="none">
              <a:solidFill>
                <a:srgbClr val="E4674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6743700" y="1123950"/>
            <a:ext cx="1905000" cy="238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5B718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matchs réciproques</a:t>
            </a:r>
            <a:endParaRPr sz="1000" b="0" i="0" u="none" strike="noStrike" cap="none">
              <a:solidFill>
                <a:srgbClr val="5B718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38" name="Google Shape;38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2438" y="1443038"/>
            <a:ext cx="4010100" cy="771600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2"/>
          <p:cNvSpPr/>
          <p:nvPr/>
        </p:nvSpPr>
        <p:spPr>
          <a:xfrm>
            <a:off x="457200" y="1447800"/>
            <a:ext cx="38100" cy="762000"/>
          </a:xfrm>
          <a:prstGeom prst="roundRect">
            <a:avLst>
              <a:gd name="adj" fmla="val 50000"/>
            </a:avLst>
          </a:prstGeom>
          <a:solidFill>
            <a:srgbClr val="E4674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609600" y="1504950"/>
            <a:ext cx="3619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rgbClr val="E4674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Le coût de la réciprocité</a:t>
            </a:r>
            <a:endParaRPr sz="1100" b="0" i="0" u="none" strike="noStrike" cap="none">
              <a:solidFill>
                <a:srgbClr val="E4674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609600" y="1733550"/>
            <a:ext cx="3619500" cy="438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Un participant dit « oui » 4 fois sur 10, mais la sélectivité mutuelle divise le taux de match par 2,5 pour tomber à 16 %.</a:t>
            </a:r>
            <a:endParaRPr sz="950" b="0" i="0" u="none" strike="noStrike" cap="non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2" name="Google Shape;42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81538" y="1443038"/>
            <a:ext cx="4010100" cy="7716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2"/>
          <p:cNvSpPr/>
          <p:nvPr/>
        </p:nvSpPr>
        <p:spPr>
          <a:xfrm>
            <a:off x="4686300" y="1447800"/>
            <a:ext cx="38100" cy="762000"/>
          </a:xfrm>
          <a:prstGeom prst="roundRect">
            <a:avLst>
              <a:gd name="adj" fmla="val 50000"/>
            </a:avLst>
          </a:prstGeom>
          <a:solidFill>
            <a:srgbClr val="0E3449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4838700" y="1504950"/>
            <a:ext cx="3619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Le piège du dataset</a:t>
            </a:r>
            <a:endParaRPr sz="1100" b="0" i="0" u="none" strike="noStrike" cap="non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4838700" y="1733550"/>
            <a:ext cx="3619500" cy="438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Certaines notes étaient sur 10, d'autres sur 100. Tout a été normalisé et les valeurs manquantes ont été imputées par la médiane pour garantir la fiabilité de l'analyse.</a:t>
            </a:r>
            <a:endParaRPr sz="950" b="0" i="0" u="none" strike="noStrike" cap="non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6" name="Google Shape;46;p2"/>
          <p:cNvPicPr preferRelativeResize="0"/>
          <p:nvPr/>
        </p:nvPicPr>
        <p:blipFill rotWithShape="1">
          <a:blip r:embed="rId5">
            <a:alphaModFix/>
          </a:blip>
          <a:srcRect t="14371" b="14378"/>
          <a:stretch/>
        </p:blipFill>
        <p:spPr>
          <a:xfrm>
            <a:off x="571500" y="2338150"/>
            <a:ext cx="8001000" cy="183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2438" y="4205288"/>
            <a:ext cx="8239200" cy="5238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2"/>
          <p:cNvSpPr/>
          <p:nvPr/>
        </p:nvSpPr>
        <p:spPr>
          <a:xfrm>
            <a:off x="619125" y="4210050"/>
            <a:ext cx="7905900" cy="5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00B5AC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À retenir : </a:t>
            </a:r>
            <a:r>
              <a:rPr lang="en-US" sz="1050" b="0" i="0" u="none" strike="noStrike" cap="non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195 variables, 21 vagues et 2 protocoles de notation : l'imputation robuste par la médiane et la normalisation des échelles conditionnent la validité scientifique de toute l'analyse.</a:t>
            </a:r>
            <a:endParaRPr sz="1050" b="0" i="0" u="none" strike="noStrike" cap="none">
              <a:solidFill>
                <a:srgbClr val="00B5AC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3" descr="assets/logo_mar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3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2100"/>
              <a:buFont typeface="Inter SemiBold"/>
              <a:buNone/>
            </a:pPr>
            <a:r>
              <a:rPr lang="en-US" sz="2100" b="1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Ce que déclarent chercher hommes et femmes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w="12700" cap="flat" cmpd="sng">
            <a:solidFill>
              <a:srgbClr val="C3FFF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3"/>
          <p:cNvPicPr preferRelativeResize="0"/>
          <p:nvPr/>
        </p:nvPicPr>
        <p:blipFill rotWithShape="1">
          <a:blip r:embed="rId4">
            <a:alphaModFix/>
          </a:blip>
          <a:srcRect t="100" b="100"/>
          <a:stretch/>
        </p:blipFill>
        <p:spPr>
          <a:xfrm>
            <a:off x="152400" y="1085850"/>
            <a:ext cx="5667300" cy="2800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8" name="Google Shape;58;p3"/>
          <p:cNvGrpSpPr/>
          <p:nvPr/>
        </p:nvGrpSpPr>
        <p:grpSpPr>
          <a:xfrm>
            <a:off x="5953125" y="1085850"/>
            <a:ext cx="2714700" cy="1000200"/>
            <a:chOff x="5953125" y="1085850"/>
            <a:chExt cx="2714700" cy="1000200"/>
          </a:xfrm>
        </p:grpSpPr>
        <p:sp>
          <p:nvSpPr>
            <p:cNvPr id="59" name="Google Shape;59;p3"/>
            <p:cNvSpPr/>
            <p:nvPr/>
          </p:nvSpPr>
          <p:spPr>
            <a:xfrm>
              <a:off x="5953125" y="1085850"/>
              <a:ext cx="2714700" cy="1000200"/>
            </a:xfrm>
            <a:prstGeom prst="roundRect">
              <a:avLst>
                <a:gd name="adj" fmla="val 7619"/>
              </a:avLst>
            </a:prstGeom>
            <a:solidFill>
              <a:srgbClr val="F4F7F8"/>
            </a:solidFill>
            <a:ln w="9525" cap="flat" cmpd="sng">
              <a:solidFill>
                <a:srgbClr val="E1E8E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" name="Google Shape;60;p3"/>
            <p:cNvSpPr txBox="1"/>
            <p:nvPr/>
          </p:nvSpPr>
          <p:spPr>
            <a:xfrm>
              <a:off x="6067425" y="1162050"/>
              <a:ext cx="2486100" cy="84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-US" sz="1100" b="1" i="0" u="none" strike="noStrike" cap="none">
                  <a:solidFill>
                    <a:srgbClr val="E4674F"/>
                  </a:solidFill>
                  <a:latin typeface="Inter"/>
                  <a:ea typeface="Inter"/>
                  <a:cs typeface="Inter"/>
                  <a:sym typeface="Inter"/>
                </a:rPr>
                <a:t>Physique : Écart marquant</a:t>
              </a:r>
              <a:endParaRPr sz="1100" b="1" i="0" u="none" strike="noStrike" cap="non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-US" sz="1100" b="0" i="0" u="none" strike="noStrike" cap="non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Les hommes y accordent </a:t>
              </a:r>
              <a:r>
                <a:rPr lang="en-US" sz="1100" b="1" i="0" u="none" strike="noStrike" cap="non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~50 % de plus</a:t>
              </a:r>
              <a:r>
                <a:rPr lang="en-US" sz="1100" b="0" i="0" u="none" strike="noStrike" cap="non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que les femmes (26,9 % vs 18,0 %).</a:t>
              </a:r>
              <a:endParaRPr sz="1100" b="0" i="0" u="none" strike="noStrike" cap="non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1" name="Google Shape;61;p3"/>
          <p:cNvGrpSpPr/>
          <p:nvPr/>
        </p:nvGrpSpPr>
        <p:grpSpPr>
          <a:xfrm>
            <a:off x="5953125" y="2162175"/>
            <a:ext cx="2714700" cy="1000200"/>
            <a:chOff x="5953125" y="2162175"/>
            <a:chExt cx="2714700" cy="1000200"/>
          </a:xfrm>
        </p:grpSpPr>
        <p:sp>
          <p:nvSpPr>
            <p:cNvPr id="62" name="Google Shape;62;p3"/>
            <p:cNvSpPr/>
            <p:nvPr/>
          </p:nvSpPr>
          <p:spPr>
            <a:xfrm>
              <a:off x="5953125" y="2162175"/>
              <a:ext cx="2714700" cy="1000200"/>
            </a:xfrm>
            <a:prstGeom prst="roundRect">
              <a:avLst>
                <a:gd name="adj" fmla="val 7619"/>
              </a:avLst>
            </a:prstGeom>
            <a:solidFill>
              <a:srgbClr val="F4F7F8"/>
            </a:solidFill>
            <a:ln w="9525" cap="flat" cmpd="sng">
              <a:solidFill>
                <a:srgbClr val="E1E8E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" name="Google Shape;63;p3"/>
            <p:cNvSpPr txBox="1"/>
            <p:nvPr/>
          </p:nvSpPr>
          <p:spPr>
            <a:xfrm>
              <a:off x="6067425" y="2238375"/>
              <a:ext cx="2486100" cy="84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-US" sz="1100" b="1" i="0" u="none" strike="noStrike" cap="non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Intelligence &amp; Sincérité</a:t>
              </a:r>
              <a:endParaRPr sz="1100" b="1" i="0" u="none" strike="noStrike" cap="non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-US" sz="1100" b="0" i="0" u="none" strike="noStrike" cap="non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Ces critères restent </a:t>
              </a:r>
              <a:r>
                <a:rPr lang="en-US" sz="1100" b="1" i="0" u="none" strike="noStrike" cap="non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prioritaires pour les femmes</a:t>
              </a:r>
              <a:r>
                <a:rPr lang="en-US" sz="1100" b="0" i="0" u="none" strike="noStrike" cap="non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(21,0 % et 18,3 %).</a:t>
              </a:r>
              <a:endParaRPr sz="1100" b="0" i="0" u="none" strike="noStrike" cap="non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4" name="Google Shape;64;p3"/>
          <p:cNvGrpSpPr/>
          <p:nvPr/>
        </p:nvGrpSpPr>
        <p:grpSpPr>
          <a:xfrm>
            <a:off x="5953125" y="3238500"/>
            <a:ext cx="2714700" cy="809700"/>
            <a:chOff x="5953125" y="3238500"/>
            <a:chExt cx="2714700" cy="809700"/>
          </a:xfrm>
        </p:grpSpPr>
        <p:sp>
          <p:nvSpPr>
            <p:cNvPr id="65" name="Google Shape;65;p3"/>
            <p:cNvSpPr/>
            <p:nvPr/>
          </p:nvSpPr>
          <p:spPr>
            <a:xfrm>
              <a:off x="5953125" y="3238500"/>
              <a:ext cx="2714700" cy="809700"/>
            </a:xfrm>
            <a:prstGeom prst="roundRect">
              <a:avLst>
                <a:gd name="adj" fmla="val 9411"/>
              </a:avLst>
            </a:prstGeom>
            <a:solidFill>
              <a:srgbClr val="F4F7F8"/>
            </a:solidFill>
            <a:ln w="9525" cap="flat" cmpd="sng">
              <a:solidFill>
                <a:srgbClr val="E1E8E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" name="Google Shape;66;p3"/>
            <p:cNvSpPr txBox="1"/>
            <p:nvPr/>
          </p:nvSpPr>
          <p:spPr>
            <a:xfrm>
              <a:off x="6067425" y="3314700"/>
              <a:ext cx="2486100" cy="65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-US" sz="1100" b="1" i="0" u="none" strike="noStrike" cap="non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Ambition : Critère secondaire</a:t>
              </a:r>
              <a:endParaRPr sz="1100" b="1" i="0" u="none" strike="noStrike" cap="non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-US" sz="1100" b="0" i="0" u="none" strike="noStrike" cap="non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Le critère le moins avoué par les deux genres (</a:t>
              </a:r>
              <a:r>
                <a:rPr lang="en-US" sz="1100" b="1" i="0" u="none" strike="noStrike" cap="non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~8 %</a:t>
              </a:r>
              <a:r>
                <a:rPr lang="en-US" sz="1100" b="0" i="0" u="none" strike="noStrike" cap="non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).</a:t>
              </a:r>
              <a:endParaRPr sz="1100" b="0" i="0" u="none" strike="noStrike" cap="non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67" name="Google Shape;67;p3"/>
          <p:cNvSpPr/>
          <p:nvPr/>
        </p:nvSpPr>
        <p:spPr>
          <a:xfrm>
            <a:off x="457200" y="4143375"/>
            <a:ext cx="8229600" cy="571500"/>
          </a:xfrm>
          <a:prstGeom prst="roundRect">
            <a:avLst>
              <a:gd name="adj" fmla="val 13333"/>
            </a:avLst>
          </a:prstGeom>
          <a:solidFill>
            <a:srgbClr val="EDFFFE"/>
          </a:solidFill>
          <a:ln w="9525" cap="flat" cmpd="sng">
            <a:solidFill>
              <a:srgbClr val="C3FFF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3"/>
          <p:cNvSpPr txBox="1"/>
          <p:nvPr/>
        </p:nvSpPr>
        <p:spPr>
          <a:xfrm>
            <a:off x="619125" y="4143375"/>
            <a:ext cx="79059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À retenir : </a:t>
            </a:r>
            <a:r>
              <a:rPr lang="en-US" sz="1100" b="0" i="0" u="none" strike="noStrike" cap="non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Hommes et femmes s'accordent sur l'intelligence et le fun, mais divergent fortement sur le poids avoué de l'attirance physique.</a:t>
            </a:r>
            <a:endParaRPr sz="1100" b="1" i="0" u="none" strike="noStrike" cap="none">
              <a:solidFill>
                <a:srgbClr val="00B5AC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4" descr="assets/logo_mar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4"/>
          <p:cNvPicPr preferRelativeResize="0"/>
          <p:nvPr/>
        </p:nvPicPr>
        <p:blipFill rotWithShape="1">
          <a:blip r:embed="rId4">
            <a:alphaModFix/>
          </a:blip>
          <a:srcRect t="50" b="60"/>
          <a:stretch/>
        </p:blipFill>
        <p:spPr>
          <a:xfrm>
            <a:off x="152400" y="1095375"/>
            <a:ext cx="5334000" cy="23052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4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2100"/>
              <a:buFont typeface="Inter SemiBold"/>
              <a:buNone/>
            </a:pPr>
            <a:r>
              <a:rPr lang="en-US" sz="2100" b="1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 discours contre le comportement réel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w="12700" cap="flat" cmpd="sng">
            <a:solidFill>
              <a:srgbClr val="C3FFF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4"/>
          <p:cNvSpPr txBox="1"/>
          <p:nvPr/>
        </p:nvSpPr>
        <p:spPr>
          <a:xfrm>
            <a:off x="152400" y="3476625"/>
            <a:ext cx="5334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1" u="none" strike="noStrike" cap="non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Impact réel sur la décision de revoir la personne</a:t>
            </a:r>
            <a:endParaRPr sz="950" b="0" i="1" u="none" strike="noStrike" cap="non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79" name="Google Shape;79;p4"/>
          <p:cNvGrpSpPr/>
          <p:nvPr/>
        </p:nvGrpSpPr>
        <p:grpSpPr>
          <a:xfrm>
            <a:off x="5715000" y="1095375"/>
            <a:ext cx="2971800" cy="838200"/>
            <a:chOff x="5715000" y="1095375"/>
            <a:chExt cx="2971800" cy="838200"/>
          </a:xfrm>
        </p:grpSpPr>
        <p:sp>
          <p:nvSpPr>
            <p:cNvPr id="80" name="Google Shape;80;p4"/>
            <p:cNvSpPr/>
            <p:nvPr/>
          </p:nvSpPr>
          <p:spPr>
            <a:xfrm>
              <a:off x="5715000" y="1095375"/>
              <a:ext cx="2971800" cy="838200"/>
            </a:xfrm>
            <a:prstGeom prst="roundRect">
              <a:avLst>
                <a:gd name="adj" fmla="val 9090"/>
              </a:avLst>
            </a:prstGeom>
            <a:solidFill>
              <a:srgbClr val="F4F7F8"/>
            </a:solidFill>
            <a:ln w="9525" cap="flat" cmpd="sng">
              <a:solidFill>
                <a:srgbClr val="E1E8E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" name="Google Shape;81;p4"/>
            <p:cNvSpPr txBox="1"/>
            <p:nvPr/>
          </p:nvSpPr>
          <p:spPr>
            <a:xfrm>
              <a:off x="5829300" y="1171575"/>
              <a:ext cx="27432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lang="en-US" sz="1150" b="1" i="0" u="none" strike="noStrike" cap="none">
                  <a:solidFill>
                    <a:srgbClr val="E4674F"/>
                  </a:solidFill>
                  <a:latin typeface="Inter"/>
                  <a:ea typeface="Inter"/>
                  <a:cs typeface="Inter"/>
                  <a:sym typeface="Inter"/>
                </a:rPr>
                <a:t>Sur le papier</a:t>
              </a:r>
              <a:endParaRPr sz="1150" b="1" i="0" u="none" strike="noStrike" cap="non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Le physique n'était que 3ᵉ dans les déclarations (22,5 %).</a:t>
              </a:r>
              <a:endParaRPr sz="1000" b="0" i="0" u="none" strike="noStrike" cap="non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2" name="Google Shape;82;p4"/>
          <p:cNvGrpSpPr/>
          <p:nvPr/>
        </p:nvGrpSpPr>
        <p:grpSpPr>
          <a:xfrm>
            <a:off x="5715000" y="2028825"/>
            <a:ext cx="2971800" cy="838200"/>
            <a:chOff x="5715000" y="2028825"/>
            <a:chExt cx="2971800" cy="838200"/>
          </a:xfrm>
        </p:grpSpPr>
        <p:sp>
          <p:nvSpPr>
            <p:cNvPr id="83" name="Google Shape;83;p4"/>
            <p:cNvSpPr/>
            <p:nvPr/>
          </p:nvSpPr>
          <p:spPr>
            <a:xfrm>
              <a:off x="5715000" y="2028825"/>
              <a:ext cx="2971800" cy="838200"/>
            </a:xfrm>
            <a:prstGeom prst="roundRect">
              <a:avLst>
                <a:gd name="adj" fmla="val 9090"/>
              </a:avLst>
            </a:prstGeom>
            <a:solidFill>
              <a:srgbClr val="F4F7F8"/>
            </a:solidFill>
            <a:ln w="9525" cap="flat" cmpd="sng">
              <a:solidFill>
                <a:srgbClr val="E1E8E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" name="Google Shape;84;p4"/>
            <p:cNvSpPr txBox="1"/>
            <p:nvPr/>
          </p:nvSpPr>
          <p:spPr>
            <a:xfrm>
              <a:off x="5829300" y="2105025"/>
              <a:ext cx="27432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lang="en-US" sz="1150" b="1" i="0" u="none" strike="noStrike" cap="non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En réalité</a:t>
              </a:r>
              <a:endParaRPr sz="1150" b="1" i="0" u="none" strike="noStrike" cap="non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Le physique écrase la décision (corrélation de </a:t>
              </a:r>
              <a:r>
                <a:rPr lang="en-US" sz="1000" b="1" i="0" u="none" strike="noStrike" cap="non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0,49</a:t>
              </a:r>
              <a:r>
                <a:rPr lang="en-US" sz="1000" b="0" i="0" u="none" strike="noStrike" cap="non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), suivi de près par le Fun (</a:t>
              </a:r>
              <a:r>
                <a:rPr lang="en-US" sz="1000" b="1" i="0" u="none" strike="noStrike" cap="non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0,41</a:t>
              </a:r>
              <a:r>
                <a:rPr lang="en-US" sz="1000" b="0" i="0" u="none" strike="noStrike" cap="non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).</a:t>
              </a:r>
              <a:endParaRPr sz="1000" b="0" i="0" u="none" strike="noStrike" cap="non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5" name="Google Shape;85;p4"/>
          <p:cNvGrpSpPr/>
          <p:nvPr/>
        </p:nvGrpSpPr>
        <p:grpSpPr>
          <a:xfrm>
            <a:off x="5715000" y="2962275"/>
            <a:ext cx="2971800" cy="838200"/>
            <a:chOff x="5715000" y="2962275"/>
            <a:chExt cx="2971800" cy="838200"/>
          </a:xfrm>
        </p:grpSpPr>
        <p:sp>
          <p:nvSpPr>
            <p:cNvPr id="86" name="Google Shape;86;p4"/>
            <p:cNvSpPr/>
            <p:nvPr/>
          </p:nvSpPr>
          <p:spPr>
            <a:xfrm>
              <a:off x="5715000" y="2962275"/>
              <a:ext cx="2971800" cy="838200"/>
            </a:xfrm>
            <a:prstGeom prst="roundRect">
              <a:avLst>
                <a:gd name="adj" fmla="val 9090"/>
              </a:avLst>
            </a:prstGeom>
            <a:solidFill>
              <a:srgbClr val="F4F7F8"/>
            </a:solidFill>
            <a:ln w="9525" cap="flat" cmpd="sng">
              <a:solidFill>
                <a:srgbClr val="E1E8E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4"/>
            <p:cNvSpPr txBox="1"/>
            <p:nvPr/>
          </p:nvSpPr>
          <p:spPr>
            <a:xfrm>
              <a:off x="5829300" y="3038475"/>
              <a:ext cx="27432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lang="en-US" sz="1150" b="1" i="0" u="none" strike="noStrike" cap="non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Le décalage</a:t>
              </a:r>
              <a:endParaRPr sz="1150" b="1" i="0" u="none" strike="noStrike" cap="non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L'intelligence (0,21) et la sincérité sont deux fois moins prédictives que ce qui était annoncé.</a:t>
              </a:r>
              <a:endParaRPr sz="1000" b="0" i="0" u="none" strike="noStrike" cap="non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8" name="Google Shape;88;p4"/>
          <p:cNvGrpSpPr/>
          <p:nvPr/>
        </p:nvGrpSpPr>
        <p:grpSpPr>
          <a:xfrm>
            <a:off x="457200" y="4000500"/>
            <a:ext cx="8229600" cy="571500"/>
            <a:chOff x="457200" y="4000500"/>
            <a:chExt cx="8229600" cy="571500"/>
          </a:xfrm>
        </p:grpSpPr>
        <p:sp>
          <p:nvSpPr>
            <p:cNvPr id="89" name="Google Shape;89;p4"/>
            <p:cNvSpPr/>
            <p:nvPr/>
          </p:nvSpPr>
          <p:spPr>
            <a:xfrm>
              <a:off x="457200" y="4000500"/>
              <a:ext cx="8229600" cy="571500"/>
            </a:xfrm>
            <a:prstGeom prst="roundRect">
              <a:avLst>
                <a:gd name="adj" fmla="val 13333"/>
              </a:avLst>
            </a:prstGeom>
            <a:solidFill>
              <a:srgbClr val="EDFFFE"/>
            </a:solidFill>
            <a:ln w="9525" cap="flat" cmpd="sng">
              <a:solidFill>
                <a:srgbClr val="C3FFF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4"/>
            <p:cNvSpPr txBox="1"/>
            <p:nvPr/>
          </p:nvSpPr>
          <p:spPr>
            <a:xfrm>
              <a:off x="647700" y="4000500"/>
              <a:ext cx="78486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-US" sz="1100" b="1" i="0" u="none" strike="noStrike" cap="non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À retenir :</a:t>
              </a:r>
              <a:r>
                <a:rPr lang="en-US" sz="1100" b="0" i="0" u="none" strike="noStrike" cap="non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 Le physique et l'humour pèsent bien plus lourd dans la décision réelle que ce que les utilisateurs admettent.</a:t>
              </a:r>
              <a:endParaRPr sz="1100" b="0" i="0" u="none" strike="noStrike" cap="non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5" descr="assets/logo_mar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5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2100"/>
              <a:buFont typeface="Inter SemiBold"/>
              <a:buNone/>
            </a:pPr>
            <a:r>
              <a:rPr lang="en-US" sz="2100" b="1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Intérêts communs ou même origine ?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w="12700" cap="flat" cmpd="sng">
            <a:solidFill>
              <a:srgbClr val="C3FFF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0" name="Google Shape;100;p5"/>
          <p:cNvGrpSpPr/>
          <p:nvPr/>
        </p:nvGrpSpPr>
        <p:grpSpPr>
          <a:xfrm>
            <a:off x="6096000" y="1143000"/>
            <a:ext cx="2762440" cy="1238400"/>
            <a:chOff x="4456256" y="1143000"/>
            <a:chExt cx="4523400" cy="1238400"/>
          </a:xfrm>
        </p:grpSpPr>
        <p:sp>
          <p:nvSpPr>
            <p:cNvPr id="101" name="Google Shape;101;p5"/>
            <p:cNvSpPr/>
            <p:nvPr/>
          </p:nvSpPr>
          <p:spPr>
            <a:xfrm>
              <a:off x="4456256" y="1143000"/>
              <a:ext cx="4523400" cy="1238400"/>
            </a:xfrm>
            <a:prstGeom prst="roundRect">
              <a:avLst>
                <a:gd name="adj" fmla="val 6153"/>
              </a:avLst>
            </a:prstGeom>
            <a:solidFill>
              <a:srgbClr val="F4F7F8"/>
            </a:solidFill>
            <a:ln w="9525" cap="flat" cmpd="sng">
              <a:solidFill>
                <a:srgbClr val="E1E8E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" name="Google Shape;102;p5"/>
            <p:cNvSpPr txBox="1"/>
            <p:nvPr/>
          </p:nvSpPr>
          <p:spPr>
            <a:xfrm>
              <a:off x="4456256" y="1143000"/>
              <a:ext cx="4523400" cy="1238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Même origine ethnique</a:t>
              </a:r>
              <a:endParaRPr sz="1200" b="1" i="0" u="none" strike="noStrike" cap="non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-US" sz="1100" b="1" i="0" u="none" strike="noStrike" cap="none">
                  <a:solidFill>
                    <a:srgbClr val="E4674F"/>
                  </a:solidFill>
                  <a:latin typeface="Inter"/>
                  <a:ea typeface="Inter"/>
                  <a:cs typeface="Inter"/>
                  <a:sym typeface="Inter"/>
                </a:rPr>
                <a:t>Effet quasi nul :</a:t>
              </a:r>
              <a:r>
                <a:rPr lang="en-US" sz="1100" b="0" i="0" u="none" strike="noStrike" cap="non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 seulement </a:t>
              </a:r>
              <a:r>
                <a:rPr lang="en-US" sz="1100" b="1" i="0" u="none" strike="noStrike" cap="non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+1,0 pt</a:t>
              </a:r>
              <a:r>
                <a:rPr lang="en-US" sz="1100" b="0" i="0" u="none" strike="noStrike" cap="non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 de différence, passant de 16,1 % à 17,1 % de match.</a:t>
              </a:r>
              <a:endParaRPr sz="1100" b="0" i="0" u="none" strike="noStrike" cap="non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3" name="Google Shape;103;p5"/>
          <p:cNvGrpSpPr/>
          <p:nvPr/>
        </p:nvGrpSpPr>
        <p:grpSpPr>
          <a:xfrm>
            <a:off x="6096000" y="2476500"/>
            <a:ext cx="2762411" cy="1238400"/>
            <a:chOff x="4119281" y="2476500"/>
            <a:chExt cx="4884900" cy="1238400"/>
          </a:xfrm>
        </p:grpSpPr>
        <p:sp>
          <p:nvSpPr>
            <p:cNvPr id="104" name="Google Shape;104;p5"/>
            <p:cNvSpPr/>
            <p:nvPr/>
          </p:nvSpPr>
          <p:spPr>
            <a:xfrm>
              <a:off x="4119281" y="2476500"/>
              <a:ext cx="4884900" cy="1238400"/>
            </a:xfrm>
            <a:prstGeom prst="roundRect">
              <a:avLst>
                <a:gd name="adj" fmla="val 6153"/>
              </a:avLst>
            </a:prstGeom>
            <a:solidFill>
              <a:srgbClr val="F4F7F8"/>
            </a:solidFill>
            <a:ln w="9525" cap="flat" cmpd="sng">
              <a:solidFill>
                <a:srgbClr val="E1E8E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" name="Google Shape;105;p5"/>
            <p:cNvSpPr txBox="1"/>
            <p:nvPr/>
          </p:nvSpPr>
          <p:spPr>
            <a:xfrm>
              <a:off x="4119281" y="2476500"/>
              <a:ext cx="4884900" cy="1238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 dirty="0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Passions </a:t>
              </a:r>
              <a:r>
                <a:rPr lang="en-US" sz="1200" b="1" i="0" u="none" strike="noStrike" cap="none" dirty="0" err="1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partagées</a:t>
              </a:r>
              <a:endParaRPr sz="1200" b="1" i="0" u="none" strike="noStrike" cap="none" dirty="0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-US" sz="1100" b="1" i="0" u="none" strike="noStrike" cap="none" dirty="0" err="1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Effet</a:t>
              </a:r>
              <a:r>
                <a:rPr lang="en-US" sz="1100" b="1" i="0" u="none" strike="noStrike" cap="none" dirty="0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100" b="1" i="0" u="none" strike="noStrike" cap="none" dirty="0" err="1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modéré</a:t>
              </a:r>
              <a:r>
                <a:rPr lang="en-US" sz="1100" b="1" i="0" u="none" strike="noStrike" cap="none" dirty="0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100" b="1" i="0" u="none" strike="noStrike" cap="none" dirty="0" err="1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mais</a:t>
              </a:r>
              <a:r>
                <a:rPr lang="en-US" sz="1100" b="1" i="0" u="none" strike="noStrike" cap="none" dirty="0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100" b="1" i="0" u="none" strike="noStrike" cap="none" dirty="0" err="1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réel</a:t>
              </a:r>
              <a:r>
                <a:rPr lang="en-US" sz="1100" b="1" i="0" u="none" strike="noStrike" cap="none" dirty="0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 :</a:t>
              </a:r>
              <a:r>
                <a:rPr lang="en-US" sz="1100" b="0" i="0" u="none" strike="noStrike" cap="none" dirty="0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 un gain de </a:t>
              </a:r>
              <a:r>
                <a:rPr lang="en-US" sz="1100" b="1" i="0" u="none" strike="noStrike" cap="none" dirty="0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+4,8 pts</a:t>
              </a:r>
              <a:r>
                <a:rPr lang="en-US" sz="1100" b="0" i="0" u="none" strike="noStrike" cap="none" dirty="0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, de 14,7 % à </a:t>
              </a:r>
              <a:r>
                <a:rPr lang="en-US" sz="1100" dirty="0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19</a:t>
              </a:r>
              <a:r>
                <a:rPr lang="en-US" sz="1100" b="0" i="0" u="none" strike="noStrike" cap="none" dirty="0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,25% de match.</a:t>
              </a:r>
              <a:endParaRPr sz="110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06" name="Google Shape;106;p5"/>
          <p:cNvSpPr/>
          <p:nvPr/>
        </p:nvSpPr>
        <p:spPr>
          <a:xfrm>
            <a:off x="285750" y="3905250"/>
            <a:ext cx="8572500" cy="571500"/>
          </a:xfrm>
          <a:prstGeom prst="roundRect">
            <a:avLst>
              <a:gd name="adj" fmla="val 13333"/>
            </a:avLst>
          </a:prstGeom>
          <a:solidFill>
            <a:srgbClr val="EDFFFE"/>
          </a:solidFill>
          <a:ln w="9525" cap="flat" cmpd="sng">
            <a:solidFill>
              <a:srgbClr val="C3FFF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5"/>
          <p:cNvSpPr txBox="1"/>
          <p:nvPr/>
        </p:nvSpPr>
        <p:spPr>
          <a:xfrm>
            <a:off x="285750" y="3905250"/>
            <a:ext cx="8572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 dirty="0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À </a:t>
            </a:r>
            <a:r>
              <a:rPr lang="en-US" sz="1150" b="1" i="0" u="none" strike="noStrike" cap="none" dirty="0" err="1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retenir</a:t>
            </a:r>
            <a:r>
              <a:rPr lang="en-US" sz="1150" b="1" i="0" u="none" strike="noStrike" cap="none" dirty="0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 : </a:t>
            </a:r>
            <a:r>
              <a:rPr lang="en-US" sz="11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Partager</a:t>
            </a:r>
            <a:r>
              <a:rPr lang="en-US" sz="11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les </a:t>
            </a:r>
            <a:r>
              <a:rPr lang="en-US" sz="11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mêmes</a:t>
            </a:r>
            <a:r>
              <a:rPr lang="en-US" sz="11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loisirs</a:t>
            </a:r>
            <a:r>
              <a:rPr lang="en-US" sz="11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est</a:t>
            </a:r>
            <a:r>
              <a:rPr lang="en-US" sz="11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un bonus </a:t>
            </a:r>
            <a:r>
              <a:rPr lang="en-US" sz="11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appréciable</a:t>
            </a:r>
            <a:r>
              <a:rPr lang="en-US" sz="11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1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mais</a:t>
            </a:r>
            <a:r>
              <a:rPr lang="en-US" sz="11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aucun</a:t>
            </a:r>
            <a:r>
              <a:rPr lang="en-US" sz="11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de </a:t>
            </a:r>
            <a:r>
              <a:rPr lang="en-US" sz="11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ces</a:t>
            </a:r>
            <a:r>
              <a:rPr lang="en-US" sz="11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deux </a:t>
            </a:r>
            <a:r>
              <a:rPr lang="en-US" sz="11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facteurs</a:t>
            </a:r>
            <a:r>
              <a:rPr lang="en-US" sz="11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n'égale</a:t>
            </a:r>
            <a:r>
              <a:rPr lang="en-US" sz="11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l'impact</a:t>
            </a:r>
            <a:r>
              <a:rPr lang="en-US" sz="11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de </a:t>
            </a:r>
            <a:r>
              <a:rPr lang="en-US" sz="11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l'attirance</a:t>
            </a:r>
            <a:r>
              <a:rPr lang="en-US" sz="11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physique.</a:t>
            </a:r>
            <a:endParaRPr sz="1150" b="1" i="0" u="none" strike="noStrike" cap="none" dirty="0">
              <a:solidFill>
                <a:srgbClr val="00B5A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130224B-C2CA-E8A7-EFC3-E0F85DFCCC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921" y="1019161"/>
            <a:ext cx="5944079" cy="26957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6" descr="assets/logo_mar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6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1" i="0" u="none" strike="noStrike" cap="non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Les participants connaissent-ils leur propre valeur ?</a:t>
            </a:r>
            <a:endParaRPr sz="2100" b="1" i="0" u="none" strike="noStrike" cap="non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w="12700" cap="flat" cmpd="sng">
            <a:solidFill>
              <a:srgbClr val="C3FFF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411480" y="3749040"/>
            <a:ext cx="39777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7" name="Google Shape;117;p6"/>
          <p:cNvPicPr preferRelativeResize="0"/>
          <p:nvPr/>
        </p:nvPicPr>
        <p:blipFill rotWithShape="1">
          <a:blip r:embed="rId4">
            <a:alphaModFix/>
          </a:blip>
          <a:srcRect t="20" b="10"/>
          <a:stretch/>
        </p:blipFill>
        <p:spPr>
          <a:xfrm>
            <a:off x="457200" y="1095375"/>
            <a:ext cx="4953000" cy="3476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8" name="Google Shape;118;p6"/>
          <p:cNvGrpSpPr/>
          <p:nvPr/>
        </p:nvGrpSpPr>
        <p:grpSpPr>
          <a:xfrm>
            <a:off x="5715000" y="1095375"/>
            <a:ext cx="2971800" cy="904800"/>
            <a:chOff x="5715000" y="1095375"/>
            <a:chExt cx="2971800" cy="904800"/>
          </a:xfrm>
        </p:grpSpPr>
        <p:sp>
          <p:nvSpPr>
            <p:cNvPr id="119" name="Google Shape;119;p6"/>
            <p:cNvSpPr/>
            <p:nvPr/>
          </p:nvSpPr>
          <p:spPr>
            <a:xfrm>
              <a:off x="5715000" y="1095375"/>
              <a:ext cx="2971800" cy="904800"/>
            </a:xfrm>
            <a:prstGeom prst="roundRect">
              <a:avLst>
                <a:gd name="adj" fmla="val 8421"/>
              </a:avLst>
            </a:prstGeom>
            <a:solidFill>
              <a:srgbClr val="F4F7F8"/>
            </a:solidFill>
            <a:ln w="9525" cap="flat" cmpd="sng">
              <a:solidFill>
                <a:srgbClr val="E1E8E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6"/>
            <p:cNvSpPr txBox="1"/>
            <p:nvPr/>
          </p:nvSpPr>
          <p:spPr>
            <a:xfrm>
              <a:off x="5829300" y="1190625"/>
              <a:ext cx="27432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lang="en-US" sz="1150" b="1" i="0" u="none" strike="noStrike" cap="non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Surestimation systématique</a:t>
              </a:r>
              <a:endParaRPr sz="1150" b="1" i="0" u="none" strike="noStrike" cap="non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Presque tous les points se situent dans la zone de surestimation.</a:t>
              </a:r>
              <a:endParaRPr sz="1000" b="0" i="0" u="none" strike="noStrike" cap="non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1" name="Google Shape;121;p6"/>
          <p:cNvGrpSpPr/>
          <p:nvPr/>
        </p:nvGrpSpPr>
        <p:grpSpPr>
          <a:xfrm>
            <a:off x="5715000" y="2143125"/>
            <a:ext cx="2971800" cy="904800"/>
            <a:chOff x="5715000" y="2143125"/>
            <a:chExt cx="2971800" cy="904800"/>
          </a:xfrm>
        </p:grpSpPr>
        <p:sp>
          <p:nvSpPr>
            <p:cNvPr id="122" name="Google Shape;122;p6"/>
            <p:cNvSpPr/>
            <p:nvPr/>
          </p:nvSpPr>
          <p:spPr>
            <a:xfrm>
              <a:off x="5715000" y="2143125"/>
              <a:ext cx="2971800" cy="904800"/>
            </a:xfrm>
            <a:prstGeom prst="roundRect">
              <a:avLst>
                <a:gd name="adj" fmla="val 8421"/>
              </a:avLst>
            </a:prstGeom>
            <a:solidFill>
              <a:srgbClr val="F4F7F8"/>
            </a:solidFill>
            <a:ln w="9525" cap="flat" cmpd="sng">
              <a:solidFill>
                <a:srgbClr val="E1E8E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6"/>
            <p:cNvSpPr txBox="1"/>
            <p:nvPr/>
          </p:nvSpPr>
          <p:spPr>
            <a:xfrm>
              <a:off x="5829300" y="2238375"/>
              <a:ext cx="27432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lang="en-US" sz="1150" b="1" i="0" u="none" strike="noStrike" cap="none">
                  <a:solidFill>
                    <a:srgbClr val="E4674F"/>
                  </a:solidFill>
                  <a:latin typeface="Inter"/>
                  <a:ea typeface="Inter"/>
                  <a:cs typeface="Inter"/>
                  <a:sym typeface="Inter"/>
                </a:rPr>
                <a:t>Les hommes</a:t>
              </a:r>
              <a:endParaRPr sz="1150" b="1" i="0" u="none" strike="noStrike" cap="non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Se sur estiment en moyenne de </a:t>
              </a:r>
              <a:r>
                <a:rPr lang="en-US" sz="1000" b="1" i="0" u="none" strike="noStrike" cap="non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+1,0 point</a:t>
              </a:r>
              <a:r>
                <a:rPr lang="en-US" sz="1000" b="0" i="0" u="none" strike="noStrike" cap="non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sur 10.</a:t>
              </a:r>
              <a:endParaRPr sz="1000" b="0" i="0" u="none" strike="noStrike" cap="non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4" name="Google Shape;124;p6"/>
          <p:cNvGrpSpPr/>
          <p:nvPr/>
        </p:nvGrpSpPr>
        <p:grpSpPr>
          <a:xfrm>
            <a:off x="5715000" y="3190875"/>
            <a:ext cx="2971800" cy="904800"/>
            <a:chOff x="5715000" y="3190875"/>
            <a:chExt cx="2971800" cy="904800"/>
          </a:xfrm>
        </p:grpSpPr>
        <p:sp>
          <p:nvSpPr>
            <p:cNvPr id="125" name="Google Shape;125;p6"/>
            <p:cNvSpPr/>
            <p:nvPr/>
          </p:nvSpPr>
          <p:spPr>
            <a:xfrm>
              <a:off x="5715000" y="3190875"/>
              <a:ext cx="2971800" cy="904800"/>
            </a:xfrm>
            <a:prstGeom prst="roundRect">
              <a:avLst>
                <a:gd name="adj" fmla="val 8421"/>
              </a:avLst>
            </a:prstGeom>
            <a:solidFill>
              <a:srgbClr val="F4F7F8"/>
            </a:solidFill>
            <a:ln w="9525" cap="flat" cmpd="sng">
              <a:solidFill>
                <a:srgbClr val="E1E8E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6"/>
            <p:cNvSpPr txBox="1"/>
            <p:nvPr/>
          </p:nvSpPr>
          <p:spPr>
            <a:xfrm>
              <a:off x="5829300" y="3286125"/>
              <a:ext cx="27432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lang="en-US" sz="1150" b="1" i="0" u="none" strike="noStrike" cap="non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Les femmes</a:t>
              </a:r>
              <a:endParaRPr sz="1150" b="1" i="0" u="none" strike="noStrike" cap="non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Se sur estiment en moyenne de </a:t>
              </a:r>
              <a:r>
                <a:rPr lang="en-US" sz="1000" b="1" i="0" u="none" strike="noStrike" cap="non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+0,8 point</a:t>
              </a:r>
              <a:r>
                <a:rPr lang="en-US" sz="1000" b="0" i="0" u="none" strike="noStrike" cap="non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sur 10.</a:t>
              </a:r>
              <a:endParaRPr sz="1000" b="0" i="0" u="none" strike="noStrike" cap="non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7" descr="assets/logo_mar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7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2100"/>
              <a:buFont typeface="Inter SemiBold"/>
              <a:buNone/>
            </a:pPr>
            <a:r>
              <a:rPr lang="en-US" sz="2100" b="1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Premier ou dernier rendez-vous de la soirée ?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7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w="12700" cap="flat" cmpd="sng">
            <a:solidFill>
              <a:srgbClr val="C3FFF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7"/>
          <p:cNvSpPr/>
          <p:nvPr/>
        </p:nvSpPr>
        <p:spPr>
          <a:xfrm>
            <a:off x="5715000" y="2514600"/>
            <a:ext cx="2971800" cy="1238400"/>
          </a:xfrm>
          <a:prstGeom prst="roundRect">
            <a:avLst>
              <a:gd name="adj" fmla="val 6153"/>
            </a:avLst>
          </a:prstGeom>
          <a:solidFill>
            <a:srgbClr val="F4F7F8"/>
          </a:solidFill>
          <a:ln w="9525" cap="flat" cmpd="sng">
            <a:solidFill>
              <a:srgbClr val="E1E8EB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12700" dir="5400000" algn="bl" rotWithShape="0">
              <a:srgbClr val="9AAAB2">
                <a:alpha val="25098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6" name="Google Shape;136;p7"/>
          <p:cNvGrpSpPr/>
          <p:nvPr/>
        </p:nvGrpSpPr>
        <p:grpSpPr>
          <a:xfrm>
            <a:off x="5715000" y="1143000"/>
            <a:ext cx="2971800" cy="1238400"/>
            <a:chOff x="5715000" y="1143000"/>
            <a:chExt cx="2971800" cy="1238400"/>
          </a:xfrm>
        </p:grpSpPr>
        <p:sp>
          <p:nvSpPr>
            <p:cNvPr id="137" name="Google Shape;137;p7"/>
            <p:cNvSpPr/>
            <p:nvPr/>
          </p:nvSpPr>
          <p:spPr>
            <a:xfrm>
              <a:off x="5715000" y="1143000"/>
              <a:ext cx="2971800" cy="1238400"/>
            </a:xfrm>
            <a:prstGeom prst="roundRect">
              <a:avLst>
                <a:gd name="adj" fmla="val 6153"/>
              </a:avLst>
            </a:prstGeom>
            <a:solidFill>
              <a:srgbClr val="F4F7F8"/>
            </a:solidFill>
            <a:ln w="9525" cap="flat" cmpd="sng">
              <a:solidFill>
                <a:srgbClr val="E1E8E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p7"/>
            <p:cNvSpPr txBox="1"/>
            <p:nvPr/>
          </p:nvSpPr>
          <p:spPr>
            <a:xfrm>
              <a:off x="5829300" y="1238250"/>
              <a:ext cx="27432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lang="en-US" sz="1150" b="1" i="0" u="none" strike="noStrike" cap="non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Premier ou dernier ?</a:t>
              </a:r>
              <a:endParaRPr sz="1150" b="1" i="0" u="none" strike="noStrike" cap="non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Les premiers rendez-vous de la soirée bénéficient d'un taux de "Oui" légèrement supérieur (43.8%), qui s'effrite légèrement au fil de la soirée (40.0%).</a:t>
              </a:r>
              <a:endParaRPr sz="1000" b="0" i="0" u="none" strike="noStrike" cap="non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39" name="Google Shape;139;p7"/>
          <p:cNvSpPr/>
          <p:nvPr/>
        </p:nvSpPr>
        <p:spPr>
          <a:xfrm>
            <a:off x="457200" y="4000500"/>
            <a:ext cx="8229600" cy="571500"/>
          </a:xfrm>
          <a:prstGeom prst="roundRect">
            <a:avLst>
              <a:gd name="adj" fmla="val 13333"/>
            </a:avLst>
          </a:prstGeom>
          <a:solidFill>
            <a:srgbClr val="EDFFFE"/>
          </a:solidFill>
          <a:ln w="9525" cap="flat" cmpd="sng">
            <a:solidFill>
              <a:srgbClr val="C3FFF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457200" y="40005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À retenir : </a:t>
            </a:r>
            <a:r>
              <a:rPr lang="en-US" sz="1100" b="0" i="0" u="none" strike="noStrike" cap="non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L'effet d'ordre existe (mieux vaut passer en début de soirée), mais son impact reste marginal face au charisme et à l'humour.</a:t>
            </a:r>
            <a:endParaRPr sz="1100" b="1" i="0" u="none" strike="noStrike" cap="none">
              <a:solidFill>
                <a:srgbClr val="00B5A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41" name="Google Shape;141;p7"/>
          <p:cNvPicPr preferRelativeResize="0"/>
          <p:nvPr/>
        </p:nvPicPr>
        <p:blipFill rotWithShape="1">
          <a:blip r:embed="rId4">
            <a:alphaModFix/>
          </a:blip>
          <a:srcRect l="1239" r="1239"/>
          <a:stretch/>
        </p:blipFill>
        <p:spPr>
          <a:xfrm>
            <a:off x="457200" y="1143000"/>
            <a:ext cx="4953000" cy="2514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7"/>
          <p:cNvSpPr/>
          <p:nvPr/>
        </p:nvSpPr>
        <p:spPr>
          <a:xfrm>
            <a:off x="5715000" y="2514600"/>
            <a:ext cx="29718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rPr>
              <a:t>Effet de position</a:t>
            </a:r>
            <a:endParaRPr sz="1150" b="1" i="0" u="none" strike="noStrike" cap="none">
              <a:solidFill>
                <a:srgbClr val="E4674F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La position pèse beaucoup moins que le physique ou le fun. À choisir, mieux vaut passer dans les premiers — c'est un ajustement à la marge.</a:t>
            </a:r>
            <a:endParaRPr sz="1000" b="0" i="0" u="none" strike="noStrike" cap="non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8" descr="assets/logo_mar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8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1" i="0" u="none" strike="noStrike" cap="non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Conclusion &amp; Recommandations pour Tinder</a:t>
            </a:r>
            <a:endParaRPr sz="2100" b="1" i="0" u="none" strike="noStrike" cap="non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0" name="Google Shape;150;p8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w="12700" cap="flat" cmpd="sng">
            <a:solidFill>
              <a:srgbClr val="C3FFF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8"/>
          <p:cNvSpPr/>
          <p:nvPr/>
        </p:nvSpPr>
        <p:spPr>
          <a:xfrm>
            <a:off x="457200" y="1051560"/>
            <a:ext cx="2651700" cy="1554600"/>
          </a:xfrm>
          <a:prstGeom prst="roundRect">
            <a:avLst>
              <a:gd name="adj" fmla="val 4706"/>
            </a:avLst>
          </a:prstGeom>
          <a:solidFill>
            <a:srgbClr val="F4F7F8"/>
          </a:solidFill>
          <a:ln w="12700" cap="flat" cmpd="sng">
            <a:solidFill>
              <a:srgbClr val="E1E8EB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12700" dir="5400000" algn="bl" rotWithShape="0">
              <a:srgbClr val="9AAAB2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664867" y="1417332"/>
            <a:ext cx="23226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rPr>
              <a:t>1. La photo reste reine</a:t>
            </a:r>
            <a:endParaRPr sz="1200" b="1" i="0" u="none" strike="noStrike" cap="none">
              <a:solidFill>
                <a:srgbClr val="E467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621767" y="1714403"/>
            <a:ext cx="2322600" cy="100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Le physique étant le driver n°1 réel, Tinder doit intégrer des outils IA de sélection, de recadrage et d'optimisation des photos de profil.</a:t>
            </a:r>
            <a:endParaRPr sz="1000" b="0" i="0" u="none" strike="noStrike" cap="non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3246120" y="1051560"/>
            <a:ext cx="2651700" cy="1554600"/>
          </a:xfrm>
          <a:prstGeom prst="roundRect">
            <a:avLst>
              <a:gd name="adj" fmla="val 4706"/>
            </a:avLst>
          </a:prstGeom>
          <a:solidFill>
            <a:srgbClr val="F4F7F8"/>
          </a:solidFill>
          <a:ln w="12700" cap="flat" cmpd="sng">
            <a:solidFill>
              <a:srgbClr val="E1E8EB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12700" dir="5400000" algn="bl" rotWithShape="0">
              <a:srgbClr val="9AAAB2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8"/>
          <p:cNvSpPr/>
          <p:nvPr/>
        </p:nvSpPr>
        <p:spPr>
          <a:xfrm>
            <a:off x="3410712" y="1170432"/>
            <a:ext cx="23226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5AC"/>
              </a:buClr>
              <a:buSzPts val="1250"/>
              <a:buFont typeface="Calibri"/>
              <a:buNone/>
            </a:pP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8"/>
          <p:cNvSpPr/>
          <p:nvPr/>
        </p:nvSpPr>
        <p:spPr>
          <a:xfrm>
            <a:off x="3410712" y="1463040"/>
            <a:ext cx="2322600" cy="100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2. </a:t>
            </a:r>
            <a:r>
              <a:rPr lang="en-US" sz="1200" b="1" i="0" u="none" strike="noStrike" cap="none" dirty="0" err="1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Recalibrer</a:t>
            </a:r>
            <a:r>
              <a:rPr lang="en-US" sz="1200" b="1" i="0" u="none" strike="noStrike" cap="none" dirty="0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 les perceptions</a:t>
            </a:r>
            <a:endParaRPr sz="1200" b="1" i="0" u="none" strike="noStrike" cap="none" dirty="0">
              <a:solidFill>
                <a:srgbClr val="00B5AC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Proposer un audit </a:t>
            </a:r>
            <a:r>
              <a:rPr lang="en-US" sz="1000" b="0" i="0" u="none" strike="noStrike" cap="none" dirty="0" err="1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bienveillant</a:t>
            </a:r>
            <a:r>
              <a:rPr lang="en-US" sz="1000" b="0" i="0" u="none" strike="noStrike" cap="none" dirty="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 du </a:t>
            </a:r>
            <a:r>
              <a:rPr lang="en-US" sz="1000" b="0" i="0" u="none" strike="noStrike" cap="none" dirty="0" err="1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profil</a:t>
            </a:r>
            <a:r>
              <a:rPr lang="en-US" sz="1000" b="0" i="0" u="none" strike="noStrike" cap="none" dirty="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 pour </a:t>
            </a:r>
            <a:r>
              <a:rPr lang="en-US" sz="1000" b="0" i="0" u="none" strike="noStrike" cap="none" dirty="0" err="1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réaligner</a:t>
            </a:r>
            <a:r>
              <a:rPr lang="en-US" sz="1000" b="0" i="0" u="none" strike="noStrike" cap="none" dirty="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 les </a:t>
            </a:r>
            <a:r>
              <a:rPr lang="en-US" sz="1000" b="0" i="0" u="none" strike="noStrike" cap="none" dirty="0" err="1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attentes</a:t>
            </a:r>
            <a:r>
              <a:rPr lang="en-US" sz="1000" b="0" i="0" u="none" strike="noStrike" cap="none" dirty="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 et limiter la frustration.</a:t>
            </a:r>
            <a:endParaRPr sz="1000" b="0" i="0" u="none" strike="noStrike" cap="none" dirty="0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7" name="Google Shape;157;p8"/>
          <p:cNvSpPr/>
          <p:nvPr/>
        </p:nvSpPr>
        <p:spPr>
          <a:xfrm>
            <a:off x="6035040" y="1051560"/>
            <a:ext cx="2651700" cy="1554600"/>
          </a:xfrm>
          <a:prstGeom prst="roundRect">
            <a:avLst>
              <a:gd name="adj" fmla="val 4706"/>
            </a:avLst>
          </a:prstGeom>
          <a:solidFill>
            <a:srgbClr val="F4F7F8"/>
          </a:solidFill>
          <a:ln w="12700" cap="flat" cmpd="sng">
            <a:solidFill>
              <a:srgbClr val="E1E8EB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12700" dir="5400000" algn="bl" rotWithShape="0">
              <a:srgbClr val="9AAAB2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8"/>
          <p:cNvSpPr/>
          <p:nvPr/>
        </p:nvSpPr>
        <p:spPr>
          <a:xfrm>
            <a:off x="6199632" y="1170432"/>
            <a:ext cx="23226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1250"/>
              <a:buFont typeface="Calibri"/>
              <a:buNone/>
            </a:pP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8"/>
          <p:cNvSpPr/>
          <p:nvPr/>
        </p:nvSpPr>
        <p:spPr>
          <a:xfrm>
            <a:off x="6199632" y="1463040"/>
            <a:ext cx="2322600" cy="100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3. </a:t>
            </a:r>
            <a:r>
              <a:rPr lang="en-US" sz="1200" b="1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Prévenir</a:t>
            </a:r>
            <a:r>
              <a:rPr lang="en-US" sz="1200" b="1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la fatigue de swipe</a:t>
            </a:r>
            <a:endParaRPr sz="1200" b="1" i="0" u="none" strike="noStrike" cap="none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 err="1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Introduire</a:t>
            </a:r>
            <a:r>
              <a:rPr lang="en-US" sz="1000" b="0" i="0" u="none" strike="noStrike" cap="none" dirty="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 des pauses </a:t>
            </a:r>
            <a:r>
              <a:rPr lang="en-US" sz="1000" b="0" i="0" u="none" strike="noStrike" cap="none" dirty="0" err="1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ou</a:t>
            </a:r>
            <a:r>
              <a:rPr lang="en-US" sz="1000" b="0" i="0" u="none" strike="noStrike" cap="none" dirty="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 des formats </a:t>
            </a:r>
            <a:r>
              <a:rPr lang="en-US" sz="1000" b="0" i="0" u="none" strike="noStrike" cap="none" dirty="0" err="1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limités</a:t>
            </a:r>
            <a:r>
              <a:rPr lang="en-US" sz="1000" b="0" i="0" u="none" strike="noStrike" cap="none" dirty="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 pour </a:t>
            </a:r>
            <a:r>
              <a:rPr lang="en-US" sz="1000" b="0" i="0" u="none" strike="noStrike" cap="none" dirty="0" err="1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préserver</a:t>
            </a:r>
            <a:r>
              <a:rPr lang="en-US" sz="1000" b="0" i="0" u="none" strike="noStrike" cap="none" dirty="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00" b="0" i="0" u="none" strike="noStrike" cap="none" dirty="0" err="1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l'attention</a:t>
            </a:r>
            <a:r>
              <a:rPr lang="en-US" sz="1000" b="0" i="0" u="none" strike="noStrike" cap="none" dirty="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 des </a:t>
            </a:r>
            <a:r>
              <a:rPr lang="en-US" sz="1000" b="0" i="0" u="none" strike="noStrike" cap="none" dirty="0" err="1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utilisateurs</a:t>
            </a:r>
            <a:r>
              <a:rPr lang="en-US" sz="1000" b="0" i="0" u="none" strike="noStrike" cap="none" dirty="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000" b="0" i="0" u="none" strike="noStrike" cap="none" dirty="0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" name="Google Shape;160;p8"/>
          <p:cNvSpPr/>
          <p:nvPr/>
        </p:nvSpPr>
        <p:spPr>
          <a:xfrm>
            <a:off x="457200" y="2743200"/>
            <a:ext cx="82296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Hiérarchie réelle des facteurs de décision</a:t>
            </a:r>
            <a:endParaRPr sz="1300" b="1" i="0" u="none" strike="noStrike" cap="non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1" name="Google Shape;161;p8"/>
          <p:cNvSpPr/>
          <p:nvPr/>
        </p:nvSpPr>
        <p:spPr>
          <a:xfrm>
            <a:off x="566928" y="3063240"/>
            <a:ext cx="8046600" cy="914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457200" marR="0" lvl="0" indent="-2952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1050"/>
              <a:buFont typeface="Inter"/>
              <a:buChar char="●"/>
            </a:pPr>
            <a:r>
              <a:rPr lang="en-US" sz="1050" b="1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Physique, </a:t>
            </a:r>
            <a:r>
              <a:rPr lang="en-US" sz="1050" b="1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puis</a:t>
            </a:r>
            <a:r>
              <a:rPr lang="en-US" sz="1050" b="1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fun, </a:t>
            </a:r>
            <a:r>
              <a:rPr lang="en-US" sz="1050" b="1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puis</a:t>
            </a:r>
            <a:r>
              <a:rPr lang="en-US" sz="1050" b="1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perception de </a:t>
            </a:r>
            <a:r>
              <a:rPr lang="en-US" sz="1050" b="1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réciprocité</a:t>
            </a:r>
            <a:r>
              <a:rPr lang="en-US" sz="10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— on </a:t>
            </a:r>
            <a:r>
              <a:rPr lang="en-US" sz="10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dit</a:t>
            </a:r>
            <a:r>
              <a:rPr lang="en-US" sz="10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plus </a:t>
            </a:r>
            <a:r>
              <a:rPr lang="en-US" sz="10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volontiers</a:t>
            </a:r>
            <a:r>
              <a:rPr lang="en-US" sz="10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oui</a:t>
            </a:r>
            <a:r>
              <a:rPr lang="en-US" sz="10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à qui </a:t>
            </a:r>
            <a:r>
              <a:rPr lang="en-US" sz="10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semble</a:t>
            </a:r>
            <a:r>
              <a:rPr lang="en-US" sz="10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nous </a:t>
            </a:r>
            <a:r>
              <a:rPr lang="en-US" sz="10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apprécier</a:t>
            </a:r>
            <a:r>
              <a:rPr lang="en-US" sz="10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050" b="0" i="0" u="none" strike="noStrike" cap="none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5275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E3449"/>
              </a:buClr>
              <a:buSzPts val="1050"/>
              <a:buFont typeface="Inter"/>
              <a:buChar char="●"/>
            </a:pPr>
            <a:r>
              <a:rPr lang="en-US" sz="1050" b="1" i="0" u="none" strike="noStrike" cap="none" dirty="0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rPr>
              <a:t>Intelligence et </a:t>
            </a:r>
            <a:r>
              <a:rPr lang="en-US" sz="1050" b="1" i="0" u="none" strike="noStrike" cap="none" dirty="0" err="1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rPr>
              <a:t>sincérité</a:t>
            </a:r>
            <a:r>
              <a:rPr lang="en-US" sz="10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: </a:t>
            </a:r>
            <a:r>
              <a:rPr lang="en-US" sz="10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survalorisées</a:t>
            </a:r>
            <a:r>
              <a:rPr lang="en-US" sz="10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dans le </a:t>
            </a:r>
            <a:r>
              <a:rPr lang="en-US" sz="10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discours</a:t>
            </a:r>
            <a:r>
              <a:rPr lang="en-US" sz="10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, peu </a:t>
            </a:r>
            <a:r>
              <a:rPr lang="en-US" sz="10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mobilisées</a:t>
            </a:r>
            <a:r>
              <a:rPr lang="en-US" sz="10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dans la </a:t>
            </a:r>
            <a:r>
              <a:rPr lang="en-US" sz="10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décision</a:t>
            </a:r>
            <a:r>
              <a:rPr lang="en-US" sz="10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. </a:t>
            </a:r>
            <a:r>
              <a:rPr lang="en-US" sz="1050" b="1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Ambition</a:t>
            </a:r>
            <a:r>
              <a:rPr lang="en-US" sz="10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: quasi </a:t>
            </a:r>
            <a:r>
              <a:rPr lang="en-US" sz="1050" b="0" i="0" u="none" strike="noStrike" cap="none" dirty="0" err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ignorée</a:t>
            </a:r>
            <a:r>
              <a:rPr lang="en-US" sz="1050" b="0" i="0" u="none" strike="noStrike" cap="none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050" b="0" i="0" u="none" strike="noStrike" cap="none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5275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E3449"/>
              </a:buClr>
              <a:buSzPts val="1050"/>
              <a:buFont typeface="Inter"/>
              <a:buChar char="●"/>
            </a:pPr>
            <a:r>
              <a:rPr lang="en-US" sz="1050" b="0" i="1" u="none" strike="noStrike" cap="none" dirty="0" err="1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Limite</a:t>
            </a:r>
            <a:r>
              <a:rPr lang="en-US" sz="1050" b="0" i="1" u="none" strike="noStrike" cap="none" dirty="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 de </a:t>
            </a:r>
            <a:r>
              <a:rPr lang="en-US" sz="1050" b="0" i="1" u="none" strike="noStrike" cap="none" dirty="0" err="1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l'étude</a:t>
            </a:r>
            <a:r>
              <a:rPr lang="en-US" sz="1050" b="0" i="1" u="none" strike="noStrike" cap="none" dirty="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 : </a:t>
            </a:r>
            <a:r>
              <a:rPr lang="en-US" sz="1050" b="0" i="1" u="none" strike="noStrike" cap="none" dirty="0" err="1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Échantillon</a:t>
            </a:r>
            <a:r>
              <a:rPr lang="en-US" sz="1050" b="0" i="1" u="none" strike="noStrike" cap="none" dirty="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50" b="0" i="1" u="none" strike="noStrike" cap="none" dirty="0" err="1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étudiant</a:t>
            </a:r>
            <a:r>
              <a:rPr lang="en-US" sz="1050" b="0" i="1" u="none" strike="noStrike" cap="none" dirty="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 (Columbia 2002-2004), dates </a:t>
            </a:r>
            <a:r>
              <a:rPr lang="en-US" sz="1050" b="0" i="1" u="none" strike="noStrike" cap="none" dirty="0" err="1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en</a:t>
            </a:r>
            <a:r>
              <a:rPr lang="en-US" sz="1050" b="0" i="1" u="none" strike="noStrike" cap="none" dirty="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 face-à-face de 4 min — </a:t>
            </a:r>
            <a:r>
              <a:rPr lang="en-US" sz="1050" b="0" i="1" u="none" strike="noStrike" cap="none" dirty="0" err="1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résultats</a:t>
            </a:r>
            <a:r>
              <a:rPr lang="en-US" sz="1050" b="0" i="1" u="none" strike="noStrike" cap="none" dirty="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 à transposer avec </a:t>
            </a:r>
            <a:r>
              <a:rPr lang="en-US" sz="1050" b="0" i="1" u="none" strike="noStrike" cap="none" dirty="0" err="1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précaution</a:t>
            </a:r>
            <a:r>
              <a:rPr lang="en-US" sz="1050" b="0" i="1" u="none" strike="noStrike" cap="none" dirty="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 sur les </a:t>
            </a:r>
            <a:r>
              <a:rPr lang="en-US" sz="1050" b="0" i="1" u="none" strike="noStrike" cap="none" dirty="0" err="1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algorithmes</a:t>
            </a:r>
            <a:r>
              <a:rPr lang="en-US" sz="1050" b="0" i="1" u="none" strike="noStrike" cap="none" dirty="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50" b="0" i="1" u="none" strike="noStrike" cap="none" dirty="0" err="1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modernes</a:t>
            </a:r>
            <a:r>
              <a:rPr lang="en-US" sz="1050" b="0" i="1" u="none" strike="noStrike" cap="none" dirty="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050" b="0" i="0" u="none" strike="noStrike" cap="none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2" name="Google Shape;162;p8"/>
          <p:cNvSpPr/>
          <p:nvPr/>
        </p:nvSpPr>
        <p:spPr>
          <a:xfrm>
            <a:off x="457200" y="4069080"/>
            <a:ext cx="8229600" cy="567000"/>
          </a:xfrm>
          <a:prstGeom prst="roundRect">
            <a:avLst>
              <a:gd name="adj" fmla="val 12903"/>
            </a:avLst>
          </a:prstGeom>
          <a:solidFill>
            <a:srgbClr val="EDFFFE"/>
          </a:solidFill>
          <a:ln w="12700" cap="flat" cmpd="sng">
            <a:solidFill>
              <a:srgbClr val="C3FFF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621792" y="4069080"/>
            <a:ext cx="7909500" cy="567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À retenir : </a:t>
            </a:r>
            <a:r>
              <a:rPr lang="en-US" sz="1100" b="0" i="0" u="none" strike="noStrike" cap="non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Ne jamais calibrer un algorithme de recommandation sur ce que les utilisateurs déclarent vouloir, mais sur leurs actions réelles.</a:t>
            </a:r>
            <a:endParaRPr sz="1100" b="1" i="0" u="none" strike="noStrike" cap="none">
              <a:solidFill>
                <a:srgbClr val="00B5AC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742</Words>
  <Application>Microsoft Office PowerPoint</Application>
  <PresentationFormat>Affichage à l'écran (16:9)</PresentationFormat>
  <Paragraphs>75</Paragraphs>
  <Slides>8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4" baseType="lpstr">
      <vt:lpstr>Inter</vt:lpstr>
      <vt:lpstr>Arial</vt:lpstr>
      <vt:lpstr>Inter SemiBold</vt:lpstr>
      <vt:lpstr>Calibri</vt:lpstr>
      <vt:lpstr>Inter ExtraBold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Yannis</dc:creator>
  <cp:lastModifiedBy>christopher gilleron</cp:lastModifiedBy>
  <cp:revision>1</cp:revision>
  <dcterms:created xsi:type="dcterms:W3CDTF">2026-07-30T13:08:46Z</dcterms:created>
  <dcterms:modified xsi:type="dcterms:W3CDTF">2026-09-11T20:10:51Z</dcterms:modified>
</cp:coreProperties>
</file>