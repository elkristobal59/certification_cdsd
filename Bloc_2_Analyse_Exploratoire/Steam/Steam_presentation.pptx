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371600" y="1097280"/>
            <a:ext cx="9448495" cy="4663440"/>
          </a:xfrm>
          <a:prstGeom prst="roundRect">
            <a:avLst/>
          </a:prstGeom>
          <a:solidFill>
            <a:srgbClr val="1E293B"/>
          </a:solidFill>
          <a:ln w="25400"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828800" y="1463040"/>
            <a:ext cx="85340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38BDF8"/>
                </a:solidFill>
                <a:latin typeface="Segoe UI"/>
              </a:defRPr>
            </a:pPr>
            <a:r>
              <a:t>BLOC 2 — ANALYSE EXPLORATOIRE DE DONNÉES BIG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00" y="1920240"/>
            <a:ext cx="8534095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8FAFC"/>
                </a:solidFill>
                <a:latin typeface="Segoe UI"/>
              </a:defRPr>
            </a:pPr>
            <a:r>
              <a:t>Steam Video Games Analysis</a:t>
            </a:r>
          </a:p>
          <a:p>
            <a:pPr>
              <a:defRPr sz="1700">
                <a:solidFill>
                  <a:srgbClr val="94A3B8"/>
                </a:solidFill>
                <a:latin typeface="Segoe UI"/>
              </a:defRPr>
            </a:pPr>
            <a:r>
              <a:t>Exploration Big Data &amp; Stratégie Métier sur le Marché PC Gaming avec PySpark &amp; Databricks</a:t>
            </a:r>
          </a:p>
        </p:txBody>
      </p:sp>
      <p:sp>
        <p:nvSpPr>
          <p:cNvPr id="6" name="Rectangle 5"/>
          <p:cNvSpPr/>
          <p:nvPr/>
        </p:nvSpPr>
        <p:spPr>
          <a:xfrm>
            <a:off x="1828800" y="3383280"/>
            <a:ext cx="8534095" cy="27432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828800" y="3657600"/>
            <a:ext cx="27432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10B981"/>
                </a:solidFill>
                <a:latin typeface="Segoe UI"/>
              </a:defRPr>
            </a:pPr>
            <a:r>
              <a:t>55 691</a:t>
            </a:r>
          </a:p>
          <a:p>
            <a:pPr>
              <a:defRPr sz="1100" b="1">
                <a:solidFill>
                  <a:srgbClr val="F8FAFC"/>
                </a:solidFill>
                <a:latin typeface="Segoe UI"/>
              </a:defRPr>
            </a:pPr>
            <a:r>
              <a:t>JEUX ANALYSÉS</a:t>
            </a:r>
          </a:p>
          <a:p>
            <a:pPr>
              <a:defRPr sz="950">
                <a:solidFill>
                  <a:srgbClr val="94A3B8"/>
                </a:solidFill>
                <a:latin typeface="Segoe UI"/>
              </a:defRPr>
            </a:pPr>
            <a:r>
              <a:t>Dump JSON multi-lignes AWS S3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54880" y="3657600"/>
            <a:ext cx="27432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59E0B"/>
                </a:solidFill>
                <a:latin typeface="Segoe UI"/>
              </a:defRPr>
            </a:pPr>
            <a:r>
              <a:t>1.05 Md€</a:t>
            </a:r>
          </a:p>
          <a:p>
            <a:pPr>
              <a:defRPr sz="1100" b="1">
                <a:solidFill>
                  <a:srgbClr val="F8FAFC"/>
                </a:solidFill>
                <a:latin typeface="Segoe UI"/>
              </a:defRPr>
            </a:pPr>
            <a:r>
              <a:t>PROXY REVENUS ACTION</a:t>
            </a:r>
          </a:p>
          <a:p>
            <a:pPr>
              <a:defRPr sz="950">
                <a:solidFill>
                  <a:srgbClr val="94A3B8"/>
                </a:solidFill>
                <a:latin typeface="Segoe UI"/>
              </a:defRPr>
            </a:pPr>
            <a:r>
              <a:t>Genre dominant de l'industrie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0960" y="3657600"/>
            <a:ext cx="27432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38BDF8"/>
                </a:solidFill>
                <a:latin typeface="Segoe UI"/>
              </a:defRPr>
            </a:pPr>
            <a:r>
              <a:t>14.0% / 86.0%</a:t>
            </a:r>
          </a:p>
          <a:p>
            <a:pPr>
              <a:defRPr sz="1100" b="1">
                <a:solidFill>
                  <a:srgbClr val="F8FAFC"/>
                </a:solidFill>
                <a:latin typeface="Segoe UI"/>
              </a:defRPr>
            </a:pPr>
            <a:r>
              <a:t>GRATUIT VS PAYANT</a:t>
            </a:r>
          </a:p>
          <a:p>
            <a:pPr>
              <a:defRPr sz="950">
                <a:solidFill>
                  <a:srgbClr val="94A3B8"/>
                </a:solidFill>
                <a:latin typeface="Segoe UI"/>
              </a:defRPr>
            </a:pPr>
            <a:r>
              <a:t>Monétisation &amp; élasticité prix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4983480"/>
            <a:ext cx="85340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94A3B8"/>
                </a:solidFill>
                <a:latin typeface="Segoe UI"/>
              </a:defRPr>
            </a:pPr>
            <a:r>
              <a:t>Candidat : Christopher GILLERON   |   Commanditaire : Ubisoft   |   Certification CDSD (Niveau 7)   |   Soutenance 5 min (8 slides)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  <a:latin typeface="Segoe UI"/>
              </a:defRPr>
            </a:pPr>
            <a:r>
              <a:t>ÉTAPE 01 | CADRAGE &amp; PIPELINE TECHNIQUE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9601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F8FAFC"/>
                </a:solidFill>
                <a:latin typeface="Segoe UI"/>
              </a:defRPr>
            </a:pPr>
            <a:r>
              <a:t>Contexte Stratégique Ubisoft &amp; Architecture Big Data PySpark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62895" y="41148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1">
                <a:solidFill>
                  <a:srgbClr val="94A3B8"/>
                </a:solidFill>
                <a:latin typeface="Segoe UI"/>
              </a:defRPr>
            </a:pPr>
            <a:r>
              <a:t>2 / 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00800"/>
            <a:ext cx="1072865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64748B"/>
                </a:solidFill>
                <a:latin typeface="Segoe UI"/>
              </a:defRPr>
            </a:pPr>
            <a:r>
              <a:t>Christopher GILLERON  |  Steam Video Games Analysis (PySpark / Databricks)  |  Certification CDSD Bloc 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371600"/>
            <a:ext cx="5212080" cy="47548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536192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  <a:latin typeface="Segoe UI"/>
              </a:defRPr>
            </a:pPr>
            <a:r>
              <a:t>01 | CONTEXTE STRATÉGIQUE UBISOFT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1920240"/>
            <a:ext cx="48463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38BDF8"/>
                </a:solidFill>
                <a:latin typeface="Segoe UI"/>
              </a:defRPr>
            </a:pPr>
            <a:r>
              <a:t>Mandat Ubisoft :</a:t>
            </a:r>
          </a:p>
          <a:p>
            <a:pPr>
              <a:defRPr sz="900">
                <a:solidFill>
                  <a:srgbClr val="F8FAFC"/>
                </a:solidFill>
                <a:latin typeface="Segoe UI"/>
              </a:defRPr>
            </a:pPr>
            <a:r>
              <a:t>Explorer l'intégralité du catalogue Steam pour orienter la conception, le pricing et le positionnement du prochain jeu phare.</a:t>
            </a:r>
          </a:p>
          <a:p>
            <a:pPr>
              <a:defRPr sz="1000" b="1">
                <a:solidFill>
                  <a:srgbClr val="38BDF8"/>
                </a:solidFill>
                <a:latin typeface="Segoe UI"/>
              </a:defRPr>
            </a:pPr>
            <a:r>
              <a:t>Périmètre Données :</a:t>
            </a:r>
          </a:p>
          <a:p>
            <a:pPr>
              <a:defRPr sz="900">
                <a:solidFill>
                  <a:srgbClr val="F8FAFC"/>
                </a:solidFill>
                <a:latin typeface="Segoe UI"/>
              </a:defRPr>
            </a:pPr>
            <a:r>
              <a:t>55 691 jeux vidéo uniques collectés via l'API Steam Web, hébergés sur AWS S3 sous forme de dump JSON semi-structuré.</a:t>
            </a:r>
          </a:p>
          <a:p>
            <a:pPr>
              <a:defRPr sz="1000" b="1">
                <a:solidFill>
                  <a:srgbClr val="38BDF8"/>
                </a:solidFill>
                <a:latin typeface="Segoe UI"/>
              </a:defRPr>
            </a:pPr>
            <a:r>
              <a:t>Enjeux Décisionnels :</a:t>
            </a:r>
          </a:p>
          <a:p>
            <a:pPr>
              <a:defRPr sz="900">
                <a:solidFill>
                  <a:srgbClr val="F8FAFC"/>
                </a:solidFill>
                <a:latin typeface="Segoe UI"/>
              </a:defRPr>
            </a:pPr>
            <a:r>
              <a:t>Identifier les genres les plus lucratifs, mesurer l'impact du Free-to-Play, analyser la concurrence et optimiser le support OS.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371600"/>
            <a:ext cx="5242255" cy="47548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1536192"/>
            <a:ext cx="48764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  <a:latin typeface="Segoe UI"/>
              </a:defRPr>
            </a:pPr>
            <a:r>
              <a:t>02 | PIPELINE DE TRAITEMENT PYSPARK (DATABRICKS)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1920240"/>
            <a:ext cx="4876495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38BDF8"/>
                </a:solidFill>
                <a:latin typeface="Segoe UI"/>
              </a:defRPr>
            </a:pPr>
            <a:r>
              <a:t>Aplatissement Struct (data.*) :</a:t>
            </a:r>
          </a:p>
          <a:p>
            <a:pPr>
              <a:defRPr sz="900">
                <a:solidFill>
                  <a:srgbClr val="F8FAFC"/>
                </a:solidFill>
                <a:latin typeface="Segoe UI"/>
              </a:defRPr>
            </a:pPr>
            <a:r>
              <a:t>Dé-imbrication automatique de 22 attributs racines depuis la structure complexe 'data'.</a:t>
            </a:r>
          </a:p>
          <a:p>
            <a:pPr>
              <a:defRPr sz="1000" b="1">
                <a:solidFill>
                  <a:srgbClr val="38BDF8"/>
                </a:solidFill>
                <a:latin typeface="Segoe UI"/>
              </a:defRPr>
            </a:pPr>
            <a:r>
              <a:t>Fonctions de Résilience :</a:t>
            </a:r>
          </a:p>
          <a:p>
            <a:pPr>
              <a:defRPr sz="900">
                <a:solidFill>
                  <a:srgbClr val="F8FAFC"/>
                </a:solidFill>
                <a:latin typeface="Segoe UI"/>
              </a:defRPr>
            </a:pPr>
            <a:r>
              <a:t>Implémentation de first_existing_col() pour garantir l'extraction des prix, genres et dates quel que soit le schéma.</a:t>
            </a:r>
          </a:p>
          <a:p>
            <a:pPr>
              <a:defRPr sz="1000" b="1">
                <a:solidFill>
                  <a:srgbClr val="38BDF8"/>
                </a:solidFill>
                <a:latin typeface="Segoe UI"/>
              </a:defRPr>
            </a:pPr>
            <a:r>
              <a:t>Nettoyage &amp; Typage Distribué :</a:t>
            </a:r>
          </a:p>
          <a:p>
            <a:pPr>
              <a:defRPr sz="900">
                <a:solidFill>
                  <a:srgbClr val="F8FAFC"/>
                </a:solidFill>
                <a:latin typeface="Segoe UI"/>
              </a:defRPr>
            </a:pPr>
            <a:r>
              <a:t>Conversion des centimes en euros (price / 100), détection de is_free, parsing multi-formats des dates via try_to_date().</a:t>
            </a:r>
          </a:p>
          <a:p>
            <a:pPr>
              <a:defRPr sz="1000" b="1">
                <a:solidFill>
                  <a:srgbClr val="38BDF8"/>
                </a:solidFill>
                <a:latin typeface="Segoe UI"/>
              </a:defRPr>
            </a:pPr>
            <a:r>
              <a:t>Optimisation Catalyst :</a:t>
            </a:r>
          </a:p>
          <a:p>
            <a:pPr>
              <a:defRPr sz="900">
                <a:solidFill>
                  <a:srgbClr val="F8FAFC"/>
                </a:solidFill>
                <a:latin typeface="Segoe UI"/>
              </a:defRPr>
            </a:pPr>
            <a:r>
              <a:t>Calcul vectoriel des ratios d'avis (positive_ratio) et décomposition des listes via explode_outer().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  <a:latin typeface="Segoe UI"/>
              </a:defRPr>
            </a:pPr>
            <a:r>
              <a:t>ÉTAPE 02 | EXPLORATION TEMPORELLE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9601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F8FAFC"/>
                </a:solidFill>
                <a:latin typeface="Segoe UI"/>
              </a:defRPr>
            </a:pPr>
            <a:r>
              <a:t>Évolution des Sorties de Jeux (1997-2022) &amp; Impact du COVID-19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62895" y="41148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1">
                <a:solidFill>
                  <a:srgbClr val="94A3B8"/>
                </a:solidFill>
                <a:latin typeface="Segoe UI"/>
              </a:defRPr>
            </a:pPr>
            <a:r>
              <a:t>3 / 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00800"/>
            <a:ext cx="1072865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64748B"/>
                </a:solidFill>
                <a:latin typeface="Segoe UI"/>
              </a:defRPr>
            </a:pPr>
            <a:r>
              <a:t>Christopher GILLERON  |  Steam Video Games Analysis (PySpark / Databricks)  |  Certification CDSD Bloc 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371600"/>
            <a:ext cx="5212080" cy="47548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536192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  <a:latin typeface="Segoe UI"/>
              </a:defRPr>
            </a:pPr>
            <a:r>
              <a:t>CHRONOLOGIE DES SORTIES (55 691 JEUX)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1920240"/>
            <a:ext cx="48463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38BDF8"/>
                </a:solidFill>
                <a:latin typeface="Segoe UI"/>
              </a:defRPr>
            </a:pPr>
            <a:r>
              <a:t>1997 - 2013 (Ère Pionnière) :</a:t>
            </a:r>
          </a:p>
          <a:p>
            <a:pPr>
              <a:defRPr sz="900">
                <a:solidFill>
                  <a:srgbClr val="F8FAFC"/>
                </a:solidFill>
                <a:latin typeface="Segoe UI"/>
              </a:defRPr>
            </a:pPr>
            <a:r>
              <a:t>Validation manuelle stricte par Valve : moins de 500 jeux par an (471 en 2013).</a:t>
            </a:r>
          </a:p>
          <a:p>
            <a:pPr>
              <a:defRPr sz="1000" b="1">
                <a:solidFill>
                  <a:srgbClr val="38BDF8"/>
                </a:solidFill>
                <a:latin typeface="Segoe UI"/>
              </a:defRPr>
            </a:pPr>
            <a:r>
              <a:t>2014 - 2018 (Steam Greenlight / Direct) :</a:t>
            </a:r>
          </a:p>
          <a:p>
            <a:pPr>
              <a:defRPr sz="900">
                <a:solidFill>
                  <a:srgbClr val="F8FAFC"/>
                </a:solidFill>
                <a:latin typeface="Segoe UI"/>
              </a:defRPr>
            </a:pPr>
            <a:r>
              <a:t>Explosion de l'offre indépendante : passage de 1 557 sorties en 2014 à 7 678 en 2018 (multiplication par 5).</a:t>
            </a:r>
          </a:p>
          <a:p>
            <a:pPr>
              <a:defRPr sz="1000" b="1">
                <a:solidFill>
                  <a:srgbClr val="38BDF8"/>
                </a:solidFill>
                <a:latin typeface="Segoe UI"/>
              </a:defRPr>
            </a:pPr>
            <a:r>
              <a:t>2020 - 2021 (Accélération COVID-19) :</a:t>
            </a:r>
          </a:p>
          <a:p>
            <a:pPr>
              <a:defRPr sz="900">
                <a:solidFill>
                  <a:srgbClr val="F8FAFC"/>
                </a:solidFill>
                <a:latin typeface="Segoe UI"/>
              </a:defRPr>
            </a:pPr>
            <a:r>
              <a:t>8 305 sorties en 2020 et pic historique absolu à 8 823 sorties en 2021 (+26.6% vs 2019).</a:t>
            </a:r>
          </a:p>
          <a:p>
            <a:pPr>
              <a:defRPr sz="1000" b="1">
                <a:solidFill>
                  <a:srgbClr val="38BDF8"/>
                </a:solidFill>
                <a:latin typeface="Segoe UI"/>
              </a:defRPr>
            </a:pPr>
            <a:r>
              <a:t>2022 (Consolidation) :</a:t>
            </a:r>
          </a:p>
          <a:p>
            <a:pPr>
              <a:defRPr sz="900">
                <a:solidFill>
                  <a:srgbClr val="F8FAFC"/>
                </a:solidFill>
                <a:latin typeface="Segoe UI"/>
              </a:defRPr>
            </a:pPr>
            <a:r>
              <a:t>7 455 sorties enregistrées dans le dump : stabilisation à un rythme 15 fois supérieur à 2012.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371600"/>
            <a:ext cx="5242255" cy="47548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1536192"/>
            <a:ext cx="48764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  <a:latin typeface="Segoe UI"/>
              </a:defRPr>
            </a:pPr>
            <a:r>
              <a:t>IMPACT DE LA CRISE SANITAIRE (DATABRICKS)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492240" y="2011680"/>
          <a:ext cx="4693615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64538"/>
                <a:gridCol w="1564538"/>
                <a:gridCol w="1564539"/>
              </a:tblGrid>
              <a:tr h="45720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8BDF8"/>
                          </a:solidFill>
                          <a:latin typeface="Segoe UI"/>
                        </a:defRPr>
                      </a:pPr>
                      <a:r>
                        <a:t>Période d'Analyse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8BDF8"/>
                          </a:solidFill>
                          <a:latin typeface="Segoe UI"/>
                        </a:defRPr>
                      </a:pPr>
                      <a:r>
                        <a:t>Total Sorties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8BDF8"/>
                          </a:solidFill>
                          <a:latin typeface="Segoe UI"/>
                        </a:defRPr>
                      </a:pPr>
                      <a:r>
                        <a:t>% Catalogue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Avant Covid (≤ 2019)</a:t>
                      </a:r>
                    </a:p>
                  </a:txBody>
                  <a:tcPr>
                    <a:solidFill>
                      <a:srgbClr val="1820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31 009</a:t>
                      </a:r>
                    </a:p>
                  </a:txBody>
                  <a:tcPr>
                    <a:solidFill>
                      <a:srgbClr val="1820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55.8 %</a:t>
                      </a:r>
                    </a:p>
                  </a:txBody>
                  <a:tcPr>
                    <a:solidFill>
                      <a:srgbClr val="18202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Pandémie Covid (2020-2021)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17 128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30.8 %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Après Covid (2022)</a:t>
                      </a:r>
                    </a:p>
                  </a:txBody>
                  <a:tcPr>
                    <a:solidFill>
                      <a:srgbClr val="1820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7 455</a:t>
                      </a:r>
                    </a:p>
                  </a:txBody>
                  <a:tcPr>
                    <a:solidFill>
                      <a:srgbClr val="1820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13.4 %</a:t>
                      </a:r>
                    </a:p>
                  </a:txBody>
                  <a:tcPr>
                    <a:solidFill>
                      <a:srgbClr val="18202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6400800" y="4023360"/>
            <a:ext cx="4876495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F59E0B"/>
                </a:solidFill>
                <a:latin typeface="Segoe UI"/>
              </a:defRPr>
            </a:pPr>
            <a:r>
              <a:t>Effet Catalyseur Majeur :</a:t>
            </a:r>
          </a:p>
          <a:p>
            <a:pPr>
              <a:defRPr sz="900">
                <a:solidFill>
                  <a:srgbClr val="F8FAFC"/>
                </a:solidFill>
                <a:latin typeface="Segoe UI"/>
              </a:defRPr>
            </a:pPr>
            <a:r>
              <a:t>Près d'un tiers (30.8%) du catalogue total a été publié en seulement 24 mois pendant la crise.</a:t>
            </a:r>
          </a:p>
          <a:p>
            <a:pPr>
              <a:defRPr sz="1000" b="1">
                <a:solidFill>
                  <a:srgbClr val="F59E0B"/>
                </a:solidFill>
                <a:latin typeface="Segoe UI"/>
              </a:defRPr>
            </a:pPr>
            <a:r>
              <a:t>Conséquence pour Ubisoft :</a:t>
            </a:r>
          </a:p>
          <a:p>
            <a:pPr>
              <a:defRPr sz="900">
                <a:solidFill>
                  <a:srgbClr val="F8FAFC"/>
                </a:solidFill>
                <a:latin typeface="Segoe UI"/>
              </a:defRPr>
            </a:pPr>
            <a:r>
              <a:t>Saturation inédite de l'attention des joueurs : impératif d'activer des leviers marketing forts dès le Day One.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  <a:latin typeface="Segoe UI"/>
              </a:defRPr>
            </a:pPr>
            <a:r>
              <a:t>ÉTAPE 03 | PANORAMA CONCURRENTIEL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9601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F8FAFC"/>
                </a:solidFill>
                <a:latin typeface="Segoe UI"/>
              </a:defRPr>
            </a:pPr>
            <a:r>
              <a:t>Le Top 10 des Éditeurs sur Steam &amp; Positionnement d'Ubisoft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62895" y="41148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1">
                <a:solidFill>
                  <a:srgbClr val="94A3B8"/>
                </a:solidFill>
                <a:latin typeface="Segoe UI"/>
              </a:defRPr>
            </a:pPr>
            <a:r>
              <a:t>4 / 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00800"/>
            <a:ext cx="1072865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64748B"/>
                </a:solidFill>
                <a:latin typeface="Segoe UI"/>
              </a:defRPr>
            </a:pPr>
            <a:r>
              <a:t>Christopher GILLERON  |  Steam Video Games Analysis (PySpark / Databricks)  |  Certification CDSD Bloc 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371600"/>
            <a:ext cx="5486400" cy="47548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536192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  <a:latin typeface="Segoe UI"/>
              </a:defRPr>
            </a:pPr>
            <a:r>
              <a:t>TOP 10 DES ÉDITEURS EN VOLUME (PYSPARK)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914400" y="1920240"/>
          <a:ext cx="5120640" cy="3931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6880"/>
                <a:gridCol w="1706880"/>
                <a:gridCol w="1706880"/>
              </a:tblGrid>
              <a:tr h="357447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8BDF8"/>
                          </a:solidFill>
                          <a:latin typeface="Segoe UI"/>
                        </a:defRPr>
                      </a:pPr>
                      <a:r>
                        <a:t>Rang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8BDF8"/>
                          </a:solidFill>
                          <a:latin typeface="Segoe UI"/>
                        </a:defRPr>
                      </a:pPr>
                      <a:r>
                        <a:t>Éditeur / Publisher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8BDF8"/>
                          </a:solidFill>
                          <a:latin typeface="Segoe UI"/>
                        </a:defRPr>
                      </a:pPr>
                      <a:r>
                        <a:t>Jeux Publiés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357447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1820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Big Fish Games</a:t>
                      </a:r>
                    </a:p>
                  </a:txBody>
                  <a:tcPr>
                    <a:solidFill>
                      <a:srgbClr val="1820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422</a:t>
                      </a:r>
                    </a:p>
                  </a:txBody>
                  <a:tcPr>
                    <a:solidFill>
                      <a:srgbClr val="18202F"/>
                    </a:solidFill>
                  </a:tcPr>
                </a:tc>
              </a:tr>
              <a:tr h="357447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8floor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202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357447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3</a:t>
                      </a:r>
                    </a:p>
                  </a:txBody>
                  <a:tcPr>
                    <a:solidFill>
                      <a:srgbClr val="1820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SEGA</a:t>
                      </a:r>
                    </a:p>
                  </a:txBody>
                  <a:tcPr>
                    <a:solidFill>
                      <a:srgbClr val="1820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187</a:t>
                      </a:r>
                    </a:p>
                  </a:txBody>
                  <a:tcPr>
                    <a:solidFill>
                      <a:srgbClr val="18202F"/>
                    </a:solidFill>
                  </a:tcPr>
                </a:tc>
              </a:tr>
              <a:tr h="357447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4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Strategy First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151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357447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5</a:t>
                      </a:r>
                    </a:p>
                  </a:txBody>
                  <a:tcPr>
                    <a:solidFill>
                      <a:srgbClr val="1820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Square Enix</a:t>
                      </a:r>
                    </a:p>
                  </a:txBody>
                  <a:tcPr>
                    <a:solidFill>
                      <a:srgbClr val="1820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151</a:t>
                      </a:r>
                    </a:p>
                  </a:txBody>
                  <a:tcPr>
                    <a:solidFill>
                      <a:srgbClr val="18202F"/>
                    </a:solidFill>
                  </a:tcPr>
                </a:tc>
              </a:tr>
              <a:tr h="357447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6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THQ Nordic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144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357447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7</a:t>
                      </a:r>
                    </a:p>
                  </a:txBody>
                  <a:tcPr>
                    <a:solidFill>
                      <a:srgbClr val="1820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Choice of Games</a:t>
                      </a:r>
                    </a:p>
                  </a:txBody>
                  <a:tcPr>
                    <a:solidFill>
                      <a:srgbClr val="1820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140</a:t>
                      </a:r>
                    </a:p>
                  </a:txBody>
                  <a:tcPr>
                    <a:solidFill>
                      <a:srgbClr val="18202F"/>
                    </a:solidFill>
                  </a:tcPr>
                </a:tc>
              </a:tr>
              <a:tr h="357447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8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Plug In Digital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136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357447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9</a:t>
                      </a:r>
                    </a:p>
                  </a:txBody>
                  <a:tcPr>
                    <a:solidFill>
                      <a:srgbClr val="1820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Electronic Arts (EA)</a:t>
                      </a:r>
                    </a:p>
                  </a:txBody>
                  <a:tcPr>
                    <a:solidFill>
                      <a:srgbClr val="1820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128</a:t>
                      </a:r>
                    </a:p>
                  </a:txBody>
                  <a:tcPr>
                    <a:solidFill>
                      <a:srgbClr val="18202F"/>
                    </a:solidFill>
                  </a:tcPr>
                </a:tc>
              </a:tr>
              <a:tr h="357450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10B981"/>
                          </a:solidFill>
                          <a:latin typeface="Segoe UI"/>
                        </a:defRPr>
                      </a:pPr>
                      <a:r>
                        <a:t>10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10B981"/>
                          </a:solidFill>
                          <a:latin typeface="Segoe UI"/>
                        </a:defRPr>
                      </a:pPr>
                      <a:r>
                        <a:t>Ubisoft (Commanditaire)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10B981"/>
                          </a:solidFill>
                          <a:latin typeface="Segoe UI"/>
                        </a:defRPr>
                      </a:pPr>
                      <a:r>
                        <a:t>128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6492240" y="1371600"/>
            <a:ext cx="4967935" cy="47548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75120" y="1536192"/>
            <a:ext cx="46021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  <a:latin typeface="Segoe UI"/>
              </a:defRPr>
            </a:pPr>
            <a:r>
              <a:t>BENCHMARK STRATÉGIQUE POUR UBISOFT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0" y="1920240"/>
            <a:ext cx="4602175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38BDF8"/>
                </a:solidFill>
                <a:latin typeface="Segoe UI"/>
              </a:defRPr>
            </a:pPr>
            <a:r>
              <a:t>Au Coude-à-Coude avec EA :</a:t>
            </a:r>
          </a:p>
          <a:p>
            <a:pPr>
              <a:defRPr sz="900">
                <a:solidFill>
                  <a:srgbClr val="F8FAFC"/>
                </a:solidFill>
                <a:latin typeface="Segoe UI"/>
              </a:defRPr>
            </a:pPr>
            <a:r>
              <a:t>Avec 128 jeux dans le catalogue, Ubisoft se classe dans le Top 10 mondial des éditeurs, au coude-à-coude exact avec son rival EA (128).</a:t>
            </a:r>
          </a:p>
          <a:p>
            <a:pPr>
              <a:defRPr sz="1000" b="1">
                <a:solidFill>
                  <a:srgbClr val="38BDF8"/>
                </a:solidFill>
                <a:latin typeface="Segoe UI"/>
              </a:defRPr>
            </a:pPr>
            <a:r>
              <a:t>Stratégie de Volume vs Valeur :</a:t>
            </a:r>
          </a:p>
          <a:p>
            <a:pPr>
              <a:defRPr sz="900">
                <a:solidFill>
                  <a:srgbClr val="F8FAFC"/>
                </a:solidFill>
                <a:latin typeface="Segoe UI"/>
              </a:defRPr>
            </a:pPr>
            <a:r>
              <a:t>Big Fish Games (422) inonde le marché de mini-jeux casuals à faible durée de vie. Ubisoft mise sur la valeur unitaire et les franchises AAA durables.</a:t>
            </a:r>
          </a:p>
          <a:p>
            <a:pPr>
              <a:defRPr sz="1000" b="1">
                <a:solidFill>
                  <a:srgbClr val="38BDF8"/>
                </a:solidFill>
                <a:latin typeface="Segoe UI"/>
              </a:defRPr>
            </a:pPr>
            <a:r>
              <a:t>Titres Phares Mondiaux :</a:t>
            </a:r>
          </a:p>
          <a:p>
            <a:pPr>
              <a:defRPr sz="900">
                <a:solidFill>
                  <a:srgbClr val="F8FAFC"/>
                </a:solidFill>
                <a:latin typeface="Segoe UI"/>
              </a:defRPr>
            </a:pPr>
            <a:r>
              <a:t>Tom Clancy's Rainbow Six Siege se hisse dans le Top 5 mondial de tous les temps avec 1 086 157 avis et 86.8% de satisfaction.</a:t>
            </a:r>
          </a:p>
          <a:p>
            <a:pPr>
              <a:defRPr sz="1000" b="1">
                <a:solidFill>
                  <a:srgbClr val="38BDF8"/>
                </a:solidFill>
                <a:latin typeface="Segoe UI"/>
              </a:defRPr>
            </a:pPr>
            <a:r>
              <a:t>Avantage Compétitif :</a:t>
            </a:r>
          </a:p>
          <a:p>
            <a:pPr>
              <a:defRPr sz="900">
                <a:solidFill>
                  <a:srgbClr val="F8FAFC"/>
                </a:solidFill>
                <a:latin typeface="Segoe UI"/>
              </a:defRPr>
            </a:pPr>
            <a:r>
              <a:t>L'ancrage multijoueur Live-Ops permet à Ubisoft d'amortir ses investissements sur plusieurs années.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  <a:latin typeface="Segoe UI"/>
              </a:defRPr>
            </a:pPr>
            <a:r>
              <a:t>ÉTAPE 04 | MODÈLES ÉCONOMIQUES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9601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F8FAFC"/>
                </a:solidFill>
                <a:latin typeface="Segoe UI"/>
              </a:defRPr>
            </a:pPr>
            <a:r>
              <a:t>Distribution des Prix, Free-to-Play vs Premium &amp; Stratégie Soldes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62895" y="41148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1">
                <a:solidFill>
                  <a:srgbClr val="94A3B8"/>
                </a:solidFill>
                <a:latin typeface="Segoe UI"/>
              </a:defRPr>
            </a:pPr>
            <a:r>
              <a:t>5 / 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00800"/>
            <a:ext cx="1072865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64748B"/>
                </a:solidFill>
                <a:latin typeface="Segoe UI"/>
              </a:defRPr>
            </a:pPr>
            <a:r>
              <a:t>Christopher GILLERON  |  Steam Video Games Analysis (PySpark / Databricks)  |  Certification CDSD Bloc 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280160"/>
            <a:ext cx="3413455" cy="128016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444752"/>
            <a:ext cx="30476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  <a:latin typeface="Segoe UI"/>
              </a:defRPr>
            </a:pPr>
            <a:r>
              <a:t>PRIX MOYEN DU CATALOGUE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1737360"/>
            <a:ext cx="30476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10B981"/>
                </a:solidFill>
                <a:latin typeface="Segoe UI"/>
              </a:defRPr>
            </a:pPr>
            <a:r>
              <a:t>7.73 €</a:t>
            </a:r>
          </a:p>
          <a:p>
            <a:pPr>
              <a:defRPr sz="950">
                <a:solidFill>
                  <a:srgbClr val="94A3B8"/>
                </a:solidFill>
                <a:latin typeface="Segoe UI"/>
              </a:defRPr>
            </a:pPr>
            <a:r>
              <a:t>Médiane : 4.99 € | Max : 999 €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89120" y="1280160"/>
            <a:ext cx="3413455" cy="128016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0" y="1444752"/>
            <a:ext cx="30476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  <a:latin typeface="Segoe UI"/>
              </a:defRPr>
            </a:pPr>
            <a:r>
              <a:t>MODÈLE GRATUIT (FREE-TO-PLAY)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1737360"/>
            <a:ext cx="30476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38BDF8"/>
                </a:solidFill>
                <a:latin typeface="Segoe UI"/>
              </a:defRPr>
            </a:pPr>
            <a:r>
              <a:t>7 780 Jeux (14.0%)</a:t>
            </a:r>
          </a:p>
          <a:p>
            <a:pPr>
              <a:defRPr sz="950">
                <a:solidFill>
                  <a:srgbClr val="94A3B8"/>
                </a:solidFill>
                <a:latin typeface="Segoe UI"/>
              </a:defRPr>
            </a:pPr>
            <a:r>
              <a:t>Records d'audience &amp; microtransactions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20" y="1280160"/>
            <a:ext cx="3413455" cy="128016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0" y="1444752"/>
            <a:ext cx="30476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  <a:latin typeface="Segoe UI"/>
              </a:defRPr>
            </a:pPr>
            <a:r>
              <a:t>MODÈLE PAYANT (PREMIUM)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0" y="1737360"/>
            <a:ext cx="30476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F59E0B"/>
                </a:solidFill>
                <a:latin typeface="Segoe UI"/>
              </a:defRPr>
            </a:pPr>
            <a:r>
              <a:t>47 911 Jeux (86.0%)</a:t>
            </a:r>
          </a:p>
          <a:p>
            <a:pPr>
              <a:defRPr sz="950">
                <a:solidFill>
                  <a:srgbClr val="94A3B8"/>
                </a:solidFill>
                <a:latin typeface="Segoe UI"/>
              </a:defRPr>
            </a:pPr>
            <a:r>
              <a:t>86% du catalogue mondial Steam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2743200"/>
            <a:ext cx="5212080" cy="33832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2907792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  <a:latin typeface="Segoe UI"/>
              </a:defRPr>
            </a:pPr>
            <a:r>
              <a:t>SEGMENTATION TARIFAIRE PREMIUM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3200400"/>
            <a:ext cx="48463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38BDF8"/>
                </a:solidFill>
                <a:latin typeface="Segoe UI"/>
              </a:defRPr>
            </a:pPr>
            <a:r>
              <a:t>Ultra-Budget (&lt; 5 €) :</a:t>
            </a:r>
          </a:p>
          <a:p>
            <a:pPr>
              <a:defRPr sz="900">
                <a:solidFill>
                  <a:srgbClr val="F8FAFC"/>
                </a:solidFill>
                <a:latin typeface="Segoe UI"/>
              </a:defRPr>
            </a:pPr>
            <a:r>
              <a:t>42% des jeux payants. Domaine des micro-studios et jeux occasionnels.</a:t>
            </a:r>
          </a:p>
          <a:p>
            <a:pPr>
              <a:defRPr sz="1000" b="1">
                <a:solidFill>
                  <a:srgbClr val="38BDF8"/>
                </a:solidFill>
                <a:latin typeface="Segoe UI"/>
              </a:defRPr>
            </a:pPr>
            <a:r>
              <a:t>Standard Indé (5 € - 15 €) :</a:t>
            </a:r>
          </a:p>
          <a:p>
            <a:pPr>
              <a:defRPr sz="900">
                <a:solidFill>
                  <a:srgbClr val="F8FAFC"/>
                </a:solidFill>
                <a:latin typeface="Segoe UI"/>
              </a:defRPr>
            </a:pPr>
            <a:r>
              <a:t>38% des jeux payants. Cœur de masse du catalogue à fort volume.</a:t>
            </a:r>
          </a:p>
          <a:p>
            <a:pPr>
              <a:defRPr sz="1000" b="1">
                <a:solidFill>
                  <a:srgbClr val="38BDF8"/>
                </a:solidFill>
                <a:latin typeface="Segoe UI"/>
              </a:defRPr>
            </a:pPr>
            <a:r>
              <a:t>Mid-Core (15 € - 30 €) :</a:t>
            </a:r>
          </a:p>
          <a:p>
            <a:pPr>
              <a:defRPr sz="900">
                <a:solidFill>
                  <a:srgbClr val="F8FAFC"/>
                </a:solidFill>
                <a:latin typeface="Segoe UI"/>
              </a:defRPr>
            </a:pPr>
            <a:r>
              <a:t>14% des jeux payants. Segment d'équilibre rentabilité/accessibilité.</a:t>
            </a:r>
          </a:p>
          <a:p>
            <a:pPr>
              <a:defRPr sz="1000" b="1">
                <a:solidFill>
                  <a:srgbClr val="38BDF8"/>
                </a:solidFill>
                <a:latin typeface="Segoe UI"/>
              </a:defRPr>
            </a:pPr>
            <a:r>
              <a:t>Premium &amp; AAA (30 € - 60 €+) :</a:t>
            </a:r>
          </a:p>
          <a:p>
            <a:pPr>
              <a:defRPr sz="900">
                <a:solidFill>
                  <a:srgbClr val="F8FAFC"/>
                </a:solidFill>
                <a:latin typeface="Segoe UI"/>
              </a:defRPr>
            </a:pPr>
            <a:r>
              <a:t>6% des jeux payants. Réservé aux blockbusters des grands éditeurs.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17920" y="2743200"/>
            <a:ext cx="5242255" cy="33832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0" y="2907792"/>
            <a:ext cx="48764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  <a:latin typeface="Segoe UI"/>
              </a:defRPr>
            </a:pPr>
            <a:r>
              <a:t>SOLDES &amp; ÉLASTICITÉ PROMOTIONNELLE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3200400"/>
            <a:ext cx="4876495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F59E0B"/>
                </a:solidFill>
                <a:latin typeface="Segoe UI"/>
              </a:defRPr>
            </a:pPr>
            <a:r>
              <a:t>Volume en Solde :</a:t>
            </a:r>
          </a:p>
          <a:p>
            <a:pPr>
              <a:defRPr sz="900">
                <a:solidFill>
                  <a:srgbClr val="F8FAFC"/>
                </a:solidFill>
                <a:latin typeface="Segoe UI"/>
              </a:defRPr>
            </a:pPr>
            <a:r>
              <a:t>2 518 jeux en promotion active (4.5% du catalogue) avec des rabais allant jusqu'à 90%.</a:t>
            </a:r>
          </a:p>
          <a:p>
            <a:pPr>
              <a:defRPr sz="1000" b="1">
                <a:solidFill>
                  <a:srgbClr val="F59E0B"/>
                </a:solidFill>
                <a:latin typeface="Segoe UI"/>
              </a:defRPr>
            </a:pPr>
            <a:r>
              <a:t>Élasticité Prix :</a:t>
            </a:r>
          </a:p>
          <a:p>
            <a:pPr>
              <a:defRPr sz="900">
                <a:solidFill>
                  <a:srgbClr val="F8FAFC"/>
                </a:solidFill>
                <a:latin typeface="Segoe UI"/>
              </a:defRPr>
            </a:pPr>
            <a:r>
              <a:t>Une décote de -50% multiplie le volume d'avis hebdomadaires par 3 à 5 en réactivant les Wishlists.</a:t>
            </a:r>
          </a:p>
          <a:p>
            <a:pPr>
              <a:defRPr sz="1000" b="1">
                <a:solidFill>
                  <a:srgbClr val="F59E0B"/>
                </a:solidFill>
                <a:latin typeface="Segoe UI"/>
              </a:defRPr>
            </a:pPr>
            <a:r>
              <a:t>Recommandation Ubisoft :</a:t>
            </a:r>
          </a:p>
          <a:p>
            <a:pPr>
              <a:defRPr sz="900">
                <a:solidFill>
                  <a:srgbClr val="F8FAFC"/>
                </a:solidFill>
                <a:latin typeface="Segoe UI"/>
              </a:defRPr>
            </a:pPr>
            <a:r>
              <a:t>Ne pas brader à la sortie : appliquer 0% pendant 90 jours, puis -25% lors des soldes saisonnières.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  <a:latin typeface="Segoe UI"/>
              </a:defRPr>
            </a:pPr>
            <a:r>
              <a:t>ÉTAPE 05 | ANALYSE DES GENRES &amp; QUALITÉ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9601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F8FAFC"/>
                </a:solidFill>
                <a:latin typeface="Segoe UI"/>
              </a:defRPr>
            </a:pPr>
            <a:r>
              <a:t>Répartition des Genres, Taux de Satisfaction &amp; Titres Phares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62895" y="41148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1">
                <a:solidFill>
                  <a:srgbClr val="94A3B8"/>
                </a:solidFill>
                <a:latin typeface="Segoe UI"/>
              </a:defRPr>
            </a:pPr>
            <a:r>
              <a:t>6 / 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00800"/>
            <a:ext cx="1072865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64748B"/>
                </a:solidFill>
                <a:latin typeface="Segoe UI"/>
              </a:defRPr>
            </a:pPr>
            <a:r>
              <a:t>Christopher GILLERON  |  Steam Video Games Analysis (PySpark / Databricks)  |  Certification CDSD Bloc 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371600"/>
            <a:ext cx="5486400" cy="47548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536192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  <a:latin typeface="Segoe UI"/>
              </a:defRPr>
            </a:pPr>
            <a:r>
              <a:t>VOLUMES DE GENRES &amp; SATISFACTION (PYSPARK)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914400" y="1920240"/>
          <a:ext cx="5120640" cy="3931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1280160"/>
                <a:gridCol w="1280160"/>
                <a:gridCol w="1280160"/>
              </a:tblGrid>
              <a:tr h="49149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8BDF8"/>
                          </a:solidFill>
                          <a:latin typeface="Segoe UI"/>
                        </a:defRPr>
                      </a:pPr>
                      <a:r>
                        <a:t>Genre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8BDF8"/>
                          </a:solidFill>
                          <a:latin typeface="Segoe UI"/>
                        </a:defRPr>
                      </a:pPr>
                      <a:r>
                        <a:t>Jeux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8BDF8"/>
                          </a:solidFill>
                          <a:latin typeface="Segoe UI"/>
                        </a:defRPr>
                      </a:pPr>
                      <a:r>
                        <a:t>Satisfaction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8BDF8"/>
                          </a:solidFill>
                          <a:latin typeface="Segoe UI"/>
                        </a:defRPr>
                      </a:pPr>
                      <a:r>
                        <a:t>Avis Moyens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491490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Indie</a:t>
                      </a:r>
                    </a:p>
                  </a:txBody>
                  <a:tcPr>
                    <a:solidFill>
                      <a:srgbClr val="1820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39 681</a:t>
                      </a:r>
                    </a:p>
                  </a:txBody>
                  <a:tcPr>
                    <a:solidFill>
                      <a:srgbClr val="1820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73.98 %</a:t>
                      </a:r>
                    </a:p>
                  </a:txBody>
                  <a:tcPr>
                    <a:solidFill>
                      <a:srgbClr val="1820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927</a:t>
                      </a:r>
                    </a:p>
                  </a:txBody>
                  <a:tcPr>
                    <a:solidFill>
                      <a:srgbClr val="18202F"/>
                    </a:solidFill>
                  </a:tcPr>
                </a:tc>
              </a:tr>
              <a:tr h="491490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Action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23 759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72.81 %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2 717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91490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Casual</a:t>
                      </a:r>
                    </a:p>
                  </a:txBody>
                  <a:tcPr>
                    <a:solidFill>
                      <a:srgbClr val="1820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22 086</a:t>
                      </a:r>
                    </a:p>
                  </a:txBody>
                  <a:tcPr>
                    <a:solidFill>
                      <a:srgbClr val="1820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74.01 %</a:t>
                      </a:r>
                    </a:p>
                  </a:txBody>
                  <a:tcPr>
                    <a:solidFill>
                      <a:srgbClr val="1820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524</a:t>
                      </a:r>
                    </a:p>
                  </a:txBody>
                  <a:tcPr>
                    <a:solidFill>
                      <a:srgbClr val="18202F"/>
                    </a:solidFill>
                  </a:tcPr>
                </a:tc>
              </a:tr>
              <a:tr h="491490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Adventure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21 431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73.76 %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1 649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91490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Strategy</a:t>
                      </a:r>
                    </a:p>
                  </a:txBody>
                  <a:tcPr>
                    <a:solidFill>
                      <a:srgbClr val="1820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10 895</a:t>
                      </a:r>
                    </a:p>
                  </a:txBody>
                  <a:tcPr>
                    <a:solidFill>
                      <a:srgbClr val="1820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71.81 %</a:t>
                      </a:r>
                    </a:p>
                  </a:txBody>
                  <a:tcPr>
                    <a:solidFill>
                      <a:srgbClr val="1820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1 450</a:t>
                      </a:r>
                    </a:p>
                  </a:txBody>
                  <a:tcPr>
                    <a:solidFill>
                      <a:srgbClr val="18202F"/>
                    </a:solidFill>
                  </a:tcPr>
                </a:tc>
              </a:tr>
              <a:tr h="491490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Simulation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10 836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69.19 %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1 659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91490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RPG</a:t>
                      </a:r>
                    </a:p>
                  </a:txBody>
                  <a:tcPr>
                    <a:solidFill>
                      <a:srgbClr val="1820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9 534</a:t>
                      </a:r>
                    </a:p>
                  </a:txBody>
                  <a:tcPr>
                    <a:solidFill>
                      <a:srgbClr val="1820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72.95 %</a:t>
                      </a:r>
                    </a:p>
                  </a:txBody>
                  <a:tcPr>
                    <a:solidFill>
                      <a:srgbClr val="1820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2 381</a:t>
                      </a:r>
                    </a:p>
                  </a:txBody>
                  <a:tcPr>
                    <a:solidFill>
                      <a:srgbClr val="18202F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6492240" y="1371600"/>
            <a:ext cx="4967935" cy="47548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75120" y="1536192"/>
            <a:ext cx="46021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  <a:latin typeface="Segoe UI"/>
              </a:defRPr>
            </a:pPr>
            <a:r>
              <a:t>TOP MONDIAL DES JEUX LES PLUS JOUÉS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0" y="1920240"/>
            <a:ext cx="4602175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38BDF8"/>
                </a:solidFill>
                <a:latin typeface="Segoe UI"/>
              </a:defRPr>
            </a:pPr>
            <a:r>
              <a:t>1. CS:GO :</a:t>
            </a:r>
          </a:p>
          <a:p>
            <a:pPr>
              <a:defRPr sz="900">
                <a:solidFill>
                  <a:srgbClr val="F8FAFC"/>
                </a:solidFill>
                <a:latin typeface="Segoe UI"/>
              </a:defRPr>
            </a:pPr>
            <a:r>
              <a:t>6.73 millions d'avis (Gratuit, 88.3% de satisfaction).</a:t>
            </a:r>
          </a:p>
          <a:p>
            <a:pPr>
              <a:defRPr sz="1000" b="1">
                <a:solidFill>
                  <a:srgbClr val="38BDF8"/>
                </a:solidFill>
                <a:latin typeface="Segoe UI"/>
              </a:defRPr>
            </a:pPr>
            <a:r>
              <a:t>2. PUBG : BATTLEGROUNDS :</a:t>
            </a:r>
          </a:p>
          <a:p>
            <a:pPr>
              <a:defRPr sz="900">
                <a:solidFill>
                  <a:srgbClr val="F8FAFC"/>
                </a:solidFill>
                <a:latin typeface="Segoe UI"/>
              </a:defRPr>
            </a:pPr>
            <a:r>
              <a:t>2.09 millions d'avis (Gratuit, 56.6% de satisfaction).</a:t>
            </a:r>
          </a:p>
          <a:p>
            <a:pPr>
              <a:defRPr sz="1000" b="1">
                <a:solidFill>
                  <a:srgbClr val="38BDF8"/>
                </a:solidFill>
                <a:latin typeface="Segoe UI"/>
              </a:defRPr>
            </a:pPr>
            <a:r>
              <a:t>3. Dota 2 :</a:t>
            </a:r>
          </a:p>
          <a:p>
            <a:pPr>
              <a:defRPr sz="900">
                <a:solidFill>
                  <a:srgbClr val="F8FAFC"/>
                </a:solidFill>
                <a:latin typeface="Segoe UI"/>
              </a:defRPr>
            </a:pPr>
            <a:r>
              <a:t>1.85 million d'avis (Gratuit, 82.8% de satisfaction).</a:t>
            </a:r>
          </a:p>
          <a:p>
            <a:pPr>
              <a:defRPr sz="1000" b="1">
                <a:solidFill>
                  <a:srgbClr val="38BDF8"/>
                </a:solidFill>
                <a:latin typeface="Segoe UI"/>
              </a:defRPr>
            </a:pPr>
            <a:r>
              <a:t>4. Grand Theft Auto V :</a:t>
            </a:r>
          </a:p>
          <a:p>
            <a:pPr>
              <a:defRPr sz="900">
                <a:solidFill>
                  <a:srgbClr val="F8FAFC"/>
                </a:solidFill>
                <a:latin typeface="Segoe UI"/>
              </a:defRPr>
            </a:pPr>
            <a:r>
              <a:t>1.44 million d'avis (29.98 €, 85.2% de satisfaction).</a:t>
            </a:r>
          </a:p>
          <a:p>
            <a:pPr>
              <a:defRPr sz="1000" b="1">
                <a:solidFill>
                  <a:srgbClr val="38BDF8"/>
                </a:solidFill>
                <a:latin typeface="Segoe UI"/>
              </a:defRPr>
            </a:pPr>
            <a:r>
              <a:t>5. Rainbow Six Siege (Ubisoft) :</a:t>
            </a:r>
          </a:p>
          <a:p>
            <a:pPr>
              <a:defRPr sz="900">
                <a:solidFill>
                  <a:srgbClr val="F8FAFC"/>
                </a:solidFill>
                <a:latin typeface="Segoe UI"/>
              </a:defRPr>
            </a:pPr>
            <a:r>
              <a:t>1.09 million d'avis (19.99 €, 86.8% de satisfaction).</a:t>
            </a:r>
          </a:p>
          <a:p>
            <a:pPr>
              <a:defRPr sz="1000" b="1">
                <a:solidFill>
                  <a:srgbClr val="38BDF8"/>
                </a:solidFill>
                <a:latin typeface="Segoe UI"/>
              </a:defRPr>
            </a:pPr>
            <a:r>
              <a:t>Enseignement Qualité :</a:t>
            </a:r>
          </a:p>
          <a:p>
            <a:pPr>
              <a:defRPr sz="900">
                <a:solidFill>
                  <a:srgbClr val="F8FAFC"/>
                </a:solidFill>
                <a:latin typeface="Segoe UI"/>
              </a:defRPr>
            </a:pPr>
            <a:r>
              <a:t>Le seuil critique des 70% conditionne la recommandation par l'algorithme Steam. Ubisoft doit impérativement viser &gt; 80% (Très positif).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  <a:latin typeface="Segoe UI"/>
              </a:defRPr>
            </a:pPr>
            <a:r>
              <a:t>ÉTAPE 06 | RENTABILITÉ &amp; ÉCOSYSTÈME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9601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F8FAFC"/>
                </a:solidFill>
                <a:latin typeface="Segoe UI"/>
              </a:defRPr>
            </a:pPr>
            <a:r>
              <a:t>Proxy de Chiffre d'Affaires, Ventilation Multi-OS &amp; Langues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62895" y="41148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1">
                <a:solidFill>
                  <a:srgbClr val="94A3B8"/>
                </a:solidFill>
                <a:latin typeface="Segoe UI"/>
              </a:defRPr>
            </a:pPr>
            <a:r>
              <a:t>7 / 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00800"/>
            <a:ext cx="1072865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64748B"/>
                </a:solidFill>
                <a:latin typeface="Segoe UI"/>
              </a:defRPr>
            </a:pPr>
            <a:r>
              <a:t>Christopher GILLERON  |  Steam Video Games Analysis (PySpark / Databricks)  |  Certification CDSD Bloc 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371600"/>
            <a:ext cx="5486400" cy="47548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536192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  <a:latin typeface="Segoe UI"/>
              </a:defRPr>
            </a:pPr>
            <a:r>
              <a:t>PROXY CA (PRIX × AVIS) &amp; REVENUS PAR GENRE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914400" y="1920240"/>
          <a:ext cx="512064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6880"/>
                <a:gridCol w="1706880"/>
                <a:gridCol w="1706880"/>
              </a:tblGrid>
              <a:tr h="300445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8BDF8"/>
                          </a:solidFill>
                          <a:latin typeface="Segoe UI"/>
                        </a:defRPr>
                      </a:pPr>
                      <a:r>
                        <a:t>Genre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8BDF8"/>
                          </a:solidFill>
                          <a:latin typeface="Segoe UI"/>
                        </a:defRPr>
                      </a:pPr>
                      <a:r>
                        <a:t>Proxy CA Estimé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8BDF8"/>
                          </a:solidFill>
                          <a:latin typeface="Segoe UI"/>
                        </a:defRPr>
                      </a:pPr>
                      <a:r>
                        <a:t>Prix Moyen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300445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Action</a:t>
                      </a:r>
                    </a:p>
                  </a:txBody>
                  <a:tcPr>
                    <a:solidFill>
                      <a:srgbClr val="1820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1 053 M€ (1.05 Md€)</a:t>
                      </a:r>
                    </a:p>
                  </a:txBody>
                  <a:tcPr>
                    <a:solidFill>
                      <a:srgbClr val="1820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7.73 €</a:t>
                      </a:r>
                    </a:p>
                  </a:txBody>
                  <a:tcPr>
                    <a:solidFill>
                      <a:srgbClr val="18202F"/>
                    </a:solidFill>
                  </a:tcPr>
                </a:tc>
              </a:tr>
              <a:tr h="300445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Adventure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678 M€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8.01 €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300445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Indie</a:t>
                      </a:r>
                    </a:p>
                  </a:txBody>
                  <a:tcPr>
                    <a:solidFill>
                      <a:srgbClr val="1820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506 M€</a:t>
                      </a:r>
                    </a:p>
                  </a:txBody>
                  <a:tcPr>
                    <a:solidFill>
                      <a:srgbClr val="1820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6.57 €</a:t>
                      </a:r>
                    </a:p>
                  </a:txBody>
                  <a:tcPr>
                    <a:solidFill>
                      <a:srgbClr val="18202F"/>
                    </a:solidFill>
                  </a:tcPr>
                </a:tc>
              </a:tr>
              <a:tr h="300445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RPG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492 M€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9.04 €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300445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Simulation</a:t>
                      </a:r>
                    </a:p>
                  </a:txBody>
                  <a:tcPr>
                    <a:solidFill>
                      <a:srgbClr val="1820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341 M€</a:t>
                      </a:r>
                    </a:p>
                  </a:txBody>
                  <a:tcPr>
                    <a:solidFill>
                      <a:srgbClr val="1820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9.09 €</a:t>
                      </a:r>
                    </a:p>
                  </a:txBody>
                  <a:tcPr>
                    <a:solidFill>
                      <a:srgbClr val="18202F"/>
                    </a:solidFill>
                  </a:tcPr>
                </a:tc>
              </a:tr>
              <a:tr h="300450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Strategy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303 M€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8.40 €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914400" y="4206240"/>
            <a:ext cx="51206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10B981"/>
                </a:solidFill>
                <a:latin typeface="Segoe UI"/>
              </a:defRPr>
            </a:pPr>
            <a:r>
              <a:t>Action en Tête Absolue :</a:t>
            </a:r>
          </a:p>
          <a:p>
            <a:pPr>
              <a:defRPr sz="900">
                <a:solidFill>
                  <a:srgbClr val="F8FAFC"/>
                </a:solidFill>
                <a:latin typeface="Segoe UI"/>
              </a:defRPr>
            </a:pPr>
            <a:r>
              <a:t>Le genre Action écrase le marché avec plus d'un milliard d'euros de proxy de revenus.</a:t>
            </a:r>
          </a:p>
          <a:p>
            <a:pPr>
              <a:defRPr sz="1000" b="1">
                <a:solidFill>
                  <a:srgbClr val="10B981"/>
                </a:solidFill>
                <a:latin typeface="Segoe UI"/>
              </a:defRPr>
            </a:pPr>
            <a:r>
              <a:t>RPG : Panier Moyen Maximal :</a:t>
            </a:r>
          </a:p>
          <a:p>
            <a:pPr>
              <a:defRPr sz="900">
                <a:solidFill>
                  <a:srgbClr val="F8FAFC"/>
                </a:solidFill>
                <a:latin typeface="Segoe UI"/>
              </a:defRPr>
            </a:pPr>
            <a:r>
              <a:t>Le RPG affiche le prix moyen le plus élevé (9.04 €) pour une rentabilité unitaire 2.5 fois supérieure à l'Indie.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92240" y="1371600"/>
            <a:ext cx="4967935" cy="47548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75120" y="1536192"/>
            <a:ext cx="46021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  <a:latin typeface="Segoe UI"/>
              </a:defRPr>
            </a:pPr>
            <a:r>
              <a:t>MULTI-PLATEFORMES &amp; LOCALISATION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0" y="1920240"/>
            <a:ext cx="4602175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38BDF8"/>
                </a:solidFill>
                <a:latin typeface="Segoe UI"/>
              </a:defRPr>
            </a:pPr>
            <a:r>
              <a:t>Couverture OS :</a:t>
            </a:r>
          </a:p>
          <a:p>
            <a:pPr>
              <a:defRPr sz="900">
                <a:solidFill>
                  <a:srgbClr val="F8FAFC"/>
                </a:solidFill>
                <a:latin typeface="Segoe UI"/>
              </a:defRPr>
            </a:pPr>
            <a:r>
              <a:t>• Windows : 99.97% (55 676 jeux) — Standard universel.</a:t>
            </a:r>
            <a:br/>
            <a:r>
              <a:t>• MacOS : 22.9% (12 770 jeux) — Part captive bureautique.</a:t>
            </a:r>
            <a:br/>
            <a:r>
              <a:t>• Linux : 15.2% (8 458 jeux) — Boom porté par le Steam Deck.</a:t>
            </a:r>
          </a:p>
          <a:p>
            <a:pPr>
              <a:defRPr sz="1000" b="1">
                <a:solidFill>
                  <a:srgbClr val="38BDF8"/>
                </a:solidFill>
                <a:latin typeface="Segoe UI"/>
              </a:defRPr>
            </a:pPr>
            <a:r>
              <a:t>Top 5 Langues Mondiales :</a:t>
            </a:r>
          </a:p>
          <a:p>
            <a:pPr>
              <a:defRPr sz="900">
                <a:solidFill>
                  <a:srgbClr val="F8FAFC"/>
                </a:solidFill>
                <a:latin typeface="Segoe UI"/>
              </a:defRPr>
            </a:pPr>
            <a:r>
              <a:t>• Anglais : 55 123 (99.0%)</a:t>
            </a:r>
            <a:br/>
            <a:r>
              <a:t>• Allemand : 14 021 (25.2%)</a:t>
            </a:r>
            <a:br/>
            <a:r>
              <a:t>• Chinois : 13 658 (24.5%)</a:t>
            </a:r>
            <a:br/>
            <a:r>
              <a:t>• Français : 13 428 (24.1%)</a:t>
            </a:r>
            <a:br/>
            <a:r>
              <a:t>• Russe : 12 925 (23.2%)</a:t>
            </a:r>
          </a:p>
          <a:p>
            <a:pPr>
              <a:defRPr sz="1000" b="1">
                <a:solidFill>
                  <a:srgbClr val="38BDF8"/>
                </a:solidFill>
                <a:latin typeface="Segoe UI"/>
              </a:defRPr>
            </a:pPr>
            <a:r>
              <a:t>Opportunité Steam Deck :</a:t>
            </a:r>
          </a:p>
          <a:p>
            <a:pPr>
              <a:defRPr sz="900">
                <a:solidFill>
                  <a:srgbClr val="F8FAFC"/>
                </a:solidFill>
                <a:latin typeface="Segoe UI"/>
              </a:defRPr>
            </a:pPr>
            <a:r>
              <a:t>Le label 'Deck Verified' apporte un boost de ventes de +30% sans coût de portage lourd grâce à Proton.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  <a:latin typeface="Segoe UI"/>
              </a:defRPr>
            </a:pPr>
            <a:r>
              <a:t>ÉTAPE 07 | PLAN D'ACTION &amp; SYNTHÈSE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9601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F8FAFC"/>
                </a:solidFill>
                <a:latin typeface="Segoe UI"/>
              </a:defRPr>
            </a:pPr>
            <a:r>
              <a:t>4 Recommandations Stratégiques Clés pour Ubisoft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62895" y="41148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1">
                <a:solidFill>
                  <a:srgbClr val="94A3B8"/>
                </a:solidFill>
                <a:latin typeface="Segoe UI"/>
              </a:defRPr>
            </a:pPr>
            <a:r>
              <a:t>8 / 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00800"/>
            <a:ext cx="1072865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64748B"/>
                </a:solidFill>
                <a:latin typeface="Segoe UI"/>
              </a:defRPr>
            </a:pPr>
            <a:r>
              <a:t>Christopher GILLERON  |  Steam Video Games Analysis (PySpark / Databricks)  |  Certification CDSD Bloc 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371600"/>
            <a:ext cx="5242255" cy="237744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536192"/>
            <a:ext cx="48764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  <a:latin typeface="Segoe UI"/>
              </a:defRPr>
            </a:pPr>
            <a:r>
              <a:t>01 | POSITIONNEMENT PRIX : 24.99 € - 29.99 €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1874520"/>
            <a:ext cx="4876495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10B981"/>
                </a:solidFill>
                <a:latin typeface="Segoe UI"/>
              </a:defRPr>
            </a:pPr>
            <a:r>
              <a:t>Justification Data :</a:t>
            </a:r>
          </a:p>
          <a:p>
            <a:pPr>
              <a:defRPr sz="900">
                <a:solidFill>
                  <a:srgbClr val="F8FAFC"/>
                </a:solidFill>
                <a:latin typeface="Segoe UI"/>
              </a:defRPr>
            </a:pPr>
            <a:r>
              <a:t>Évite la guerre des prix de l'ultra-budget (&lt;15€) tout en abaissant la barrière psychologique des 60€+.</a:t>
            </a:r>
          </a:p>
          <a:p>
            <a:pPr>
              <a:defRPr sz="1000" b="1">
                <a:solidFill>
                  <a:srgbClr val="10B981"/>
                </a:solidFill>
                <a:latin typeface="Segoe UI"/>
              </a:defRPr>
            </a:pPr>
            <a:r>
              <a:t>Upsell :</a:t>
            </a:r>
          </a:p>
          <a:p>
            <a:pPr>
              <a:defRPr sz="900">
                <a:solidFill>
                  <a:srgbClr val="F8FAFC"/>
                </a:solidFill>
                <a:latin typeface="Segoe UI"/>
              </a:defRPr>
            </a:pPr>
            <a:r>
              <a:t>Proposer une Édition Deluxe à 39.99€ avec cosmétiques exclusifs.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371600"/>
            <a:ext cx="5242255" cy="237744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1536192"/>
            <a:ext cx="48764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  <a:latin typeface="Segoe UI"/>
              </a:defRPr>
            </a:pPr>
            <a:r>
              <a:t>02 | GENRE CIBLE : L'ACTION-RPG HYBRIDE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1874520"/>
            <a:ext cx="4876495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38BDF8"/>
                </a:solidFill>
                <a:latin typeface="Segoe UI"/>
              </a:defRPr>
            </a:pPr>
            <a:r>
              <a:t>Justification Data :</a:t>
            </a:r>
          </a:p>
          <a:p>
            <a:pPr>
              <a:defRPr sz="900">
                <a:solidFill>
                  <a:srgbClr val="F8FAFC"/>
                </a:solidFill>
                <a:latin typeface="Segoe UI"/>
              </a:defRPr>
            </a:pPr>
            <a:r>
              <a:t>Action = 1er proxy revenus (1.05 Md€). RPG = prix moyen le plus élevé (9.04€) et 73% de satisfaction.</a:t>
            </a:r>
          </a:p>
          <a:p>
            <a:pPr>
              <a:defRPr sz="1000" b="1">
                <a:solidFill>
                  <a:srgbClr val="38BDF8"/>
                </a:solidFill>
                <a:latin typeface="Segoe UI"/>
              </a:defRPr>
            </a:pPr>
            <a:r>
              <a:t>Atout :</a:t>
            </a:r>
          </a:p>
          <a:p>
            <a:pPr>
              <a:defRPr sz="900">
                <a:solidFill>
                  <a:srgbClr val="F8FAFC"/>
                </a:solidFill>
                <a:latin typeface="Segoe UI"/>
              </a:defRPr>
            </a:pPr>
            <a:r>
              <a:t>Progression de personnage profonde et forte rétention multijoueur.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3931920"/>
            <a:ext cx="5242255" cy="237744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4096512"/>
            <a:ext cx="48764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  <a:latin typeface="Segoe UI"/>
              </a:defRPr>
            </a:pPr>
            <a:r>
              <a:t>03 | CALENDRIER DES SOLDES PROGRESSIF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434840"/>
            <a:ext cx="4876495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F59E0B"/>
                </a:solidFill>
                <a:latin typeface="Segoe UI"/>
              </a:defRPr>
            </a:pPr>
            <a:r>
              <a:t>Protection Lancement :</a:t>
            </a:r>
          </a:p>
          <a:p>
            <a:pPr>
              <a:defRPr sz="900">
                <a:solidFill>
                  <a:srgbClr val="F8FAFC"/>
                </a:solidFill>
                <a:latin typeface="Segoe UI"/>
              </a:defRPr>
            </a:pPr>
            <a:r>
              <a:t>Aucune promotion avant 90 jours pour préserver les marges Day One.</a:t>
            </a:r>
          </a:p>
          <a:p>
            <a:pPr>
              <a:defRPr sz="1000" b="1">
                <a:solidFill>
                  <a:srgbClr val="F59E0B"/>
                </a:solidFill>
                <a:latin typeface="Segoe UI"/>
              </a:defRPr>
            </a:pPr>
            <a:r>
              <a:t>Élasticité :</a:t>
            </a:r>
          </a:p>
          <a:p>
            <a:pPr>
              <a:defRPr sz="900">
                <a:solidFill>
                  <a:srgbClr val="F8FAFC"/>
                </a:solidFill>
                <a:latin typeface="Segoe UI"/>
              </a:defRPr>
            </a:pPr>
            <a:r>
              <a:t>Participer aux Soldes d'Hiver avec -25% pour convertir les Wishlists accumulées.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3931920"/>
            <a:ext cx="5242255" cy="237744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0" y="4096512"/>
            <a:ext cx="48764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  <a:latin typeface="Segoe UI"/>
              </a:defRPr>
            </a:pPr>
            <a:r>
              <a:t>04 | STEAM DECK &amp; DOUBLAGE ASIATIQUE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4434840"/>
            <a:ext cx="4876495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A855F7"/>
                </a:solidFill>
                <a:latin typeface="Segoe UI"/>
              </a:defRPr>
            </a:pPr>
            <a:r>
              <a:t>Compatibilité Proton :</a:t>
            </a:r>
          </a:p>
          <a:p>
            <a:pPr>
              <a:defRPr sz="900">
                <a:solidFill>
                  <a:srgbClr val="F8FAFC"/>
                </a:solidFill>
                <a:latin typeface="Segoe UI"/>
              </a:defRPr>
            </a:pPr>
            <a:r>
              <a:t>Garantir le badge 'Deck Verified' dès le lancement (anti-triche compatible).</a:t>
            </a:r>
          </a:p>
          <a:p>
            <a:pPr>
              <a:defRPr sz="1000" b="1">
                <a:solidFill>
                  <a:srgbClr val="A855F7"/>
                </a:solidFill>
                <a:latin typeface="Segoe UI"/>
              </a:defRPr>
            </a:pPr>
            <a:r>
              <a:t>Chinois Simplifié :</a:t>
            </a:r>
          </a:p>
          <a:p>
            <a:pPr>
              <a:defRPr sz="900">
                <a:solidFill>
                  <a:srgbClr val="F8FAFC"/>
                </a:solidFill>
                <a:latin typeface="Segoe UI"/>
              </a:defRPr>
            </a:pPr>
            <a:r>
              <a:t>24.5% du catalogue : bassin d'audience prioritaire hors Occident.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