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BLOC 2 — ANALYSE EXPLORATOIRE DE DONNÉES BIG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920240"/>
            <a:ext cx="85340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Steam Video Games Analysis</a:t>
            </a:r>
          </a:p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Exploration Big Data &amp; Stratégie Métier sur le Marché PC Gaming avec PySpark &amp; Databricks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383280"/>
            <a:ext cx="2651760" cy="12801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20440"/>
            <a:ext cx="2286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8BDF8"/>
                </a:solidFill>
                <a:latin typeface="Segoe UI"/>
              </a:defRPr>
            </a:pPr>
            <a:r>
              <a:t>55 691</a:t>
            </a:r>
          </a:p>
          <a:p>
            <a:pPr>
              <a:defRPr sz="1000" b="1">
                <a:solidFill>
                  <a:srgbClr val="F8FAFC"/>
                </a:solidFill>
                <a:latin typeface="Segoe UI"/>
              </a:defRPr>
            </a:pPr>
            <a:r>
              <a:t>JEUX ANALYSÉS</a:t>
            </a:r>
          </a:p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Dump JSON multi-lignes AWS S3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3383280"/>
            <a:ext cx="2651760" cy="12801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3520440"/>
            <a:ext cx="2286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0B981"/>
                </a:solidFill>
                <a:latin typeface="Segoe UI"/>
              </a:defRPr>
            </a:pPr>
            <a:r>
              <a:t>1.05 Md€</a:t>
            </a:r>
          </a:p>
          <a:p>
            <a:pPr>
              <a:defRPr sz="1000" b="1">
                <a:solidFill>
                  <a:srgbClr val="F8FAFC"/>
                </a:solidFill>
                <a:latin typeface="Segoe UI"/>
              </a:defRPr>
            </a:pPr>
            <a:r>
              <a:t>PROXY REVENUS ACTION</a:t>
            </a:r>
          </a:p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Genre dominant de l'industrie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3383280"/>
            <a:ext cx="2651760" cy="12801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3520440"/>
            <a:ext cx="2286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Segoe UI"/>
              </a:defRPr>
            </a:pPr>
            <a:r>
              <a:t>14.0% / 86.0%</a:t>
            </a:r>
          </a:p>
          <a:p>
            <a:pPr>
              <a:defRPr sz="1000" b="1">
                <a:solidFill>
                  <a:srgbClr val="F8FAFC"/>
                </a:solidFill>
                <a:latin typeface="Segoe UI"/>
              </a:defRPr>
            </a:pPr>
            <a:r>
              <a:t>GRATUIT VS PAYANT</a:t>
            </a:r>
          </a:p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Monétisation &amp; élasticité prix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937760"/>
            <a:ext cx="8534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8FAFC"/>
                </a:solidFill>
                <a:latin typeface="Segoe UI"/>
              </a:defRPr>
            </a:pPr>
            <a:r>
              <a:t>Candidat : Christopher GILLERON   |   Commanditaire : Ubisoft   |   Certification CDSD (Niveau 7)   |   Soutenance 5 min (8 slides)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01 | CADRAGE &amp; PIPELINE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Contexte Stratégique Ubisoft &amp; Architecture Big Data PySpark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2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Steam Video Games Analysis (PySpark / Databricks)  |  Certification CDSD Bloc 2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01 | CONTEXTE STRATÉGIQUE UBISOFT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</a:defRPr>
            </a:pPr>
            <a:r>
              <a:t>Mandat Ubisoft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Explorer l'intégralité du catalogue Steam pour orienter la conception, le pricing et le positionnement du prochain jeu phare.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</a:defRPr>
            </a:pPr>
            <a:r>
              <a:t>Périmètre Données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55 691 jeux vidéo uniques collectés via l'API Steam Web, hébergés sur AWS S3 sous forme de dump JSON semi-structuré.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</a:defRPr>
            </a:pPr>
            <a:r>
              <a:t>Enjeux Décisionnels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Identifier les genres les plus lucratifs, mesurer l'impact du Free-to-Play, analyser la concurrence et optimiser le support OS.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</a:defRPr>
            </a:pPr>
            <a:r>
              <a:t>Contrainte Volume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Traiter un schéma complexe multi-niveaux sans perte d'information grâce au moteur distribué PySpark sur Databricks.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02 | PIPELINE DE TRAITEMENT PYSPARK (DATABRICKS)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</a:defRPr>
            </a:pPr>
            <a:r>
              <a:t>Aplatissement Struct (data.*)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Dé-imbrication automatique de 22 attributs racines depuis la structure complexe 'data'.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</a:defRPr>
            </a:pPr>
            <a:r>
              <a:t>Fonctions de Résilience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Implémentation de first_existing_col() pour garantir l'extraction des prix, genres et dates quel que soit le schéma.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</a:defRPr>
            </a:pPr>
            <a:r>
              <a:t>Nettoyage &amp; Typage Distribué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Conversion des centimes en euros (price / 100), détection de is_free, parsing multi-formats des dates via try_to_date().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</a:defRPr>
            </a:pPr>
            <a:r>
              <a:t>Optimisation Catalyst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Calcul vectoriel des ratios d'avis (positive_ratio) et décomposition des listes via explode_outer().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02 | EXPLORATION TEMPORELLE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Évolution des Sorties de Jeux (1997-2022) &amp; Impact du COVID-19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3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Steam Video Games Analysis (PySpark / Databricks)  |  Certification CDSD Bloc 2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CHRONOLOGIE DES SORTIES (55 691 JEUX)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1997 - 2013 (Ère Pionnière)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Moins de 500 jeux/an validés manuellement par Valve (471 en 2013).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2014 - 2018 (Steam Direct)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Explosion de l'offre indépendante : passage de 1 557 sorties en 2014 à 7 678 en 2018 (multiplication par 5).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2020 - 2021 (Accélération COVID-19)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8 305 sorties en 2020 et pic historique absolu à 8 823 sorties en 2021 (+26.6% vs 2019).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2022 (Consolidation)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7 455 sorties enregistrées : stabilisation à un rythme 15 fois supérieur à 2012.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Effet Catalyseur Majeur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Près d'un tiers (30.8%) du catalogue total a été publié en seulement 24 mois pendant la crise.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Conséquence pour Ubisoft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Saturation inédite de l'attention des joueurs : impératif d'activer des leviers marketing forts dès le Day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eam_char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4876495" cy="202996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0" y="3749039"/>
            <a:ext cx="4876495" cy="228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840480"/>
            <a:ext cx="45107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INSIGHTS STRATÉGIQUES DATABRICKS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Pic Historique 2021 : 8 823 jeux publiés en un an, dopés par les confinements mondiaux.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Volume Pandémie (2020-2021) : 17 128 jeux (30.8% du catalogue global en 2 ans).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Enseignement Ubisoft : La concurrence pour la visibilité 'Steam Storefront' n'a jamais été aussi rude : le marketing pré-lancement (Wishlists) est capital.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03 | PANORAMA CONCURRENTIEL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Le Top 10 des Éditeurs sur Steam &amp; Positionnement d'Ubisoft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4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Steam Video Games Analysis (PySpark / Databricks)  |  Certification CDSD Bloc 2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TOP 10 DES ÉDITEURS EN VOLUME (PYSPARK)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1. Big Fish Games : 422 jeux — Casual / Hidden Object (Faible prix)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2. Square Enix : 203 jeux — Franchises Final Fantasy, Tomb Raider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3. Sega : 192 jeux — Sonic, Total War, Yakuza</a:t>
            </a:r>
          </a:p>
          <a:p>
            <a:pPr>
              <a:spcBef>
                <a:spcPts val="300"/>
              </a:spcBef>
              <a:defRPr sz="950">
                <a:solidFill>
                  <a:srgbClr val="38BDF8"/>
                </a:solidFill>
              </a:defRPr>
            </a:pPr>
            <a:r>
              <a:t>4. Ubisoft : 128 jeux — Assassin's Creed, Far Cry, R6 Siege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5. Electronic Arts : 128 jeux — Battlefield, FIFA/EA Sports FC, Sims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6. THQ Nordic : 125 jeux — Darksiders, ELEX, Titan Quest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7. Capcom : 116 jeux — Resident Evil, Monster Hunter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8. Bandai Namco : 110 jeux — Dark Souls, Tekken, Dragon Ball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9. Devolver Digital : 96 jeux — Éditeur indé haut de gamme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10. Paradox Interactive : 92 jeux — Grand Strategy (Crusader Kings)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BENCHMARK STRATÉGIQUE POUR UBISOFT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Au Coude-à-Coude avec EA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Avec 128 jeux dans le catalogue, Ubisoft se classe dans le Top 10 mondial des éditeurs, au coude-à-coude exact avec son rival historique Electronic Arts (128).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Stratégie de Volume vs Valeur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Big Fish Games (422) inonde le marché de mini-jeux occasionnels à faible valeur unitaire. Ubisoft mise sur la valeur pérenne et des blockbusters AAA.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Titres Phares Mondiaux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Tom Clancy's Rainbow Six Siege se hisse dans le Top 5 mondial de tous les temps avec 1 086 157 avis et 86.8% de satisfaction.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Avantage Compétitif Live-Ops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L'ancrage multijoueur permet à Ubisoft d'amortir ses investissements sur 8 à 10 ans via le Pass de combat et les cosmétiques.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Recommandation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Consolider la position AAA en capitalisant sur les univers forts plutôt que d'accroître frénétiquement le nombre de sorties.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04 | MODÈLES ÉCONOMIQUES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Distribution des Prix, Free-to-Play vs Premium &amp; Stratégie Soldes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5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Steam Video Games Analysis (PySpark / Databricks)  |  Certification CDSD Bloc 2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DISTRIBUTION DES PRIX &amp; MONÉTISATION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Prix Moyen &amp; Médiane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Moyenne à 7.73 € (Médiane : 4.99 €) sur l'ensemble du catalogue Steam. Maximum relevé : 999 €.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Modèle Gratuit (Free-to-Play)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7 780 jeux (14.0% du catalogue). Bien que minoritaire en volume, le F2P truste les records d'audience (CS:GO, Dota 2, Apex Legends).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Modèle Payant (Premium)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47 911 jeux (86.0% du catalogue). Modèle ultra-majoritaire assurant des revenus Day One sécurisés.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Ultra-Budget (&lt; 5 €)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42% des jeux payants. Marché hyper-concurrentiel des micro-studios indépendants.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Standard Indé &amp; Mid-Core (5 € - 30 €)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52% des jeux payants. Cœur de cible de l'industrie.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Premium &amp; AAA (30 € - 60 €+)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6% des jeux payants. Réservé aux blockbusters bénéficiant d'une notoriété établie.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eam_chart_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4876495" cy="213969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0" y="3840480"/>
            <a:ext cx="4876495" cy="2194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931920"/>
            <a:ext cx="45107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STRATÉGIE DE SOLDES &amp; ÉLASTICITÉ PRIX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Volume en Solde : 2 518 jeux en promotion active (4.5% du catalogue), rabais jusqu'à -90%.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Élasticité Remarquable : Une réduction de -50% multiplie les avis hebdomadaires par 3 à 5 en déclenchant l'achat d'impulsion sur Wishlists.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Recommandation Ubisoft : Prix de lancement ferme à 29.99 € (zéro solde pendant 90 jours), puis participation aux Soldes Saisonnières Steam avec -25%.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05 | ANALYSE DES GENRES &amp; QUALITÉ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Répartition des Genres, Taux de Satisfaction &amp; Titres Phares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6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Steam Video Games Analysis (PySpark / Databricks)  |  Certification CDSD Bloc 2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VOLUMES DE GENRES &amp; SATISFACTION (PYSPARK)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• Indie : 35 220 jeux (63.2%) — Satisfaction moyenne : 73.8%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• Action : 23 200 jeux (41.7%) — Satisfaction moyenne : 71.5%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• Casual : 20 540 jeux (36.9%) — Satisfaction moyenne : 74.2%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• Adventure : 20 280 jeux (36.4%) — Satisfaction moyenne : 73.1%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• Simulation : 11 120 jeux (20.0%) — Satisfaction moyenne : 70.8%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• Strategy : 10 500 jeux (18.9%) — Satisfaction moyenne : 71.9%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• RPG : 9 430 jeux (16.9%) — Satisfaction moyenne : 73.0%</a:t>
            </a:r>
          </a:p>
          <a:p>
            <a:pPr>
              <a:spcBef>
                <a:spcPts val="1000"/>
              </a:spcBef>
              <a:defRPr sz="950">
                <a:solidFill>
                  <a:srgbClr val="94A3B8"/>
                </a:solidFill>
              </a:defRPr>
            </a:pPr>
            <a:r>
              <a:t>Constat : Le genre Indie domine le volume brut, mais l'Action et l'Aventure concentrent la quasi-totalité des heures de jeu et de l'engagement communautaire.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TOP MONDIAL DES JEUX LES PLUS JOUÉS</a:t>
            </a:r>
          </a:p>
          <a:p>
            <a:pPr>
              <a:spcBef>
                <a:spcPts val="500"/>
              </a:spcBef>
              <a:defRPr b="1" sz="1000">
                <a:solidFill>
                  <a:srgbClr val="F8FAFC"/>
                </a:solidFill>
              </a:defRPr>
            </a:pPr>
            <a:r>
              <a:t>1. CS:GO : 6.73 millions d'avis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Gratuit  |  88.3% de satisfaction</a:t>
            </a:r>
          </a:p>
          <a:p>
            <a:pPr>
              <a:spcBef>
                <a:spcPts val="500"/>
              </a:spcBef>
              <a:defRPr b="1" sz="1000">
                <a:solidFill>
                  <a:srgbClr val="F8FAFC"/>
                </a:solidFill>
              </a:defRPr>
            </a:pPr>
            <a:r>
              <a:t>2. PUBG : BATTLEGROUNDS : 2.09 millions d'avis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Gratuit  |  56.6% de satisfaction</a:t>
            </a:r>
          </a:p>
          <a:p>
            <a:pPr>
              <a:spcBef>
                <a:spcPts val="500"/>
              </a:spcBef>
              <a:defRPr b="1" sz="1000">
                <a:solidFill>
                  <a:srgbClr val="F8FAFC"/>
                </a:solidFill>
              </a:defRPr>
            </a:pPr>
            <a:r>
              <a:t>3. Dota 2 : 1.85 million d'avis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Gratuit  |  82.8% de satisfaction</a:t>
            </a:r>
          </a:p>
          <a:p>
            <a:pPr>
              <a:spcBef>
                <a:spcPts val="500"/>
              </a:spcBef>
              <a:defRPr b="1" sz="1000">
                <a:solidFill>
                  <a:srgbClr val="F8FAFC"/>
                </a:solidFill>
              </a:defRPr>
            </a:pPr>
            <a:r>
              <a:t>4. Grand Theft Auto V : 1.44 million d'avis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29.98 €  |  85.2% de satisfaction</a:t>
            </a:r>
          </a:p>
          <a:p>
            <a:pPr>
              <a:spcBef>
                <a:spcPts val="500"/>
              </a:spcBef>
              <a:defRPr b="1" sz="1000">
                <a:solidFill>
                  <a:srgbClr val="10B981"/>
                </a:solidFill>
              </a:defRPr>
            </a:pPr>
            <a:r>
              <a:t>5. Rainbow Six Siege (Ubisoft) : 1.09 million d'avis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19.99 €  |  86.8% de satisfaction</a:t>
            </a:r>
          </a:p>
          <a:p>
            <a:pPr>
              <a:spcBef>
                <a:spcPts val="1200"/>
              </a:spcBef>
              <a:defRPr b="1" sz="1050">
                <a:solidFill>
                  <a:srgbClr val="F59E0B"/>
                </a:solidFill>
              </a:defRPr>
            </a:pPr>
            <a:r>
              <a:t>Enseignement Qualité Algorithmique Steam 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Le seuil critique des 70% (Évaluations positives) conditionne l'exposition sur la page d'accueil de Steam. En dessous, l'algorithme cesse de recommander le titre. Ubisoft doit impérativement viser &gt; 80% ('Très positif').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06 | RENTABILITÉ &amp; ÉCOSYSTÈME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Proxy de Chiffre d'Affaires, Ventilation Multi-OS &amp; Langues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7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Steam Video Games Analysis (PySpark / Databricks)  |  Certification CDSD Bloc 2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PROXY CA (PRIX × AVIS) &amp; ENVIRONNEMENT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Action en Tête Absolue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Le genre Action écrase le marché avec plus de 1.05 Milliard d'euros de proxy de revenus cumulés.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RPG : Panier Moyen Maximal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Le RPG affiche le prix moyen le plus élevé (9.04 €) pour une rentabilité unitaire 2.5 fois supérieure à l'Indie.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Windows Universel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99.97% du catalogue (55 676 jeux) supporte Windows. Standard incontournable.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MacOS &amp; Linux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MacOS à 22.9% (12 770 jeux). Linux à 15.2% (8 458 jeux), en forte accélération grâce au Steam Deck.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Top Langues Mondiales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Anglais (99.0%), Allemand (25.2%), Chinois Simplifié (24.5%), Français (24.1%), Russe (23.2%).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Opportunité Steam Deck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Le label 'Deck Verified' génère un boost moyen de +30% de ventes sans coût de portage additionnel grâce à la couche Proton.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eam_chart_rev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4876495" cy="202082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0" y="3749039"/>
            <a:ext cx="4876495" cy="228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840480"/>
            <a:ext cx="45107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SYNTHÈSE MULTI-PLATEFORMES &amp; LOCALISATION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Action-RPG Dominant : L'association de l'Action (1 053 M€) et du RPG (492 M€) combine le volume de masse et la valeur unitaire élevée.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Pivot Chinois Simplifié : Avec 13 658 jeux et une croissance record des joueurs asiatiques, le doublage/sous-titrage chinois est un prérequis obligatoire.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Compatibilité Steam Deck : Optimiser le framerate à 40/60 fps et les contrôles tactiles dès le lancement pour obtenir le badge vert.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07 | PLAN D'ACTION &amp;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4 Recommandations Stratégiques Clés pour Ubisoft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8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Steam Video Games Analysis (PySpark / Databricks)  |  Certification CDSD Bloc 2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01 | POSITIONNEMENT PRIX : 24.99 € - 29.99 €</a:t>
            </a:r>
          </a:p>
          <a:p>
            <a:pPr>
              <a:spcBef>
                <a:spcPts val="600"/>
              </a:spcBef>
              <a:defRPr b="1" sz="1000">
                <a:solidFill>
                  <a:srgbClr val="F8FAFC"/>
                </a:solidFill>
              </a:defRPr>
            </a:pPr>
            <a:r>
              <a:t>Justification Data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Évite la guerre des prix de l'ultra-budget (&lt;15€) tout en abaissant la barrière psychologique des 60€+.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Upsell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Proposer une Édition Deluxe à 39.99€ avec cosmétiques exclusifs.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02 | GENRE CIBLE : L'ACTION-RPG HYBRIDE</a:t>
            </a:r>
          </a:p>
          <a:p>
            <a:pPr>
              <a:spcBef>
                <a:spcPts val="600"/>
              </a:spcBef>
              <a:defRPr b="1" sz="1000">
                <a:solidFill>
                  <a:srgbClr val="F8FAFC"/>
                </a:solidFill>
              </a:defRPr>
            </a:pPr>
            <a:r>
              <a:t>Justification Data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Action = 1er proxy revenus (1.05 Md€). RPG = prix moyen le plus élevé (9.04€) et 73% de satisfaction.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Atout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Progression de personnage profonde et forte rétention multijoueur.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03 | CALENDRIER DES SOLDES PROGRESSIF</a:t>
            </a:r>
          </a:p>
          <a:p>
            <a:pPr>
              <a:spcBef>
                <a:spcPts val="600"/>
              </a:spcBef>
              <a:defRPr b="1" sz="1000">
                <a:solidFill>
                  <a:srgbClr val="F8FAFC"/>
                </a:solidFill>
              </a:defRPr>
            </a:pPr>
            <a:r>
              <a:t>Protection Lancement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Aucune promotion avant 90 jours pour préserver les marges Day One.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Élasticité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Participer aux Soldes d'Hiver avec -25% pour convertir les Wishlists accumulées.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04 | STEAM DECK &amp; DOUBLAGE ASIATIQUE</a:t>
            </a:r>
          </a:p>
          <a:p>
            <a:pPr>
              <a:spcBef>
                <a:spcPts val="600"/>
              </a:spcBef>
              <a:defRPr b="1" sz="1000">
                <a:solidFill>
                  <a:srgbClr val="F8FAFC"/>
                </a:solidFill>
              </a:defRPr>
            </a:pPr>
            <a:r>
              <a:t>Compatibilité Proton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Garantir le badge 'Deck Verified' dès le lancement (anti-triche compatible).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Chinois Simplifié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24.5% du catalogue : bassin d'audience prioritaire hors Occident.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