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embeddedFontLst>
    <p:embeddedFont>
      <p:font typeface="Quattrocento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iOr9JpopSblrphTxVeepPrQReg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QuattrocentoSans-bold.fntdata"/><Relationship Id="rId14" Type="http://schemas.openxmlformats.org/officeDocument/2006/relationships/font" Target="fonts/QuattrocentoSans-regular.fntdata"/><Relationship Id="rId17" Type="http://schemas.openxmlformats.org/officeDocument/2006/relationships/font" Target="fonts/QuattrocentoSans-boldItalic.fntdata"/><Relationship Id="rId16" Type="http://schemas.openxmlformats.org/officeDocument/2006/relationships/font" Target="fonts/Quattrocento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371600" y="1097280"/>
            <a:ext cx="9448495" cy="466344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828800" y="1463040"/>
            <a:ext cx="85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BLOC 2 — ANALYSE EXPLORATOIRE DE DONNÉES BIG DATA</a:t>
            </a:r>
            <a:endParaRPr sz="2600"/>
          </a:p>
        </p:txBody>
      </p:sp>
      <p:sp>
        <p:nvSpPr>
          <p:cNvPr id="87" name="Google Shape;87;p1"/>
          <p:cNvSpPr txBox="1"/>
          <p:nvPr/>
        </p:nvSpPr>
        <p:spPr>
          <a:xfrm>
            <a:off x="1828800" y="1920240"/>
            <a:ext cx="853409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Steam Video Games Analysis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Exploration Big Data &amp; Stratégie Métier sur le Marché PC Gaming avec PySpark &amp; Databricks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1828800" y="3383280"/>
            <a:ext cx="2651760" cy="128016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011680" y="3520440"/>
            <a:ext cx="2286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38BD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55 691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JEUX ANALYSÉS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Dump JSON multi-lignes AWS S3</a:t>
            </a:r>
            <a:endParaRPr sz="1700"/>
          </a:p>
        </p:txBody>
      </p:sp>
      <p:sp>
        <p:nvSpPr>
          <p:cNvPr id="90" name="Google Shape;90;p1"/>
          <p:cNvSpPr/>
          <p:nvPr/>
        </p:nvSpPr>
        <p:spPr>
          <a:xfrm>
            <a:off x="4754880" y="3383280"/>
            <a:ext cx="2651760" cy="128016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937760" y="3520440"/>
            <a:ext cx="2286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1.05 Md€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PROXY REVENUS ACTION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Genre dominant de l'industrie</a:t>
            </a:r>
            <a:endParaRPr sz="1800"/>
          </a:p>
        </p:txBody>
      </p:sp>
      <p:sp>
        <p:nvSpPr>
          <p:cNvPr id="92" name="Google Shape;92;p1"/>
          <p:cNvSpPr/>
          <p:nvPr/>
        </p:nvSpPr>
        <p:spPr>
          <a:xfrm>
            <a:off x="7680960" y="3383280"/>
            <a:ext cx="2651760" cy="128016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863840" y="3520440"/>
            <a:ext cx="2286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59E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14.0% / 86.0%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GRATUIT VS PAYANT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Monétisation &amp; élasticité prix</a:t>
            </a:r>
            <a:endParaRPr sz="1800"/>
          </a:p>
        </p:txBody>
      </p:sp>
      <p:sp>
        <p:nvSpPr>
          <p:cNvPr id="94" name="Google Shape;94;p1"/>
          <p:cNvSpPr txBox="1"/>
          <p:nvPr/>
        </p:nvSpPr>
        <p:spPr>
          <a:xfrm>
            <a:off x="1828800" y="4937760"/>
            <a:ext cx="853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Candidat : Christopher GILLERON 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731520" y="365760"/>
            <a:ext cx="7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8BD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ÉTAPE 01 | CADRAGE &amp; PIPELINE TECHNIQUE</a:t>
            </a:r>
            <a:endParaRPr sz="2300"/>
          </a:p>
        </p:txBody>
      </p:sp>
      <p:sp>
        <p:nvSpPr>
          <p:cNvPr id="101" name="Google Shape;101;p2"/>
          <p:cNvSpPr txBox="1"/>
          <p:nvPr/>
        </p:nvSpPr>
        <p:spPr>
          <a:xfrm>
            <a:off x="731520" y="685800"/>
            <a:ext cx="960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Stratégique Ubisoft &amp; Architecture Big Data PySpark</a:t>
            </a:r>
            <a:endParaRPr sz="1800"/>
          </a:p>
        </p:txBody>
      </p:sp>
      <p:sp>
        <p:nvSpPr>
          <p:cNvPr id="102" name="Google Shape;102;p2"/>
          <p:cNvSpPr txBox="1"/>
          <p:nvPr/>
        </p:nvSpPr>
        <p:spPr>
          <a:xfrm>
            <a:off x="10362895" y="411480"/>
            <a:ext cx="109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 / 8</a:t>
            </a:r>
            <a:endParaRPr sz="1800"/>
          </a:p>
        </p:txBody>
      </p:sp>
      <p:sp>
        <p:nvSpPr>
          <p:cNvPr id="103" name="Google Shape;103;p2"/>
          <p:cNvSpPr txBox="1"/>
          <p:nvPr/>
        </p:nvSpPr>
        <p:spPr>
          <a:xfrm>
            <a:off x="731520" y="6400800"/>
            <a:ext cx="1072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4" name="Google Shape;104;p2"/>
          <p:cNvSpPr/>
          <p:nvPr/>
        </p:nvSpPr>
        <p:spPr>
          <a:xfrm>
            <a:off x="731520" y="1371600"/>
            <a:ext cx="5212080" cy="484632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914400" y="1554480"/>
            <a:ext cx="4846200" cy="3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01 | CONTEXTE STRATÉGIQUE UBISOFT</a:t>
            </a:r>
            <a:endParaRPr sz="18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Mandat Ubisoft 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Explorer l'intégralité du catalogue Steam pour orienter la conception, le pricing et le positionnement du prochain jeu phare.</a:t>
            </a:r>
            <a:endParaRPr sz="18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Périmètre Données 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55 691 jeux vidéo uniques collectés via l'API Steam Web, hébergés sur AWS S3 sous forme de dump JSON semi-structuré.</a:t>
            </a:r>
            <a:endParaRPr sz="18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Enjeux Décisionnels 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Identifier les genres les plus lucratifs, mesurer l'impact du Free-to-Play, analyser la concurrence et optimiser le support OS.</a:t>
            </a:r>
            <a:endParaRPr sz="18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Contrainte Volume 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Traiter un schéma complexe multi-niveaux sans perte d'information grâce au moteur distribué PySpark sur Databricks.</a:t>
            </a:r>
            <a:endParaRPr sz="1800"/>
          </a:p>
        </p:txBody>
      </p:sp>
      <p:sp>
        <p:nvSpPr>
          <p:cNvPr id="106" name="Google Shape;106;p2"/>
          <p:cNvSpPr/>
          <p:nvPr/>
        </p:nvSpPr>
        <p:spPr>
          <a:xfrm>
            <a:off x="6217920" y="1371600"/>
            <a:ext cx="5242255" cy="484632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400800" y="1554480"/>
            <a:ext cx="4876500" cy="38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02 | PIPELINE DE TRAITEMENT PYSPARK (DATABRICKS)</a:t>
            </a:r>
            <a:endParaRPr sz="18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Aplatissement Struct (data.*) 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Dé-imbrication automatique de 22 attributs racines depuis la structure complexe 'data'.</a:t>
            </a:r>
            <a:endParaRPr sz="18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Fonctions de Résilience 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Implémentation de first_existing_col() pour garantir l'extraction des prix, genres et dates quel que soit le schéma.</a:t>
            </a:r>
            <a:endParaRPr sz="18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Nettoyage &amp; Typage Distribué 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Conversion des centimes en euros (price / 100), détection de is_free, parsing multi-formats des dates via try_to_date().</a:t>
            </a:r>
            <a:endParaRPr sz="18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Optimisation Catalyst 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Calcul vectoriel des ratios d'avis (positive_ratio) et décomposition des listes via explode_outer().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731520" y="365760"/>
            <a:ext cx="731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ÉTAPE 02 | EXPLORATION TEMPORELLE</a:t>
            </a:r>
            <a:endParaRPr sz="2100"/>
          </a:p>
        </p:txBody>
      </p:sp>
      <p:sp>
        <p:nvSpPr>
          <p:cNvPr id="114" name="Google Shape;114;p3"/>
          <p:cNvSpPr txBox="1"/>
          <p:nvPr/>
        </p:nvSpPr>
        <p:spPr>
          <a:xfrm>
            <a:off x="731520" y="685800"/>
            <a:ext cx="960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Évolution des Sorties de Jeux (1997-2022) &amp; Impact du COVID-19</a:t>
            </a:r>
            <a:endParaRPr sz="1600"/>
          </a:p>
        </p:txBody>
      </p:sp>
      <p:sp>
        <p:nvSpPr>
          <p:cNvPr id="115" name="Google Shape;115;p3"/>
          <p:cNvSpPr txBox="1"/>
          <p:nvPr/>
        </p:nvSpPr>
        <p:spPr>
          <a:xfrm>
            <a:off x="10362895" y="4114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 / 8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731520" y="6400800"/>
            <a:ext cx="1072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731520" y="1371600"/>
            <a:ext cx="5212080" cy="484632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914400" y="1554480"/>
            <a:ext cx="4846200" cy="4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CHRONOLOGIE DES SORTIES (55 691 JEUX)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1997 - 2013 (Ère Pionnière) :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Moins de 500 jeux/an validés manuellement par Valve (471 en 2013).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2014 - 2018 (Steam Direct) :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Explosion de l'offre indépendante : passage de 1 557 sorties en 2014 à 7 678 en 2018 (multiplication par 5).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2020 - 2021 (Accélération COVID-19) :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8 305 sorties en 2020 et pic historique absolu à 8 823 sorties en 2021 (+26.6% vs 2019).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2022 (Consolidation) :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7 455 sorties enregistrées : stabilisation à un rythme 15 fois supérieur à 2012.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Effet Catalyseur Majeur :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Près d'un tiers (30.8%) du catalogue total a été publié en seulement 24 mois pendant la crise.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Conséquence pour Ubisoft :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Saturation inédite de l'attention des joueurs : impératif d'activer des leviers marketing forts dès le Day One.</a:t>
            </a:r>
            <a:endParaRPr sz="1700"/>
          </a:p>
        </p:txBody>
      </p:sp>
      <p:sp>
        <p:nvSpPr>
          <p:cNvPr id="119" name="Google Shape;119;p3"/>
          <p:cNvSpPr/>
          <p:nvPr/>
        </p:nvSpPr>
        <p:spPr>
          <a:xfrm>
            <a:off x="6217920" y="1371600"/>
            <a:ext cx="5242255" cy="484632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team_chart_covid.png"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1554480"/>
            <a:ext cx="4876495" cy="202996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/>
          <p:nvPr/>
        </p:nvSpPr>
        <p:spPr>
          <a:xfrm>
            <a:off x="6400800" y="3749039"/>
            <a:ext cx="4876495" cy="228600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6583680" y="3840480"/>
            <a:ext cx="4510800" cy="18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INSIGHTS STRATÉGIQUES DATABRICKS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Pic Historique 2021 : 8 823 jeux publiés en un an, dopés par les confinements mondiaux.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Volume Pandémie (2020-2021) : 17 128 jeux (30.8% du catalogue global en 2 ans).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Enseignement Ubisoft : La concurrence pour la visibilité 'Steam Storefront' n'a jamais été aussi rude : le marketing pré-lancement (Wishlists) est capital.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731520" y="365760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8BD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ÉTAPE 03 | PANORAMA CONCURRENTIEL</a:t>
            </a:r>
            <a:endParaRPr sz="2200"/>
          </a:p>
        </p:txBody>
      </p:sp>
      <p:sp>
        <p:nvSpPr>
          <p:cNvPr id="129" name="Google Shape;129;p4"/>
          <p:cNvSpPr txBox="1"/>
          <p:nvPr/>
        </p:nvSpPr>
        <p:spPr>
          <a:xfrm>
            <a:off x="731520" y="685800"/>
            <a:ext cx="960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 Top 10 des Éditeurs sur Steam &amp; Positionnement d'Ubisoft</a:t>
            </a:r>
            <a:endParaRPr sz="1700"/>
          </a:p>
        </p:txBody>
      </p:sp>
      <p:sp>
        <p:nvSpPr>
          <p:cNvPr id="130" name="Google Shape;130;p4"/>
          <p:cNvSpPr txBox="1"/>
          <p:nvPr/>
        </p:nvSpPr>
        <p:spPr>
          <a:xfrm>
            <a:off x="10362895" y="411480"/>
            <a:ext cx="1097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 / 8</a:t>
            </a:r>
            <a:endParaRPr sz="1700"/>
          </a:p>
        </p:txBody>
      </p:sp>
      <p:sp>
        <p:nvSpPr>
          <p:cNvPr id="131" name="Google Shape;131;p4"/>
          <p:cNvSpPr txBox="1"/>
          <p:nvPr/>
        </p:nvSpPr>
        <p:spPr>
          <a:xfrm>
            <a:off x="731520" y="6400800"/>
            <a:ext cx="1072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2" name="Google Shape;132;p4"/>
          <p:cNvSpPr/>
          <p:nvPr/>
        </p:nvSpPr>
        <p:spPr>
          <a:xfrm>
            <a:off x="731520" y="1371600"/>
            <a:ext cx="5212080" cy="484632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1027775" y="1849205"/>
            <a:ext cx="48462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TOP 10 DES ÉDITEURS EN VOLUME (PYSPARK)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1. Big Fish Games : 422 jeux — Casual / Hidden Object (Faible prix)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2. Square Enix : 203 jeux — Franchises Final Fantasy, Tomb Raider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3. Sega : 192 jeux — Sonic, Total War, Yakuza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4. Ubisoft : 128 jeux — Assassin's Creed, Far Cry, R6 Siege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5. Electronic Arts : 128 jeux — Battlefield, FIFA/EA Sports FC, Sims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6. THQ Nordic : 125 jeux — Darksiders, ELEX, Titan Quest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7. Capcom : 116 jeux — Resident Evil, Monster Hunter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8. Bandai Namco : 110 jeux — Dark Souls, Tekken, Dragon Ball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9. Devolver Digital : 96 jeux — Éditeur indé haut de gamme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10. Paradox Interactive : 92 jeux — Grand Strategy (Crusader Kings)</a:t>
            </a:r>
            <a:endParaRPr sz="1700"/>
          </a:p>
        </p:txBody>
      </p:sp>
      <p:sp>
        <p:nvSpPr>
          <p:cNvPr id="134" name="Google Shape;134;p4"/>
          <p:cNvSpPr/>
          <p:nvPr/>
        </p:nvSpPr>
        <p:spPr>
          <a:xfrm>
            <a:off x="6217920" y="1371600"/>
            <a:ext cx="5242255" cy="484632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6400800" y="1554480"/>
            <a:ext cx="4876500" cy="41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BENCHMARK STRATÉGIQUE POUR UBISOFT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Au Coude-à-Coude avec EA :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Avec 128 jeux dans le catalogue, Ubisoft se classe dans le Top 10 mondial des éditeurs, au coude-à-coude exact avec son rival historique Electronic Arts (128).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Stratégie de Volume vs Valeur :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Big Fish Games (422) inonde le marché de mini-jeux occasionnels à faible valeur unitaire. Ubisoft mise sur la valeur pérenne et des blockbusters AAA.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Titres Phares Mondiaux :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Tom Clancy's Rainbow Six Siege se hisse dans le Top 5 mondial de tous les temps avec 1 086 157 avis et 86.8% de satisfaction.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Avantage Compétitif Live-Ops :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L'ancrage multijoueur permet à Ubisoft d'amortir ses investissements sur 8 à 10 ans via le Pass de combat et les cosmétiques.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Recommandation :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Consolider la position AAA en capitalisant sur les univers forts plutôt que d'accroître frénétiquement le nombre de sorties.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731520" y="365760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8BD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ÉTAPE 04 | MODÈLES ÉCONOMIQUES</a:t>
            </a:r>
            <a:endParaRPr sz="2200"/>
          </a:p>
        </p:txBody>
      </p:sp>
      <p:sp>
        <p:nvSpPr>
          <p:cNvPr id="142" name="Google Shape;142;p5"/>
          <p:cNvSpPr txBox="1"/>
          <p:nvPr/>
        </p:nvSpPr>
        <p:spPr>
          <a:xfrm>
            <a:off x="731520" y="685800"/>
            <a:ext cx="9601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Distribution des Prix, Free-to-Play vs Premium &amp; Stratégie Soldes</a:t>
            </a:r>
            <a:endParaRPr/>
          </a:p>
        </p:txBody>
      </p:sp>
      <p:sp>
        <p:nvSpPr>
          <p:cNvPr id="143" name="Google Shape;143;p5"/>
          <p:cNvSpPr txBox="1"/>
          <p:nvPr/>
        </p:nvSpPr>
        <p:spPr>
          <a:xfrm>
            <a:off x="10362895" y="411480"/>
            <a:ext cx="109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 / 8</a:t>
            </a:r>
            <a:endParaRPr/>
          </a:p>
        </p:txBody>
      </p:sp>
      <p:sp>
        <p:nvSpPr>
          <p:cNvPr id="144" name="Google Shape;144;p5"/>
          <p:cNvSpPr txBox="1"/>
          <p:nvPr/>
        </p:nvSpPr>
        <p:spPr>
          <a:xfrm>
            <a:off x="731520" y="6400800"/>
            <a:ext cx="1072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731520" y="1371600"/>
            <a:ext cx="5212200" cy="48462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914400" y="1554480"/>
            <a:ext cx="4846200" cy="4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DISTRIBUTION DES PRIX &amp; MONÉTISATION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Prix Moyen &amp; Médiane :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Moyenne à 7.73 € (Médiane : 4.99 €) sur l'ensemble du catalogue Steam. Maximum relevé : 999 €.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Modèle Gratuit (Free-to-Play) :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7 780 jeux (14.0% du catalogue). Bien que minoritaire en volume, le F2P truste les records d'audience (CS:GO, Dota 2, Apex Legends).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Modèle Payant (Premium) :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47 911 jeux (86.0% du catalogue). Modèle ultra-majoritaire assurant des revenus Day One sécurisés.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Ultra-Budget (&lt; 5 €) :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42% des jeux payants. Marché hyper-concurrentiel des micro-studios indépendants.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Standard Indé &amp; Mid-Core (5 € - 30 €) :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52% des jeux payants. Cœur de cible de l'industrie.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Premium &amp; AAA (30 € - 60 €+) :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6% des jeux payants. Réservé aux blockbusters bénéficiant d'une notoriété établie.</a:t>
            </a:r>
            <a:endParaRPr sz="1700"/>
          </a:p>
        </p:txBody>
      </p:sp>
      <p:sp>
        <p:nvSpPr>
          <p:cNvPr id="147" name="Google Shape;147;p5"/>
          <p:cNvSpPr/>
          <p:nvPr/>
        </p:nvSpPr>
        <p:spPr>
          <a:xfrm>
            <a:off x="6217920" y="1371600"/>
            <a:ext cx="5242200" cy="48462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team_chart_pricing.png" id="148" name="Google Shape;1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2575" y="1862825"/>
            <a:ext cx="4173751" cy="183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/>
          <p:nvPr/>
        </p:nvSpPr>
        <p:spPr>
          <a:xfrm>
            <a:off x="6400800" y="3840480"/>
            <a:ext cx="4876500" cy="219450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6583680" y="3931920"/>
            <a:ext cx="45108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STRATÉGIE DE SOLDES &amp; ÉLASTICITÉ PRIX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Volume en Solde : 2 518 jeux en promotion active (4.5% du catalogue), rabais jusqu'à -90%.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Élasticité Remarquable : Une réduction de -50% multiplie les avis hebdomadaires par 3 à 5 en déclenchant l'achat d'impulsion sur Wishlists.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Recommandation Ubisoft : Prix de lancement ferme à 29.99 € (zéro solde pendant 90 jours), puis participation aux Soldes Saisonnières Steam avec -25%.</a:t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731520" y="365760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8BD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ÉTAPE 05 | ANALYSE DES GENRES &amp; QUALITÉ</a:t>
            </a:r>
            <a:endParaRPr sz="2200"/>
          </a:p>
        </p:txBody>
      </p:sp>
      <p:sp>
        <p:nvSpPr>
          <p:cNvPr id="157" name="Google Shape;157;p6"/>
          <p:cNvSpPr txBox="1"/>
          <p:nvPr/>
        </p:nvSpPr>
        <p:spPr>
          <a:xfrm>
            <a:off x="731520" y="685800"/>
            <a:ext cx="960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Répartition des Genres, Taux de Satisfaction &amp; Titres Phares</a:t>
            </a:r>
            <a:endParaRPr sz="1600"/>
          </a:p>
        </p:txBody>
      </p:sp>
      <p:sp>
        <p:nvSpPr>
          <p:cNvPr id="158" name="Google Shape;158;p6"/>
          <p:cNvSpPr txBox="1"/>
          <p:nvPr/>
        </p:nvSpPr>
        <p:spPr>
          <a:xfrm>
            <a:off x="10362895" y="41148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 / 8</a:t>
            </a:r>
            <a:endParaRPr/>
          </a:p>
        </p:txBody>
      </p:sp>
      <p:sp>
        <p:nvSpPr>
          <p:cNvPr id="159" name="Google Shape;159;p6"/>
          <p:cNvSpPr txBox="1"/>
          <p:nvPr/>
        </p:nvSpPr>
        <p:spPr>
          <a:xfrm>
            <a:off x="731520" y="6400800"/>
            <a:ext cx="1072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731520" y="1371600"/>
            <a:ext cx="5212080" cy="484632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914400" y="1554480"/>
            <a:ext cx="4846200" cy="3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VOLUMES DE GENRES &amp; SATISFACTION (PYSPARK)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Indie : 35 220 jeux (63.2%) — Satisfaction moyenne : 73.8%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Action : 23 200 jeux (41.7%) — Satisfaction moyenne : 71.5%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Casual : 20 540 jeux (36.9%) — Satisfaction moyenne : 74.2%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Adventure : 20 280 jeux (36.4%) — Satisfaction moyenne : 73.1%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Simulation : 11 120 jeux (20.0%) — Satisfaction moyenne : 70.8%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Strategy : 10 500 jeux (18.9%) — Satisfaction moyenne : 71.9%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RPG : 9 430 jeux (16.9%) — Satisfaction moyenne : 73.0%</a:t>
            </a:r>
            <a:endParaRPr sz="18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Constat : Le genre Indie domine le volume brut, mais l'Action et l'Aventure concentrent la quasi-totalité des heures de jeu et de l'engagement communautaire.</a:t>
            </a:r>
            <a:endParaRPr sz="1800"/>
          </a:p>
        </p:txBody>
      </p:sp>
      <p:sp>
        <p:nvSpPr>
          <p:cNvPr id="162" name="Google Shape;162;p6"/>
          <p:cNvSpPr/>
          <p:nvPr/>
        </p:nvSpPr>
        <p:spPr>
          <a:xfrm>
            <a:off x="6217920" y="1371600"/>
            <a:ext cx="5242255" cy="484632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6608825" y="1696700"/>
            <a:ext cx="4668600" cy="39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TOP MONDIAL DES JEUX LES PLUS JOUÉS</a:t>
            </a:r>
            <a:endParaRPr sz="18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1. CS:GO : 6.73 millions d'avis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Gratuit  |  88.3% de satisfaction</a:t>
            </a:r>
            <a:endParaRPr sz="18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2. PUBG : BATTLEGROUNDS : 2.09 millions d'avis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Gratuit  |  56.6% de satisfaction</a:t>
            </a:r>
            <a:endParaRPr sz="18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3. Dota 2 : 1.85 million d'avis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Gratuit  |  82.8% de satisfaction</a:t>
            </a:r>
            <a:endParaRPr sz="18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4. Grand Theft Auto V : 1.44 million d'avis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29.98 €  |  85.2% de satisfaction</a:t>
            </a:r>
            <a:endParaRPr sz="18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5. Rainbow Six Siege (Ubisoft) : 1.09 million d'avis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 19.99 €  |  86.8% de satisfaction</a:t>
            </a:r>
            <a:endParaRPr sz="18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Enseignement Qualité Algorithmique Steam 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Le seuil critique des 70% (Évaluations positives) conditionne l'exposition sur la page d'accueil de Steam. En dessous, l'algorithme cesse de recommander le titre. Ubisoft doit impérativement viser &gt; 80% ('Très positif').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731520" y="365760"/>
            <a:ext cx="7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8BD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ÉTAPE 06 | RENTABILITÉ &amp; ÉCOSYSTÈME</a:t>
            </a:r>
            <a:endParaRPr sz="2300"/>
          </a:p>
        </p:txBody>
      </p:sp>
      <p:sp>
        <p:nvSpPr>
          <p:cNvPr id="170" name="Google Shape;170;p7"/>
          <p:cNvSpPr txBox="1"/>
          <p:nvPr/>
        </p:nvSpPr>
        <p:spPr>
          <a:xfrm>
            <a:off x="731520" y="685800"/>
            <a:ext cx="960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Proxy de Chiffre d'Affaires, Ventilation Multi-OS &amp; Langues</a:t>
            </a:r>
            <a:endParaRPr sz="1600"/>
          </a:p>
        </p:txBody>
      </p:sp>
      <p:sp>
        <p:nvSpPr>
          <p:cNvPr id="171" name="Google Shape;171;p7"/>
          <p:cNvSpPr txBox="1"/>
          <p:nvPr/>
        </p:nvSpPr>
        <p:spPr>
          <a:xfrm>
            <a:off x="10362895" y="4114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 / 8</a:t>
            </a:r>
            <a:endParaRPr/>
          </a:p>
        </p:txBody>
      </p:sp>
      <p:sp>
        <p:nvSpPr>
          <p:cNvPr id="172" name="Google Shape;172;p7"/>
          <p:cNvSpPr txBox="1"/>
          <p:nvPr/>
        </p:nvSpPr>
        <p:spPr>
          <a:xfrm>
            <a:off x="731520" y="6400800"/>
            <a:ext cx="1072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731520" y="1371600"/>
            <a:ext cx="5212080" cy="484632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914400" y="1554480"/>
            <a:ext cx="484632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PROXY CA (PRIX × AVIS) &amp; ENVIRONNEMENT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Action en Tête Absolue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 genre Action écrase le marché avec plus de 1.05 Milliard d'euros de proxy de revenus cumulés.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RPG : Panier Moyen Maximal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 RPG affiche le prix moyen le plus élevé (9.04 €) pour une rentabilité unitaire 2.5 fois supérieure à l'Indie.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Windows Universel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99.97% du catalogue (55 676 jeux) supporte Windows. Standard incontournable.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MacOS &amp; Linux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MacOS à 22.9% (12 770 jeux). Linux à 15.2% (8 458 jeux), en forte accélération grâce au Steam Deck.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Top Langues Mondiales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Anglais (99.0%), Allemand (25.2%), Chinois Simplifié (24.5%), Français (24.1%), Russe (23.2%).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Opportunité Steam Deck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 label 'Deck Verified' génère un boost moyen de +30% de ventes sans coût de portage additionnel grâce à la couche Proton.</a:t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6217920" y="1371600"/>
            <a:ext cx="5242255" cy="484632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team_chart_rev_os.png" id="176" name="Google Shape;1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1554480"/>
            <a:ext cx="4876495" cy="202082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/>
          <p:nvPr/>
        </p:nvSpPr>
        <p:spPr>
          <a:xfrm>
            <a:off x="6400800" y="3749039"/>
            <a:ext cx="4876495" cy="228600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6583680" y="3840480"/>
            <a:ext cx="45108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SYNTHÈSE MULTI-PLATEFORMES &amp; LOCALISATION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Action-RPG Dominant : L'association de l'Action (1 053 M€) et du RPG (492 M€) combine le volume de masse et la valeur unitaire élevée.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Pivot Chinois Simplifié : Avec 13 658 jeux et une croissance record des joueurs asiatiques, le doublage/sous-titrage chinois est un prérequis obligatoire.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Compatibilité Steam Deck : Optimiser le framerate à 40/60 fps et les contrôles tactiles dès le lancement pour obtenir le badge vert.</a:t>
            </a:r>
            <a:endParaRPr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 txBox="1"/>
          <p:nvPr/>
        </p:nvSpPr>
        <p:spPr>
          <a:xfrm>
            <a:off x="731520" y="365760"/>
            <a:ext cx="7315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8BD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ÉTAPE 07 | PLAN D'ACTION &amp; SYNTHÈSE</a:t>
            </a:r>
            <a:endParaRPr sz="2000"/>
          </a:p>
        </p:txBody>
      </p:sp>
      <p:sp>
        <p:nvSpPr>
          <p:cNvPr id="185" name="Google Shape;185;p8"/>
          <p:cNvSpPr txBox="1"/>
          <p:nvPr/>
        </p:nvSpPr>
        <p:spPr>
          <a:xfrm>
            <a:off x="731520" y="685800"/>
            <a:ext cx="96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 Recommandations Stratégiques Clés pour Ubisoft</a:t>
            </a:r>
            <a:endParaRPr sz="2000"/>
          </a:p>
        </p:txBody>
      </p:sp>
      <p:sp>
        <p:nvSpPr>
          <p:cNvPr id="186" name="Google Shape;186;p8"/>
          <p:cNvSpPr txBox="1"/>
          <p:nvPr/>
        </p:nvSpPr>
        <p:spPr>
          <a:xfrm>
            <a:off x="10362895" y="411480"/>
            <a:ext cx="109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 / 8</a:t>
            </a:r>
            <a:endParaRPr sz="2000"/>
          </a:p>
        </p:txBody>
      </p:sp>
      <p:sp>
        <p:nvSpPr>
          <p:cNvPr id="187" name="Google Shape;187;p8"/>
          <p:cNvSpPr txBox="1"/>
          <p:nvPr/>
        </p:nvSpPr>
        <p:spPr>
          <a:xfrm>
            <a:off x="731520" y="6400800"/>
            <a:ext cx="1072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88" name="Google Shape;188;p8"/>
          <p:cNvSpPr/>
          <p:nvPr/>
        </p:nvSpPr>
        <p:spPr>
          <a:xfrm>
            <a:off x="731520" y="1371600"/>
            <a:ext cx="5212080" cy="2286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914400" y="1508760"/>
            <a:ext cx="4846200" cy="19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01 | POSITIONNEMENT PRIX : 24.99 € - 29.99 €</a:t>
            </a:r>
            <a:endParaRPr sz="20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Justification Data :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Évite la guerre des prix de l'ultra-budget (&lt;15€) tout en abaissant la barrière psychologique des 60€+.</a:t>
            </a:r>
            <a:endParaRPr sz="2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Upsell :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Proposer une Édition Deluxe à 39.99€ avec cosmétiques exclusifs.</a:t>
            </a:r>
            <a:endParaRPr sz="2000"/>
          </a:p>
        </p:txBody>
      </p:sp>
      <p:sp>
        <p:nvSpPr>
          <p:cNvPr id="190" name="Google Shape;190;p8"/>
          <p:cNvSpPr/>
          <p:nvPr/>
        </p:nvSpPr>
        <p:spPr>
          <a:xfrm>
            <a:off x="6217920" y="1371600"/>
            <a:ext cx="5212080" cy="2286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6400800" y="1508760"/>
            <a:ext cx="4846200" cy="19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02 | GENRE CIBLE : L'ACTION-RPG HYBRIDE</a:t>
            </a:r>
            <a:endParaRPr sz="20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Justification Data :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Action = 1er proxy revenus (1.05 Md€). RPG = prix moyen le plus élevé (9.04€) et 73% de satisfaction.</a:t>
            </a:r>
            <a:endParaRPr sz="2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Atout :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Progression de personnage profonde et forte rétention multijoueur.</a:t>
            </a:r>
            <a:endParaRPr sz="2000"/>
          </a:p>
        </p:txBody>
      </p:sp>
      <p:sp>
        <p:nvSpPr>
          <p:cNvPr id="192" name="Google Shape;192;p8"/>
          <p:cNvSpPr/>
          <p:nvPr/>
        </p:nvSpPr>
        <p:spPr>
          <a:xfrm>
            <a:off x="731520" y="3931920"/>
            <a:ext cx="5212080" cy="2286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914400" y="4069080"/>
            <a:ext cx="4846200" cy="19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03 | CALENDRIER DES SOLDES PROGRESSIF</a:t>
            </a:r>
            <a:endParaRPr sz="20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Protection Lancement :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Aucune promotion avant 90 jours pour préserver les marges Day One.</a:t>
            </a:r>
            <a:endParaRPr sz="2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Élasticité :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Participer aux Soldes d'Hiver avec -25% pour convertir les Wishlists accumulées.</a:t>
            </a:r>
            <a:endParaRPr sz="2000"/>
          </a:p>
        </p:txBody>
      </p:sp>
      <p:sp>
        <p:nvSpPr>
          <p:cNvPr id="194" name="Google Shape;194;p8"/>
          <p:cNvSpPr/>
          <p:nvPr/>
        </p:nvSpPr>
        <p:spPr>
          <a:xfrm>
            <a:off x="6217920" y="3931920"/>
            <a:ext cx="5212080" cy="2286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6400800" y="4069080"/>
            <a:ext cx="4846200" cy="19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04 | STEAM DECK &amp; DOUBLAGE ASIATIQUE</a:t>
            </a:r>
            <a:endParaRPr sz="20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Compatibilité Proton :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Garantir le badge 'Deck Verified' dès le lancement (anti-triche compatible).</a:t>
            </a:r>
            <a:endParaRPr sz="2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Chinois Simplifié :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24.5% du catalogue : bassin d'audience prioritaire hors Occident.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