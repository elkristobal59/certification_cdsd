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3" roundtripDataSignature="AMtx7mjtUK078z0JFhMC/gZF9e5dNBPB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customschemas.google.com/relationships/presentationmetadata" Target="metadata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0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0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3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3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4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4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4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4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6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6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7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7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7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8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9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9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1097280" y="1645920"/>
            <a:ext cx="10058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BLOC 2 — ANALYSE EXPLORATOIRE DE DONNÉES (COMPLÉMENT)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1097280" y="2194560"/>
            <a:ext cx="10058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Steam Video Games Analysis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097280" y="384048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Exploration Big Data &amp; Stratégie Métier sur le Marché PC Gaming avec PySpark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1097280" y="548640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855F7"/>
                </a:solidFill>
                <a:latin typeface="Calibri"/>
                <a:ea typeface="Calibri"/>
                <a:cs typeface="Calibri"/>
                <a:sym typeface="Calibri"/>
              </a:rPr>
              <a:t>Christopher GILLERON  |  Certification CDSD — Jedha Bootcamp  |  Dossier Officiel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2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ÉTAPE 01 | CADRAGE DU PROJET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Contexte Métier &amp; Analyse Big Data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2 / 7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731520" y="1645920"/>
            <a:ext cx="10698480" cy="132588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914400" y="1719072"/>
            <a:ext cx="10332720" cy="11795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CONTEXTE STRATÉGIQUE UBISOFT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Étude de marché à grande échelle sur la plateforme Steam pour éclairer la conception et le positionnement d'un futur titre majeur.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731520" y="3108960"/>
            <a:ext cx="10698480" cy="132588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914400" y="3182112"/>
            <a:ext cx="10332720" cy="11795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855F7"/>
                </a:solidFill>
                <a:latin typeface="Calibri"/>
                <a:ea typeface="Calibri"/>
                <a:cs typeface="Calibri"/>
                <a:sym typeface="Calibri"/>
              </a:rPr>
              <a:t>VOLUME &amp; DONNÉES SEMI-STRUCTURÉES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Catalogue JSON multi-lignes hébergé sur AWS S3, nécessitant aplatissement (flattening) et typage strict des structures imbriquées.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731520" y="4572000"/>
            <a:ext cx="10698480" cy="132588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914400" y="4645152"/>
            <a:ext cx="10332720" cy="11795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OBJECTIFS DÉCISIONNELS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Comprendre les dynamiques temporelles des sorties, l'arbitrage Free-to-Play vs Payant, et les déterminants de satisfaction des joueurs.</a:t>
            </a:r>
            <a:endParaRPr/>
          </a:p>
        </p:txBody>
      </p:sp>
      <p:sp>
        <p:nvSpPr>
          <p:cNvPr id="103" name="Google Shape;103;p2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Christopher GILLERON  |  Steam Video Games Analysis  |  Certification CDSD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ÉTAPE 02 | ARCHITECTURE TECHNIQUE</a:t>
            </a:r>
            <a:endParaRPr/>
          </a:p>
        </p:txBody>
      </p:sp>
      <p:sp>
        <p:nvSpPr>
          <p:cNvPr id="110" name="Google Shape;110;p3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Pipeline PySpark &amp; Traitement Distribué</a:t>
            </a:r>
            <a:endParaRPr/>
          </a:p>
        </p:txBody>
      </p:sp>
      <p:sp>
        <p:nvSpPr>
          <p:cNvPr id="111" name="Google Shape;111;p3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/ 7</a:t>
            </a:r>
            <a:endParaRPr/>
          </a:p>
        </p:txBody>
      </p:sp>
      <p:sp>
        <p:nvSpPr>
          <p:cNvPr id="112" name="Google Shape;112;p3"/>
          <p:cNvSpPr/>
          <p:nvPr/>
        </p:nvSpPr>
        <p:spPr>
          <a:xfrm>
            <a:off x="731520" y="1645920"/>
            <a:ext cx="10698480" cy="132588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3"/>
          <p:cNvSpPr txBox="1"/>
          <p:nvPr/>
        </p:nvSpPr>
        <p:spPr>
          <a:xfrm>
            <a:off x="914400" y="1719072"/>
            <a:ext cx="10332720" cy="11795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INGESTION CLOUD S3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Lecture optimisée avec Spark SQL et inférence de schéma sur le dump JSON brut du catalogue Steam.</a:t>
            </a:r>
            <a:endParaRPr/>
          </a:p>
        </p:txBody>
      </p:sp>
      <p:sp>
        <p:nvSpPr>
          <p:cNvPr id="114" name="Google Shape;114;p3"/>
          <p:cNvSpPr/>
          <p:nvPr/>
        </p:nvSpPr>
        <p:spPr>
          <a:xfrm>
            <a:off x="731520" y="3108960"/>
            <a:ext cx="10698480" cy="132588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3"/>
          <p:cNvSpPr txBox="1"/>
          <p:nvPr/>
        </p:nvSpPr>
        <p:spPr>
          <a:xfrm>
            <a:off x="914400" y="3182112"/>
            <a:ext cx="10332720" cy="11795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855F7"/>
                </a:solidFill>
                <a:latin typeface="Calibri"/>
                <a:ea typeface="Calibri"/>
                <a:cs typeface="Calibri"/>
                <a:sym typeface="Calibri"/>
              </a:rPr>
              <a:t>WINDOW FUNCTIONS &amp; AGRÉGATIONS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Calculs des rangs par genre, ventilation multi-plateformes et fenêtrage partitionné par éditeur.</a:t>
            </a:r>
            <a:endParaRPr/>
          </a:p>
        </p:txBody>
      </p:sp>
      <p:sp>
        <p:nvSpPr>
          <p:cNvPr id="116" name="Google Shape;116;p3"/>
          <p:cNvSpPr/>
          <p:nvPr/>
        </p:nvSpPr>
        <p:spPr>
          <a:xfrm>
            <a:off x="731520" y="4572000"/>
            <a:ext cx="10698480" cy="132588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3"/>
          <p:cNvSpPr txBox="1"/>
          <p:nvPr/>
        </p:nvSpPr>
        <p:spPr>
          <a:xfrm>
            <a:off x="914400" y="4645152"/>
            <a:ext cx="10332720" cy="117957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NETTOYAGE &amp; NORMALISATION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Conversion des tarifs en euros, parsing robuste des formats de date et gestion des valeurs nulles.</a:t>
            </a:r>
            <a:endParaRPr/>
          </a:p>
        </p:txBody>
      </p:sp>
      <p:sp>
        <p:nvSpPr>
          <p:cNvPr id="118" name="Google Shape;118;p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Christopher GILLERON  |  Steam Video Games Analysis  |  Certification CDSD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 txBox="1"/>
          <p:nvPr/>
        </p:nvSpPr>
        <p:spPr>
          <a:xfrm>
            <a:off x="731520" y="457200"/>
            <a:ext cx="9144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ÉTAPE 03 | EXPLORATION TEMPORELLE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731520" y="82296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Évolution des Sorties &amp; Impact COVID-19</a:t>
            </a:r>
            <a:endParaRPr/>
          </a:p>
        </p:txBody>
      </p:sp>
      <p:sp>
        <p:nvSpPr>
          <p:cNvPr id="126" name="Google Shape;126;p4"/>
          <p:cNvSpPr txBox="1"/>
          <p:nvPr/>
        </p:nvSpPr>
        <p:spPr>
          <a:xfrm>
            <a:off x="10515600" y="640080"/>
            <a:ext cx="1097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4 / 7</a:t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731520" y="1645920"/>
            <a:ext cx="5303400" cy="2057400"/>
          </a:xfrm>
          <a:prstGeom prst="roundRect">
            <a:avLst>
              <a:gd fmla="val 11111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4"/>
          <p:cNvSpPr txBox="1"/>
          <p:nvPr/>
        </p:nvSpPr>
        <p:spPr>
          <a:xfrm>
            <a:off x="990600" y="1790700"/>
            <a:ext cx="4781700" cy="6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EXPLOSION DE L'OFFRE</a:t>
            </a:r>
            <a:endParaRPr b="1" sz="1400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Croissance exponentielle du catalogue entre 2012 et 2022, intensifiant la concurrence sur la visibilité.</a:t>
            </a:r>
            <a:endParaRPr b="0" sz="1150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731520" y="3840480"/>
            <a:ext cx="5303400" cy="2057400"/>
          </a:xfrm>
          <a:prstGeom prst="roundRect">
            <a:avLst>
              <a:gd fmla="val 11111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4"/>
          <p:cNvSpPr txBox="1"/>
          <p:nvPr/>
        </p:nvSpPr>
        <p:spPr>
          <a:xfrm>
            <a:off x="990600" y="3985260"/>
            <a:ext cx="4781700" cy="6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A855F7"/>
                </a:solidFill>
                <a:latin typeface="Calibri"/>
                <a:ea typeface="Calibri"/>
                <a:cs typeface="Calibri"/>
                <a:sym typeface="Calibri"/>
              </a:rPr>
              <a:t>PIC HISTORIQUE 2020</a:t>
            </a:r>
            <a:endParaRPr b="1" sz="1400">
              <a:solidFill>
                <a:srgbClr val="A855F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75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Accélération de </a:t>
            </a:r>
            <a:r>
              <a:rPr b="1" lang="en-US" sz="115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+28.2%</a:t>
            </a:r>
            <a:r>
              <a:rPr b="0" lang="en-US" sz="1150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des sorties durant la crise sanitaire, portée par l'essor du jeu à domicile et des studios indés.</a:t>
            </a:r>
            <a:endParaRPr b="0" sz="1150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6355080" y="1645920"/>
            <a:ext cx="5120700" cy="4251900"/>
          </a:xfrm>
          <a:prstGeom prst="roundRect">
            <a:avLst>
              <a:gd fmla="val 5376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steam_releases_covid_impact.png" id="132" name="Google Shape;132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86525" y="2557463"/>
            <a:ext cx="4857900" cy="24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4"/>
          <p:cNvSpPr txBox="1"/>
          <p:nvPr/>
        </p:nvSpPr>
        <p:spPr>
          <a:xfrm>
            <a:off x="731520" y="6309360"/>
            <a:ext cx="10698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Christopher GILLERON  |  Steam Video Games Analysis  |  Certification CDSD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5"/>
          <p:cNvSpPr txBox="1"/>
          <p:nvPr/>
        </p:nvSpPr>
        <p:spPr>
          <a:xfrm>
            <a:off x="731520" y="457200"/>
            <a:ext cx="9144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ÉTAPE 04 | MODÈLES ÉCONOMIQUES</a:t>
            </a:r>
            <a:endParaRPr/>
          </a:p>
        </p:txBody>
      </p:sp>
      <p:sp>
        <p:nvSpPr>
          <p:cNvPr id="140" name="Google Shape;140;p5"/>
          <p:cNvSpPr txBox="1"/>
          <p:nvPr/>
        </p:nvSpPr>
        <p:spPr>
          <a:xfrm>
            <a:off x="731520" y="82296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Pricing &amp; Segmentation Free-to-Play</a:t>
            </a:r>
            <a:endParaRPr/>
          </a:p>
        </p:txBody>
      </p:sp>
      <p:sp>
        <p:nvSpPr>
          <p:cNvPr id="141" name="Google Shape;141;p5"/>
          <p:cNvSpPr txBox="1"/>
          <p:nvPr/>
        </p:nvSpPr>
        <p:spPr>
          <a:xfrm>
            <a:off x="10515600" y="640080"/>
            <a:ext cx="1097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5 / 7</a:t>
            </a:r>
            <a:endParaRPr/>
          </a:p>
        </p:txBody>
      </p:sp>
      <p:sp>
        <p:nvSpPr>
          <p:cNvPr id="142" name="Google Shape;142;p5"/>
          <p:cNvSpPr/>
          <p:nvPr/>
        </p:nvSpPr>
        <p:spPr>
          <a:xfrm>
            <a:off x="731520" y="1645920"/>
            <a:ext cx="5303400" cy="20574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5"/>
          <p:cNvSpPr txBox="1"/>
          <p:nvPr/>
        </p:nvSpPr>
        <p:spPr>
          <a:xfrm>
            <a:off x="990600" y="1790700"/>
            <a:ext cx="4781700" cy="67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PART DU FREE-TO-PLAY (18.4%)</a:t>
            </a:r>
            <a:endParaRPr b="1" sz="1400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Modèle minoritaire en volume mais concentrateur de l'engagement massif et des microtransactions.</a:t>
            </a:r>
            <a:endParaRPr b="0" sz="1150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731520" y="3840480"/>
            <a:ext cx="5303400" cy="20574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6355080" y="1645920"/>
            <a:ext cx="5120700" cy="4251900"/>
          </a:xfrm>
          <a:prstGeom prst="roundRect">
            <a:avLst>
              <a:gd fmla="val 5376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5"/>
          <p:cNvSpPr txBox="1"/>
          <p:nvPr/>
        </p:nvSpPr>
        <p:spPr>
          <a:xfrm>
            <a:off x="990600" y="3985260"/>
            <a:ext cx="4781700" cy="67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A855F7"/>
                </a:solidFill>
                <a:latin typeface="Calibri"/>
                <a:ea typeface="Calibri"/>
                <a:cs typeface="Calibri"/>
                <a:sym typeface="Calibri"/>
              </a:rPr>
              <a:t>CŒUR DE MASSE : 5€ - 15€</a:t>
            </a:r>
            <a:endParaRPr b="1" sz="1400">
              <a:solidFill>
                <a:srgbClr val="A855F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lang="en-US" sz="1150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Plus de </a:t>
            </a:r>
            <a:r>
              <a:rPr b="1" lang="en-US" sz="115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41%</a:t>
            </a:r>
            <a:r>
              <a:rPr b="0" lang="en-US" sz="1150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 des titres payants se situent dans cette tranche, standard d'or pour la rentabilité des jeux indépendants.</a:t>
            </a:r>
            <a:endParaRPr b="0" sz="1150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5"/>
          <p:cNvPicPr preferRelativeResize="0"/>
          <p:nvPr/>
        </p:nvPicPr>
        <p:blipFill rotWithShape="1">
          <a:blip r:embed="rId3">
            <a:alphaModFix/>
          </a:blip>
          <a:srcRect b="0" l="5157" r="5157" t="0"/>
          <a:stretch/>
        </p:blipFill>
        <p:spPr>
          <a:xfrm>
            <a:off x="6432233" y="2617470"/>
            <a:ext cx="4966200" cy="2307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5"/>
          <p:cNvSpPr txBox="1"/>
          <p:nvPr/>
        </p:nvSpPr>
        <p:spPr>
          <a:xfrm>
            <a:off x="731520" y="6309360"/>
            <a:ext cx="10698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Christopher GILLERON  |  Steam Video Games Analysis  |  Certification CDSD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6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6"/>
          <p:cNvSpPr txBox="1"/>
          <p:nvPr/>
        </p:nvSpPr>
        <p:spPr>
          <a:xfrm>
            <a:off x="731520" y="457200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ÉTAPE 05 | GENRES &amp; SATISFACTION</a:t>
            </a:r>
            <a:endParaRPr/>
          </a:p>
        </p:txBody>
      </p:sp>
      <p:sp>
        <p:nvSpPr>
          <p:cNvPr id="155" name="Google Shape;155;p6"/>
          <p:cNvSpPr txBox="1"/>
          <p:nvPr/>
        </p:nvSpPr>
        <p:spPr>
          <a:xfrm>
            <a:off x="731520" y="822960"/>
            <a:ext cx="91440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Standards de Qualité &amp; Multi-OS</a:t>
            </a:r>
            <a:endParaRPr/>
          </a:p>
        </p:txBody>
      </p:sp>
      <p:sp>
        <p:nvSpPr>
          <p:cNvPr id="156" name="Google Shape;156;p6"/>
          <p:cNvSpPr txBox="1"/>
          <p:nvPr/>
        </p:nvSpPr>
        <p:spPr>
          <a:xfrm>
            <a:off x="10515600" y="64008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6 / 7</a:t>
            </a:r>
            <a:endParaRPr/>
          </a:p>
        </p:txBody>
      </p:sp>
      <p:sp>
        <p:nvSpPr>
          <p:cNvPr id="157" name="Google Shape;157;p6"/>
          <p:cNvSpPr/>
          <p:nvPr/>
        </p:nvSpPr>
        <p:spPr>
          <a:xfrm>
            <a:off x="731520" y="1645920"/>
            <a:ext cx="5303520" cy="20574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6"/>
          <p:cNvSpPr txBox="1"/>
          <p:nvPr/>
        </p:nvSpPr>
        <p:spPr>
          <a:xfrm>
            <a:off x="914400" y="1719072"/>
            <a:ext cx="4937760" cy="19110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GENRES PLÉBISCITÉS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Les jeux Indépendants (85.6%) et RPG (82.1%) enregistrent les taux d'avis positifs les plus élevés auprès de la communauté.</a:t>
            </a:r>
            <a:endParaRPr/>
          </a:p>
        </p:txBody>
      </p:sp>
      <p:sp>
        <p:nvSpPr>
          <p:cNvPr id="159" name="Google Shape;159;p6"/>
          <p:cNvSpPr/>
          <p:nvPr/>
        </p:nvSpPr>
        <p:spPr>
          <a:xfrm>
            <a:off x="731520" y="3840480"/>
            <a:ext cx="5303520" cy="205740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6"/>
          <p:cNvSpPr txBox="1"/>
          <p:nvPr/>
        </p:nvSpPr>
        <p:spPr>
          <a:xfrm>
            <a:off x="914400" y="3913632"/>
            <a:ext cx="4937760" cy="19110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A855F7"/>
                </a:solidFill>
                <a:latin typeface="Calibri"/>
                <a:ea typeface="Calibri"/>
                <a:cs typeface="Calibri"/>
                <a:sym typeface="Calibri"/>
              </a:rPr>
              <a:t>UNIVERSALITÉ DE WINDOWS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Socle universel (74.2% exclusif), avec une part croissante (25.8%) s'ouvrant au multi-plateforme (MacOS / Linux / Steam Deck).</a:t>
            </a:r>
            <a:endParaRPr/>
          </a:p>
        </p:txBody>
      </p:sp>
      <p:sp>
        <p:nvSpPr>
          <p:cNvPr id="161" name="Google Shape;161;p6"/>
          <p:cNvSpPr/>
          <p:nvPr/>
        </p:nvSpPr>
        <p:spPr>
          <a:xfrm>
            <a:off x="6355080" y="1600200"/>
            <a:ext cx="5120640" cy="4389120"/>
          </a:xfrm>
          <a:prstGeom prst="roundRect">
            <a:avLst>
              <a:gd fmla="val 16667" name="adj"/>
            </a:avLst>
          </a:prstGeom>
          <a:solidFill>
            <a:srgbClr val="1E293B"/>
          </a:solidFill>
          <a:ln cap="flat" cmpd="sng" w="9525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steam_genres_and_platforms.png" id="162" name="Google Shape;16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0" y="2827607"/>
            <a:ext cx="5029201" cy="1934308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6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Christopher GILLERON  |  Steam Video Games Analysis  |  Certification CDSD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"/>
          <p:cNvSpPr/>
          <p:nvPr/>
        </p:nvSpPr>
        <p:spPr>
          <a:xfrm>
            <a:off x="0" y="0"/>
            <a:ext cx="12191700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 txBox="1"/>
          <p:nvPr/>
        </p:nvSpPr>
        <p:spPr>
          <a:xfrm>
            <a:off x="731520" y="457200"/>
            <a:ext cx="91440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ÉTAPE 06 | RECOMMANDATIONS</a:t>
            </a:r>
            <a:endParaRPr/>
          </a:p>
        </p:txBody>
      </p:sp>
      <p:sp>
        <p:nvSpPr>
          <p:cNvPr id="170" name="Google Shape;170;p7"/>
          <p:cNvSpPr txBox="1"/>
          <p:nvPr/>
        </p:nvSpPr>
        <p:spPr>
          <a:xfrm>
            <a:off x="731520" y="822960"/>
            <a:ext cx="91440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Plan d'Action &amp; Synthèse Métier</a:t>
            </a:r>
            <a:endParaRPr/>
          </a:p>
        </p:txBody>
      </p:sp>
      <p:sp>
        <p:nvSpPr>
          <p:cNvPr id="171" name="Google Shape;171;p7"/>
          <p:cNvSpPr txBox="1"/>
          <p:nvPr/>
        </p:nvSpPr>
        <p:spPr>
          <a:xfrm>
            <a:off x="10515600" y="640080"/>
            <a:ext cx="10974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7 / 7</a:t>
            </a:r>
            <a:endParaRPr/>
          </a:p>
        </p:txBody>
      </p:sp>
      <p:sp>
        <p:nvSpPr>
          <p:cNvPr id="172" name="Google Shape;172;p7"/>
          <p:cNvSpPr/>
          <p:nvPr/>
        </p:nvSpPr>
        <p:spPr>
          <a:xfrm>
            <a:off x="731520" y="1645920"/>
            <a:ext cx="3372000" cy="4286400"/>
          </a:xfrm>
          <a:prstGeom prst="roundRect">
            <a:avLst>
              <a:gd fmla="val 6779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7"/>
          <p:cNvSpPr/>
          <p:nvPr/>
        </p:nvSpPr>
        <p:spPr>
          <a:xfrm>
            <a:off x="998220" y="1912620"/>
            <a:ext cx="533400" cy="266700"/>
          </a:xfrm>
          <a:prstGeom prst="roundRect">
            <a:avLst>
              <a:gd fmla="val 50000" name="adj"/>
            </a:avLst>
          </a:prstGeom>
          <a:solidFill>
            <a:srgbClr val="38BDF8">
              <a:alpha val="15000"/>
            </a:srgbClr>
          </a:solidFill>
          <a:ln cap="flat" cmpd="sng" w="9525">
            <a:solidFill>
              <a:srgbClr val="38BDF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7"/>
          <p:cNvSpPr txBox="1"/>
          <p:nvPr/>
        </p:nvSpPr>
        <p:spPr>
          <a:xfrm>
            <a:off x="998220" y="1912620"/>
            <a:ext cx="533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1" sz="1100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7"/>
          <p:cNvSpPr txBox="1"/>
          <p:nvPr/>
        </p:nvSpPr>
        <p:spPr>
          <a:xfrm>
            <a:off x="998220" y="2362200"/>
            <a:ext cx="2838600" cy="3295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8BDF8"/>
                </a:solidFill>
                <a:latin typeface="Calibri"/>
                <a:ea typeface="Calibri"/>
                <a:cs typeface="Calibri"/>
                <a:sym typeface="Calibri"/>
              </a:rPr>
              <a:t>RECOMMANDATION PRICING</a:t>
            </a:r>
            <a:endParaRPr b="1" sz="1400">
              <a:solidFill>
                <a:srgbClr val="38BDF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Positionner le titre entre 19.99€ et 29.99€ pour équilibrer perception de qualité premium et volume d'acquisition.</a:t>
            </a:r>
            <a:endParaRPr b="0" sz="1200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7"/>
          <p:cNvSpPr/>
          <p:nvPr/>
        </p:nvSpPr>
        <p:spPr>
          <a:xfrm>
            <a:off x="4408170" y="1645920"/>
            <a:ext cx="3372000" cy="4286400"/>
          </a:xfrm>
          <a:prstGeom prst="roundRect">
            <a:avLst>
              <a:gd fmla="val 6779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7"/>
          <p:cNvSpPr/>
          <p:nvPr/>
        </p:nvSpPr>
        <p:spPr>
          <a:xfrm>
            <a:off x="4674870" y="1912620"/>
            <a:ext cx="533400" cy="266700"/>
          </a:xfrm>
          <a:prstGeom prst="roundRect">
            <a:avLst>
              <a:gd fmla="val 50000" name="adj"/>
            </a:avLst>
          </a:prstGeom>
          <a:solidFill>
            <a:srgbClr val="A855F7">
              <a:alpha val="15000"/>
            </a:srgbClr>
          </a:solidFill>
          <a:ln cap="flat" cmpd="sng" w="9525">
            <a:solidFill>
              <a:srgbClr val="A855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7"/>
          <p:cNvSpPr txBox="1"/>
          <p:nvPr/>
        </p:nvSpPr>
        <p:spPr>
          <a:xfrm>
            <a:off x="731520" y="6309360"/>
            <a:ext cx="106986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Christopher GILLERON  |  Steam Video Games Analysis  |  Certification CDSD</a:t>
            </a:r>
            <a:endParaRPr/>
          </a:p>
        </p:txBody>
      </p:sp>
      <p:sp>
        <p:nvSpPr>
          <p:cNvPr id="179" name="Google Shape;179;p7"/>
          <p:cNvSpPr txBox="1"/>
          <p:nvPr/>
        </p:nvSpPr>
        <p:spPr>
          <a:xfrm>
            <a:off x="4674870" y="1912620"/>
            <a:ext cx="533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A855F7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1" sz="1100">
              <a:solidFill>
                <a:srgbClr val="A855F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7"/>
          <p:cNvSpPr txBox="1"/>
          <p:nvPr/>
        </p:nvSpPr>
        <p:spPr>
          <a:xfrm>
            <a:off x="4674870" y="2362200"/>
            <a:ext cx="2838600" cy="3295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A855F7"/>
                </a:solidFill>
                <a:latin typeface="Calibri"/>
                <a:ea typeface="Calibri"/>
                <a:cs typeface="Calibri"/>
                <a:sym typeface="Calibri"/>
              </a:rPr>
              <a:t>ENGAGEMENT COMMUNAUTAIRE</a:t>
            </a:r>
            <a:endParaRPr b="1" sz="1400">
              <a:solidFill>
                <a:srgbClr val="A855F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Soigner la boucle de gameplay dès l'Early Access pour sécuriser le seuil critique des 80% d'avis positifs favorables à l'algorithme Steam.</a:t>
            </a:r>
            <a:endParaRPr b="0" sz="1200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7"/>
          <p:cNvSpPr/>
          <p:nvPr/>
        </p:nvSpPr>
        <p:spPr>
          <a:xfrm>
            <a:off x="8084820" y="1645920"/>
            <a:ext cx="3372000" cy="4286400"/>
          </a:xfrm>
          <a:prstGeom prst="roundRect">
            <a:avLst>
              <a:gd fmla="val 6779" name="adj"/>
            </a:avLst>
          </a:prstGeom>
          <a:solidFill>
            <a:srgbClr val="1E293B"/>
          </a:solidFill>
          <a:ln cap="flat" cmpd="sng" w="12700">
            <a:solidFill>
              <a:srgbClr val="33415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7"/>
          <p:cNvSpPr/>
          <p:nvPr/>
        </p:nvSpPr>
        <p:spPr>
          <a:xfrm>
            <a:off x="8351520" y="1912620"/>
            <a:ext cx="533400" cy="266700"/>
          </a:xfrm>
          <a:prstGeom prst="roundRect">
            <a:avLst>
              <a:gd fmla="val 50000" name="adj"/>
            </a:avLst>
          </a:prstGeom>
          <a:solidFill>
            <a:srgbClr val="34D399">
              <a:alpha val="15000"/>
            </a:srgbClr>
          </a:solidFill>
          <a:ln cap="flat" cmpd="sng" w="9525">
            <a:solidFill>
              <a:srgbClr val="34D39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7"/>
          <p:cNvSpPr txBox="1"/>
          <p:nvPr/>
        </p:nvSpPr>
        <p:spPr>
          <a:xfrm>
            <a:off x="8351520" y="1912620"/>
            <a:ext cx="533400" cy="266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1" sz="1100">
              <a:solidFill>
                <a:srgbClr val="34D39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7"/>
          <p:cNvSpPr txBox="1"/>
          <p:nvPr/>
        </p:nvSpPr>
        <p:spPr>
          <a:xfrm>
            <a:off x="8351520" y="2362200"/>
            <a:ext cx="2838600" cy="32958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4D399"/>
                </a:solidFill>
                <a:latin typeface="Calibri"/>
                <a:ea typeface="Calibri"/>
                <a:cs typeface="Calibri"/>
                <a:sym typeface="Calibri"/>
              </a:rPr>
              <a:t>SUPPORT MULTI-OS / STEAMOS</a:t>
            </a:r>
            <a:endParaRPr b="1" sz="1400">
              <a:solidFill>
                <a:srgbClr val="34D39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F8FAFC"/>
                </a:solidFill>
                <a:latin typeface="Calibri"/>
                <a:ea typeface="Calibri"/>
                <a:cs typeface="Calibri"/>
                <a:sym typeface="Calibri"/>
              </a:rPr>
              <a:t>Optimiser la compatibilité Proton / Linux pour adresser la base installée grandissante du Steam Deck.</a:t>
            </a:r>
            <a:endParaRPr b="0" sz="1200">
              <a:solidFill>
                <a:srgbClr val="F8FAF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