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1675"/>
  <p:notesSz cx="6858000" cy="9144000"/>
  <p:embeddedFontLst>
    <p:embeddedFont>
      <p:font typeface="Inter SemiBold"/>
      <p:regular r:id="rId13"/>
      <p:bold r:id="rId14"/>
      <p:italic r:id="rId15"/>
      <p:boldItalic r:id="rId16"/>
    </p:embeddedFont>
    <p:embeddedFont>
      <p:font typeface="Inter"/>
      <p:bold r:id="rId17"/>
      <p:boldItalic r:id="rId18"/>
    </p:embeddedFont>
    <p:embeddedFont>
      <p:font typeface="Inter ExtraBold"/>
      <p:bold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1" roundtripDataSignature="AMtx7mhuWaI1TJJ2enDwySZ/n/LKgCJT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ExtraBold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font" Target="fonts/InterSemiBold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SemiBold-italic.fntdata"/><Relationship Id="rId14" Type="http://schemas.openxmlformats.org/officeDocument/2006/relationships/font" Target="fonts/InterSemiBold-bold.fntdata"/><Relationship Id="rId17" Type="http://schemas.openxmlformats.org/officeDocument/2006/relationships/font" Target="fonts/Inter-bold.fntdata"/><Relationship Id="rId16" Type="http://schemas.openxmlformats.org/officeDocument/2006/relationships/font" Target="fonts/InterSemiBold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InterExtraBold-bold.fntdata"/><Relationship Id="rId6" Type="http://schemas.openxmlformats.org/officeDocument/2006/relationships/slide" Target="slides/slide1.xml"/><Relationship Id="rId18" Type="http://schemas.openxmlformats.org/officeDocument/2006/relationships/font" Target="fonts/Inter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5" name="Google Shape;85;p1"/>
          <p:cNvGrpSpPr/>
          <p:nvPr/>
        </p:nvGrpSpPr>
        <p:grpSpPr>
          <a:xfrm>
            <a:off x="914400" y="1047750"/>
            <a:ext cx="3048000" cy="342900"/>
            <a:chOff x="0" y="0"/>
            <a:chExt cx="3048000" cy="342900"/>
          </a:xfrm>
        </p:grpSpPr>
        <p:sp>
          <p:nvSpPr>
            <p:cNvPr id="86" name="Google Shape;86;p1"/>
            <p:cNvSpPr/>
            <p:nvPr/>
          </p:nvSpPr>
          <p:spPr>
            <a:xfrm>
              <a:off x="0" y="0"/>
              <a:ext cx="3048000" cy="342900"/>
            </a:xfrm>
            <a:prstGeom prst="roundRect">
              <a:avLst>
                <a:gd fmla="val 50000" name="adj"/>
              </a:avLst>
            </a:prstGeom>
            <a:solidFill>
              <a:srgbClr val="00C2B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"/>
            <p:cNvSpPr txBox="1"/>
            <p:nvPr/>
          </p:nvSpPr>
          <p:spPr>
            <a:xfrm>
              <a:off x="0" y="0"/>
              <a:ext cx="3048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900">
                  <a:solidFill>
                    <a:srgbClr val="1B2A4A"/>
                  </a:solidFill>
                  <a:latin typeface="Inter"/>
                  <a:ea typeface="Inter"/>
                  <a:cs typeface="Inter"/>
                  <a:sym typeface="Inter"/>
                </a:rPr>
                <a:t>CERTIFICATION CDSD — BLOC 5 RNCP</a:t>
              </a:r>
              <a:endParaRPr b="1" sz="900">
                <a:solidFill>
                  <a:srgbClr val="1B2A4A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88" name="Google Shape;88;p1"/>
          <p:cNvSpPr txBox="1"/>
          <p:nvPr/>
        </p:nvSpPr>
        <p:spPr>
          <a:xfrm>
            <a:off x="914400" y="1666875"/>
            <a:ext cx="10363200" cy="26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2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GetAround : Optimisation des Retards &amp; Tarification Dynamique</a:t>
            </a:r>
            <a:endParaRPr b="0" sz="42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-US" sz="1600">
                <a:solidFill>
                  <a:srgbClr val="00C2B2"/>
                </a:solidFill>
                <a:latin typeface="Inter"/>
                <a:ea typeface="Inter"/>
                <a:cs typeface="Inter"/>
                <a:sym typeface="Inter"/>
              </a:rPr>
              <a:t>Déploiement d'un Simulateur Décisionnel (Streamlit) &amp; d'une API de Pricing Temps Réel (FastAPI, Docker, MLflow)</a:t>
            </a:r>
            <a:endParaRPr b="0" sz="1600">
              <a:solidFill>
                <a:srgbClr val="00C2B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5100" y="724825"/>
            <a:ext cx="720900" cy="75930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914400" y="4619625"/>
            <a:ext cx="103632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Christopher Gilleron </a:t>
            </a:r>
            <a:r>
              <a:rPr b="0" lang="en-US" sz="1200">
                <a:solidFill>
                  <a:srgbClr val="788CA0"/>
                </a:solidFill>
                <a:latin typeface="Inter"/>
                <a:ea typeface="Inter"/>
                <a:cs typeface="Inter"/>
                <a:sym typeface="Inter"/>
              </a:rPr>
              <a:t>|    8 octobre 2026</a:t>
            </a:r>
            <a:endParaRPr b="0" sz="1500">
              <a:solidFill>
                <a:srgbClr val="FFFFFF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00C2B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Stack Technique :</a:t>
            </a:r>
            <a:r>
              <a:rPr b="0" lang="en-US" sz="11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FastAPI Streamlit Docker Compose MLflow Tracking Scikit-Learn Plotly</a:t>
            </a:r>
            <a:endParaRPr b="0" sz="11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BLOC 5 — INDUSTRIALISATION &amp; MLOPS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Le Défi Métier : La Double Contrainte de l'Autopartage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731520" y="1463040"/>
            <a:ext cx="6858000" cy="475488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914400" y="1645920"/>
            <a:ext cx="64922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L'effet domino des retards de restitution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Le problème usager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Lorsqu'un locataire restitue son véhicule en retard, le locataire suivant attend, subit un stress important ou annule sa réservation.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Le dilemme du Product Manager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Imposer un seuil de battement minimal entre deux réservations résout les litiges... mais bloque des créneaux de location et fait perdre du revenu aux propriétaires partenaires.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Double mission confiée par Getaround : 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1. Simulateur Décisionnel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Quel seuil de battement imposer ? Sur quel périmètre (Connect vs Mobile) ?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2. Algorithme de Tarification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Quel prix journalier recommander aux propriétaires pour maximiser le taux de réservation ?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7863840" y="1463040"/>
            <a:ext cx="3566160" cy="1371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8046720" y="1600200"/>
            <a:ext cx="3200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21 310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LOCATIONS ANALYSÉES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788CA0"/>
                </a:solidFill>
                <a:latin typeface="Calibri"/>
                <a:ea typeface="Calibri"/>
                <a:cs typeface="Calibri"/>
                <a:sym typeface="Calibri"/>
              </a:rPr>
              <a:t>18 045 terminées avec relevé d'état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7863840" y="3108960"/>
            <a:ext cx="3566160" cy="1371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8046720" y="3246120"/>
            <a:ext cx="3200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8,6 %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LOCATIONS CONSÉCUTIVES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788CA0"/>
                </a:solidFill>
                <a:latin typeface="Calibri"/>
                <a:ea typeface="Calibri"/>
                <a:cs typeface="Calibri"/>
                <a:sym typeface="Calibri"/>
              </a:rPr>
              <a:t>1 731 enchaînements &lt; 12h (périmètre à risque)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7863840" y="4754880"/>
            <a:ext cx="3566160" cy="13716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8046720" y="4892040"/>
            <a:ext cx="3200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4 843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ANNONCES DE PRICING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788CA0"/>
                </a:solidFill>
                <a:latin typeface="Calibri"/>
                <a:ea typeface="Calibri"/>
                <a:cs typeface="Calibri"/>
                <a:sym typeface="Calibri"/>
              </a:rPr>
              <a:t>Base d'apprentissage du modèle de prix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BLOC 5 — INDUSTRIALISATION &amp; MLOPS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Diagnostic Analytique : L'Ampleur et la Nature des Retards</a:t>
            </a:r>
            <a:endParaRPr/>
          </a:p>
        </p:txBody>
      </p:sp>
      <p:sp>
        <p:nvSpPr>
          <p:cNvPr id="111" name="Google Shape;111;p3"/>
          <p:cNvSpPr/>
          <p:nvPr/>
        </p:nvSpPr>
        <p:spPr>
          <a:xfrm>
            <a:off x="731520" y="1463040"/>
            <a:ext cx="338328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914400" y="1645920"/>
            <a:ext cx="30175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57,4 % de retards au checkout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Mais la médiane n'est que de 53 minutes.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La majorité des retards sont courts et gérables sans intervention lourde. Les retards extrêmes (&gt; 4h) sont rares mais dévastateurs.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4389120" y="1463040"/>
            <a:ext cx="338328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4572000" y="1645920"/>
            <a:ext cx="30175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Connect (43 %) vs Mobile (61 %)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La technologie sans clé Getaround Connect réduit les retards de 18 points.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Pas de contrainte de rendez-vous physique : le locataire verrouille via smartphone. En Mobile, l'attente du propriétaire amplifie le retard.</a:t>
            </a: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8046720" y="1463040"/>
            <a:ext cx="338328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E74C3C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8229600" y="1645920"/>
            <a:ext cx="30175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74C3C"/>
                </a:solidFill>
                <a:latin typeface="Calibri"/>
                <a:ea typeface="Calibri"/>
                <a:cs typeface="Calibri"/>
                <a:sym typeface="Calibri"/>
              </a:rPr>
              <a:t>218 litiges réels constatés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Soit 12,6 % des locations consécutives.</a:t>
            </a:r>
            <a:endParaRPr/>
          </a:p>
          <a:p>
            <a:pPr indent="0" lvl="0" marL="0" marR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Le retard du prédécesseur dépasse le délai disponible avant la prise en main suivante. C'est ce noyau dur qu'il faut neutraliser.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BLOC 5 — INDUSTRIALISATION &amp; MLOPS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Quel Seuil Choisir ? L'Arbitrage Volume vs Satisfaction</a:t>
            </a: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731520" y="1463040"/>
            <a:ext cx="6858000" cy="475488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 txBox="1"/>
          <p:nvPr/>
        </p:nvSpPr>
        <p:spPr>
          <a:xfrm>
            <a:off x="914400" y="1645920"/>
            <a:ext cx="64922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Deux forces opposées : La recherche du point d'équilibre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Plus le seuil augmente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Plus on résout de conflits et protège l'expérience du second locataire.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Mais le coût explose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Chaque minute de seuil supplémentaire bloque des créneaux et menace le chiffre d'affaires.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Le palier optimal : 60 minutes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Conflits résolus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146 litiges évités sur 218 (67 % des problèmes neutralisés).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  • Volume bloqué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401 locations concernées, soit seulement 1,9 % du volume global.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Rendement décroissant au-delà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Passer à 3 heures (180 min) ne fait gagner que 23 points de conflits mais multiplie par 2,5 les locations bloquées !</a:t>
            </a:r>
            <a:endParaRPr/>
          </a:p>
        </p:txBody>
      </p:sp>
      <p:sp>
        <p:nvSpPr>
          <p:cNvPr id="125" name="Google Shape;125;p4"/>
          <p:cNvSpPr/>
          <p:nvPr/>
        </p:nvSpPr>
        <p:spPr>
          <a:xfrm>
            <a:off x="7863840" y="1463040"/>
            <a:ext cx="3566160" cy="475488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8046720" y="1645920"/>
            <a:ext cx="32004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SIMULATION COMPARATIVE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Seuil 30 min</a:t>
            </a:r>
            <a:b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48 % résolus | 0,9 % bloquées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Seuil 60 min (Recommandé)</a:t>
            </a:r>
            <a:br>
              <a:rPr b="1" i="0" lang="en-US" sz="13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67 % résolus | 1,9 % bloquées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Seuil 120 min</a:t>
            </a:r>
            <a:b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84 % résolus | 3,8 % bloquées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Seuil 180 min</a:t>
            </a:r>
            <a:b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90 % résolus | 4,9 % bloquées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Seuil 240 min</a:t>
            </a:r>
            <a:b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94 % résolus | 5,6 % bloquées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BLOC 5 — INDUSTRIALISATION &amp; MLOPS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Modèle de Tarification Prédictive : Random Forest Regressor</a:t>
            </a:r>
            <a:endParaRPr/>
          </a:p>
        </p:txBody>
      </p:sp>
      <p:sp>
        <p:nvSpPr>
          <p:cNvPr id="133" name="Google Shape;133;p5"/>
          <p:cNvSpPr/>
          <p:nvPr/>
        </p:nvSpPr>
        <p:spPr>
          <a:xfrm>
            <a:off x="731520" y="1463040"/>
            <a:ext cx="521208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 txBox="1"/>
          <p:nvPr/>
        </p:nvSpPr>
        <p:spPr>
          <a:xfrm>
            <a:off x="914400" y="1645920"/>
            <a:ext cx="48463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Performance sur le jeu de test (969 annonces)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MAE (Erreur Moyenne)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10,78 € / jour (erreur relative de 9,0 % par rapport au prix médian de 119 €).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R² (Score Prédictif)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0,729 (72,9 % de la variance du prix expliquée par le modèle).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Gain vs Baseline Linéaire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La régression Ridge plafonne à 12,12 € de MAE et 0,693 de R². Random Forest capture les non-linéarités complexes.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Décision Produit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L'API suggère une fourchette de négociation (±11 €) plutôt que d'imposer un prix rigide au propriétaire.</a:t>
            </a:r>
            <a:endParaRPr/>
          </a:p>
        </p:txBody>
      </p:sp>
      <p:sp>
        <p:nvSpPr>
          <p:cNvPr id="135" name="Google Shape;135;p5"/>
          <p:cNvSpPr/>
          <p:nvPr/>
        </p:nvSpPr>
        <p:spPr>
          <a:xfrm>
            <a:off x="6217920" y="1463040"/>
            <a:ext cx="5212080" cy="475488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 txBox="1"/>
          <p:nvPr/>
        </p:nvSpPr>
        <p:spPr>
          <a:xfrm>
            <a:off x="6400800" y="1645920"/>
            <a:ext cx="484632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Explicabilité : Quels facteurs fixent le prix ?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Puissance moteur (45,5 %)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Premier facteur déterminant de la valeur perçue du véhicule.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Kilométrage (28,1 %)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Indicateur direct d'usure et de dépréciation.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-&gt; Puissance + Kilométrage = 73,6 % du signal de prix !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Équipements (GPS, Connect, Régulateur)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Pèsent chacun entre 2 et 4 %. Ils maximisent le taux de clics et la conversion plutôt que le prix journalier pur.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Type de véhicule &amp; Marque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Segment SUV (+ surcote) vs citadine compacte.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BLOC 5 — INDUSTRIALISATION &amp; MLOPS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Architecture Industrielle &amp; Déploiement Microservices</a:t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731520" y="1463040"/>
            <a:ext cx="256032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 txBox="1"/>
          <p:nvPr/>
        </p:nvSpPr>
        <p:spPr>
          <a:xfrm>
            <a:off x="868680" y="1645920"/>
            <a:ext cx="22860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API REST FastAPI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88CA0"/>
                </a:solidFill>
                <a:latin typeface="Calibri"/>
                <a:ea typeface="Calibri"/>
                <a:cs typeface="Calibri"/>
                <a:sym typeface="Calibri"/>
              </a:rPr>
              <a:t>Port 8000 — Swagger UI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Validation stricte via schémas Pydantic v2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Endpoints unitaire (/predict) et lot (/predict/batch)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Inférence sub-milliseconde via Pipeline Scikit-Learn sérialisée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Rétro-compatibilité format legacy test</a:t>
            </a:r>
            <a:endParaRPr/>
          </a:p>
        </p:txBody>
      </p:sp>
      <p:sp>
        <p:nvSpPr>
          <p:cNvPr id="145" name="Google Shape;145;p6"/>
          <p:cNvSpPr/>
          <p:nvPr/>
        </p:nvSpPr>
        <p:spPr>
          <a:xfrm>
            <a:off x="3429000" y="1463040"/>
            <a:ext cx="256032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B2A4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6"/>
          <p:cNvSpPr txBox="1"/>
          <p:nvPr/>
        </p:nvSpPr>
        <p:spPr>
          <a:xfrm>
            <a:off x="3566160" y="1645920"/>
            <a:ext cx="22860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Dashboard Streamlit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88CA0"/>
                </a:solidFill>
                <a:latin typeface="Calibri"/>
                <a:ea typeface="Calibri"/>
                <a:cs typeface="Calibri"/>
                <a:sym typeface="Calibri"/>
              </a:rPr>
              <a:t>Port 8501 — Interface Décisionnelle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Page 1 : Analyse exploratoire &amp; Simulateur de seuil interactif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Page 2 : Calculateur de prix temps réel pour les loueurs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Page 3 : Documentation technique et monitoring API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Composants Plotly réactifs</a:t>
            </a:r>
            <a:endParaRPr/>
          </a:p>
        </p:txBody>
      </p:sp>
      <p:sp>
        <p:nvSpPr>
          <p:cNvPr id="147" name="Google Shape;147;p6"/>
          <p:cNvSpPr/>
          <p:nvPr/>
        </p:nvSpPr>
        <p:spPr>
          <a:xfrm>
            <a:off x="6126480" y="1463040"/>
            <a:ext cx="256032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2C3E5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6"/>
          <p:cNvSpPr txBox="1"/>
          <p:nvPr/>
        </p:nvSpPr>
        <p:spPr>
          <a:xfrm>
            <a:off x="6263640" y="1645920"/>
            <a:ext cx="22860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Conteneurisation Docker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88CA0"/>
                </a:solidFill>
                <a:latin typeface="Calibri"/>
                <a:ea typeface="Calibri"/>
                <a:cs typeface="Calibri"/>
                <a:sym typeface="Calibri"/>
              </a:rPr>
              <a:t>Multi-Services &amp; Isolation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Dockerfile.api + Dockerfile.dashboard isolés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Orchestration unifiée via docker-compose.yml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Portabilité totale sans conflit de dépendances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Prêt pour déploiement Cloud (AWS ECS, Render)</a:t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8823960" y="1463040"/>
            <a:ext cx="2560320" cy="475488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00C2B2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8961120" y="1645920"/>
            <a:ext cx="22860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MLOps &amp; MLflow Registry</a:t>
            </a:r>
            <a:endParaRPr/>
          </a:p>
          <a:p>
            <a:pPr indent="0" lvl="0" marL="0" marR="0" rtl="0" algn="l"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788CA0"/>
                </a:solidFill>
                <a:latin typeface="Calibri"/>
                <a:ea typeface="Calibri"/>
                <a:cs typeface="Calibri"/>
                <a:sym typeface="Calibri"/>
              </a:rPr>
              <a:t>Traçabilité &amp; Gouvernance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Tracking des runs, hyperparamètres et métriques (MAE, R²)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Versioning des modèles de régression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Rollback instantané vers une version stable en production</a:t>
            </a:r>
            <a:b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Détection du data drift en continu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0C2B2"/>
                </a:solidFill>
                <a:latin typeface="Calibri"/>
                <a:ea typeface="Calibri"/>
                <a:cs typeface="Calibri"/>
                <a:sym typeface="Calibri"/>
              </a:rPr>
              <a:t>BLOC 5 — INDUSTRIALISATION &amp; MLOPS</a:t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Recommandations Stratégiques &amp; Impact Business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731520" y="1463040"/>
            <a:ext cx="6858000" cy="4754880"/>
          </a:xfrm>
          <a:prstGeom prst="rect">
            <a:avLst/>
          </a:prstGeom>
          <a:solidFill>
            <a:srgbClr val="F4F6F9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 txBox="1"/>
          <p:nvPr/>
        </p:nvSpPr>
        <p:spPr>
          <a:xfrm>
            <a:off x="914400" y="1645920"/>
            <a:ext cx="64922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Feuille de route pour le Product Manager GetAround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1. Instaurer un seuil de 60 minutes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Résout 67 % des conflits majeurs pour seulement 1,9 % de volume bloqué. Impact revenu résiduel minime car une part des locations est reportée sur d'autres créneaux.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2. Ne pas exclure le mode Mobile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Bien que Getaround Connect enregistre moins de retards (43 % vs 61 %), les enchaînements en Mobile génèrent les conflits les plus toxiques (face-à-face physique conflictuel).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3. Déploiement progressif par A/B Testing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Tester le seuil de 60 min sur 50 % des véhicules d'une métropole pilote pendant 30 jours. Mesurer le taux d'annulation et le Net Promoter Score (NPS).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4. Recommandation tarifaire assistée : </a:t>
            </a: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Intégrer l'API /predict directement dans le formulaire de dépôt d'annonce avec une fourchette indicative (±11 €) pour maximiser le taux de réservation dès le premier mois.</a:t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7863840" y="1463040"/>
            <a:ext cx="3566160" cy="4754880"/>
          </a:xfrm>
          <a:prstGeom prst="rect">
            <a:avLst/>
          </a:prstGeom>
          <a:solidFill>
            <a:srgbClr val="00C2B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8046720" y="1645920"/>
            <a:ext cx="320040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CHIFFRAGE DU ROI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146 litiges évités</a:t>
            </a:r>
            <a:b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Sur 218 conflits constatés (-67 % de churn locataire)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1,9 % du volume</a:t>
            </a:r>
            <a:b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Exposé au blocage (hypothèse haute sans report de date)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10,78 € / jour</a:t>
            </a:r>
            <a:b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Précision moyenne du modèle de tarification (R² = 0.729)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  <a:t>100 % Conteneurisé</a:t>
            </a:r>
            <a:br>
              <a:rPr b="1" i="0" lang="en-US" sz="1400" u="none" cap="none" strike="noStrike">
                <a:solidFill>
                  <a:srgbClr val="1B2A4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Deux microservices déployables en 1 clic via Docker Compose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