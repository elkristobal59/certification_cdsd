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Inter ExtraBold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1wSET6YersgqTKxd2CcYmNJ7n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ExtraBold-boldItalic.fntdata"/><Relationship Id="rId21" Type="http://schemas.openxmlformats.org/officeDocument/2006/relationships/font" Target="fonts/InterExtraBold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150" l="0" r="0" t="150"/>
          <a:stretch/>
        </p:blipFill>
        <p:spPr>
          <a:xfrm>
            <a:off x="10668150" y="333450"/>
            <a:ext cx="1021100" cy="107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762000" y="571500"/>
            <a:ext cx="2952900" cy="324000"/>
            <a:chOff x="0" y="0"/>
            <a:chExt cx="2952900" cy="32400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2952900" cy="324000"/>
            </a:xfrm>
            <a:prstGeom prst="roundRect">
              <a:avLst>
                <a:gd fmla="val 17647" name="adj"/>
              </a:avLst>
            </a:pr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0"/>
              <a:ext cx="2952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CERTIFICATION CDSD — BLOC 5 RNCP</a:t>
              </a:r>
              <a:endParaRPr b="1" i="0" sz="12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762000" y="1333500"/>
            <a:ext cx="9906150" cy="2095500"/>
            <a:chOff x="0" y="0"/>
            <a:chExt cx="9906150" cy="2095500"/>
          </a:xfrm>
        </p:grpSpPr>
        <p:sp>
          <p:nvSpPr>
            <p:cNvPr id="90" name="Google Shape;90;p1"/>
            <p:cNvSpPr/>
            <p:nvPr/>
          </p:nvSpPr>
          <p:spPr>
            <a:xfrm>
              <a:off x="0" y="47625"/>
              <a:ext cx="47700" cy="1857300"/>
            </a:xfrm>
            <a:prstGeom prst="roundRect">
              <a:avLst>
                <a:gd fmla="val 50000" name="adj"/>
              </a:avLst>
            </a:pr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85750" y="0"/>
              <a:ext cx="9620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rPr b="0" i="0" lang="en-US" sz="3800" u="none" cap="none" strike="noStrik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GetAround : Optimisation des Retards &amp; Tarification Dynamique</a:t>
              </a:r>
              <a:endParaRPr b="0" i="0" sz="38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Déploiement d'un Simulateur Décisionnel (Streamlit) &amp; d'une API de Pricing Temps Réel (FastAPI, Docker, MLflow)</a:t>
              </a:r>
              <a:endParaRPr b="0" i="0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762000" y="3714750"/>
            <a:ext cx="10668000" cy="1428900"/>
            <a:chOff x="0" y="0"/>
            <a:chExt cx="10668000" cy="14289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0668000" cy="1428900"/>
            </a:xfrm>
            <a:prstGeom prst="roundRect">
              <a:avLst>
                <a:gd fmla="val 8000" name="adj"/>
              </a:avLst>
            </a:prstGeom>
            <a:solidFill>
              <a:srgbClr val="22355A"/>
            </a:solidFill>
            <a:ln cap="flat" cmpd="sng" w="9525">
              <a:solidFill>
                <a:srgbClr val="2E43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285750" y="190500"/>
              <a:ext cx="10096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C2B2"/>
                  </a:solidFill>
                  <a:latin typeface="Inter"/>
                  <a:ea typeface="Inter"/>
                  <a:cs typeface="Inter"/>
                  <a:sym typeface="Inter"/>
                </a:rPr>
                <a:t>STACK TECHNIQUE &amp; MLOPS</a:t>
              </a:r>
              <a:endParaRPr b="1" i="0" sz="1000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C2B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FastAPI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100" u="none" cap="none" strike="noStrike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Streamlit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100" u="none" cap="none" strike="noStrike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Docker Compose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100" u="none" cap="none" strike="noStrike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MLflow Tracking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100" u="none" cap="none" strike="noStrike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Scikit-Learn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100" u="none" cap="none" strike="noStrike">
                  <a:solidFill>
                    <a:srgbClr val="E2E8F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Plotly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762000" y="5524500"/>
            <a:ext cx="10668000" cy="571500"/>
            <a:chOff x="0" y="0"/>
            <a:chExt cx="10668000" cy="571500"/>
          </a:xfrm>
        </p:grpSpPr>
        <p:cxnSp>
          <p:nvCxnSpPr>
            <p:cNvPr id="96" name="Google Shape;96;p1"/>
            <p:cNvCxnSpPr/>
            <p:nvPr/>
          </p:nvCxnSpPr>
          <p:spPr>
            <a:xfrm>
              <a:off x="0" y="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E436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" name="Google Shape;97;p1"/>
            <p:cNvSpPr txBox="1"/>
            <p:nvPr/>
          </p:nvSpPr>
          <p:spPr>
            <a:xfrm>
              <a:off x="0" y="19050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Christopher Gilleron </a:t>
              </a:r>
              <a:r>
                <a:rPr b="0" i="0" lang="en-US" sz="1200" u="none" cap="none" strike="noStrike">
                  <a:solidFill>
                    <a:srgbClr val="788CA0"/>
                  </a:solidFill>
                  <a:latin typeface="Inter"/>
                  <a:ea typeface="Inter"/>
                  <a:cs typeface="Inter"/>
                  <a:sym typeface="Inter"/>
                </a:rPr>
                <a:t>|  8 octobre 2026</a:t>
              </a:r>
              <a:endParaRPr b="0" i="0" sz="14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731520" y="647700"/>
            <a:ext cx="10698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6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 Défi Métier : La Double Contrainte de l'Autopartage</a:t>
            </a:r>
            <a:endParaRPr b="0" i="0" sz="26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31525" y="1381125"/>
            <a:ext cx="6858000" cy="2405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95425"/>
            <a:ext cx="6492300" cy="218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L'effet domino des retards de restitution</a:t>
            </a:r>
            <a:endParaRPr b="1" i="0" sz="2000" u="none" cap="none" strike="noStrike">
              <a:solidFill>
                <a:srgbClr val="1B2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Le problème usager : </a:t>
            </a:r>
            <a:r>
              <a:rPr b="0" i="0" lang="en-US" sz="1550" u="none" cap="none" strike="noStrik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Lorsqu'un locataire restitue son véhicule en retard, le locataire suivant attend, subit un stress important ou annule sa réservation.</a:t>
            </a:r>
            <a:endParaRPr b="0" i="0" sz="1550" u="none" cap="none" strike="noStrike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Le dilemme du Product Manager : </a:t>
            </a:r>
            <a:r>
              <a:rPr b="0" i="0" lang="en-US" sz="1550" u="none" cap="none" strike="noStrik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Imposer un seuil de battement minimal entre deux réservations résout les litiges... mais bloque des créneaux de location et fait perdre du revenu aux propriétaires partenaires.</a:t>
            </a:r>
            <a:endParaRPr b="0" i="0" sz="1550" u="none" cap="none" strike="noStrike">
              <a:solidFill>
                <a:srgbClr val="2C3E5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863840" y="1381125"/>
            <a:ext cx="57300" cy="1447800"/>
          </a:xfrm>
          <a:prstGeom prst="roundRect">
            <a:avLst>
              <a:gd fmla="val 50000" name="adj"/>
            </a:avLst>
          </a:pr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863840" y="1381125"/>
            <a:ext cx="3566100" cy="1447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077200" y="1524000"/>
            <a:ext cx="3200400" cy="101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3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21 310</a:t>
            </a:r>
            <a:endParaRPr b="0" i="0" sz="3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rPr>
              <a:t>LOCATIONS ANALYSÉES</a:t>
            </a:r>
            <a:endParaRPr b="1" i="0" u="none" cap="none" strike="noStrike">
              <a:solidFill>
                <a:srgbClr val="00C2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18 045 terminées avec relevé d'état</a:t>
            </a:r>
            <a:endParaRPr b="0" i="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863840" y="3028950"/>
            <a:ext cx="57300" cy="1447800"/>
          </a:xfrm>
          <a:prstGeom prst="roundRect">
            <a:avLst>
              <a:gd fmla="val 50000" name="adj"/>
            </a:avLst>
          </a:pr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863840" y="3028950"/>
            <a:ext cx="3566100" cy="1447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077200" y="3171825"/>
            <a:ext cx="3200400" cy="123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3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8,6 %</a:t>
            </a:r>
            <a:endParaRPr b="0" i="0" sz="3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rPr>
              <a:t>LOCATIONS CONSÉCUTIVES</a:t>
            </a:r>
            <a:endParaRPr b="1" i="0" u="none" cap="none" strike="noStrike">
              <a:solidFill>
                <a:srgbClr val="00C2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1 731 enchaînements &lt; 12h (périmètre à risque)</a:t>
            </a:r>
            <a:endParaRPr b="0" i="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863840" y="4676775"/>
            <a:ext cx="57300" cy="1447800"/>
          </a:xfrm>
          <a:prstGeom prst="roundRect">
            <a:avLst>
              <a:gd fmla="val 50000" name="adj"/>
            </a:avLst>
          </a:pr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863840" y="4676775"/>
            <a:ext cx="3566100" cy="1447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077200" y="4819650"/>
            <a:ext cx="3200400" cy="123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3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4 843</a:t>
            </a:r>
            <a:endParaRPr b="0" i="0" sz="3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rPr>
              <a:t>ANNONCES DE PRICING</a:t>
            </a:r>
            <a:endParaRPr b="1" i="0" u="none" cap="none" strike="noStrike">
              <a:solidFill>
                <a:srgbClr val="00C2B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Base d'apprentissage du modèle de prix</a:t>
            </a:r>
            <a:endParaRPr b="0" i="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685795" y="3880200"/>
            <a:ext cx="3314700" cy="2552700"/>
            <a:chOff x="0" y="0"/>
            <a:chExt cx="3314700" cy="25527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3314700" cy="2552700"/>
            </a:xfrm>
            <a:prstGeom prst="roundRect">
              <a:avLst>
                <a:gd fmla="val 2985" name="adj"/>
              </a:avLst>
            </a:prstGeom>
            <a:solidFill>
              <a:srgbClr val="FFFFFF"/>
            </a:solidFill>
            <a:ln cap="flat" cmpd="sng" w="14300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0" y="0"/>
              <a:ext cx="3314700" cy="762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88174"/>
                    <a:pt x="291" y="57652"/>
                    <a:pt x="808" y="35147"/>
                  </a:cubicBezTo>
                  <a:cubicBezTo>
                    <a:pt x="1325" y="12643"/>
                    <a:pt x="2027" y="0"/>
                    <a:pt x="2759" y="0"/>
                  </a:cubicBezTo>
                  <a:lnTo>
                    <a:pt x="117241" y="0"/>
                  </a:lnTo>
                  <a:cubicBezTo>
                    <a:pt x="117973" y="-4"/>
                    <a:pt x="118674" y="12637"/>
                    <a:pt x="119192" y="35141"/>
                  </a:cubicBezTo>
                  <a:cubicBezTo>
                    <a:pt x="119709" y="57646"/>
                    <a:pt x="120000" y="88171"/>
                    <a:pt x="120000" y="1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90500" y="228600"/>
              <a:ext cx="29337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0C2B2"/>
                  </a:solidFill>
                  <a:latin typeface="Inter"/>
                  <a:ea typeface="Inter"/>
                  <a:cs typeface="Inter"/>
                  <a:sym typeface="Inter"/>
                </a:rPr>
                <a:t>MISSION 1</a:t>
              </a:r>
              <a:endParaRPr b="1" i="0" sz="1300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Simulateur Décisionnel</a:t>
              </a:r>
              <a:endParaRPr b="1" i="0" sz="18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Quel seuil de battement imposer ? Sur quel périmètre (Connect vs Mobile) ?</a:t>
              </a:r>
              <a:endParaRPr b="0" i="0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4274820" y="3848100"/>
            <a:ext cx="3314700" cy="2552700"/>
            <a:chOff x="0" y="228600"/>
            <a:chExt cx="3314700" cy="25527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228600"/>
              <a:ext cx="3314700" cy="2552700"/>
            </a:xfrm>
            <a:prstGeom prst="roundRect">
              <a:avLst>
                <a:gd fmla="val 2985" name="adj"/>
              </a:avLst>
            </a:prstGeom>
            <a:solidFill>
              <a:srgbClr val="FFFFFF"/>
            </a:solidFill>
            <a:ln cap="flat" cmpd="sng" w="14300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0" y="260700"/>
              <a:ext cx="3314700" cy="762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88174"/>
                    <a:pt x="291" y="57652"/>
                    <a:pt x="808" y="35147"/>
                  </a:cubicBezTo>
                  <a:cubicBezTo>
                    <a:pt x="1325" y="12643"/>
                    <a:pt x="2027" y="0"/>
                    <a:pt x="2759" y="0"/>
                  </a:cubicBezTo>
                  <a:lnTo>
                    <a:pt x="117241" y="0"/>
                  </a:lnTo>
                  <a:cubicBezTo>
                    <a:pt x="117973" y="-4"/>
                    <a:pt x="118674" y="12637"/>
                    <a:pt x="119192" y="35141"/>
                  </a:cubicBezTo>
                  <a:cubicBezTo>
                    <a:pt x="119709" y="57646"/>
                    <a:pt x="120000" y="88171"/>
                    <a:pt x="120000" y="1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190500" y="531975"/>
              <a:ext cx="29337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0C2B2"/>
                  </a:solidFill>
                  <a:latin typeface="Inter"/>
                  <a:ea typeface="Inter"/>
                  <a:cs typeface="Inter"/>
                  <a:sym typeface="Inter"/>
                </a:rPr>
                <a:t>MISSION 2</a:t>
              </a:r>
              <a:endParaRPr b="1" i="0" sz="1300" u="none" cap="none" strike="noStrike">
                <a:solidFill>
                  <a:srgbClr val="00C2B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Algorithme de Tarification</a:t>
              </a:r>
              <a:endParaRPr b="1" i="0" sz="18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Quel prix journalier recommander aux propriétaires pour maximiser le taux de réservation ?</a:t>
              </a:r>
              <a:endParaRPr b="0" i="0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762000" y="647700"/>
            <a:ext cx="10668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Diagnostic Analytique : L'Ampleur et la Nature des Retards</a:t>
            </a:r>
            <a:endParaRPr b="0" i="0" sz="2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762000" y="1143000"/>
            <a:ext cx="3352800" cy="233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62000" y="1143000"/>
            <a:ext cx="3352800" cy="435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cubicBezTo>
                  <a:pt x="0" y="53724"/>
                  <a:pt x="1526" y="0"/>
                  <a:pt x="3409" y="0"/>
                </a:cubicBezTo>
                <a:lnTo>
                  <a:pt x="116591" y="0"/>
                </a:lnTo>
                <a:cubicBezTo>
                  <a:pt x="118474" y="0"/>
                  <a:pt x="120000" y="53724"/>
                  <a:pt x="120000" y="120000"/>
                </a:cubicBezTo>
                <a:lnTo>
                  <a:pt x="120000" y="96000"/>
                </a:lnTo>
                <a:lnTo>
                  <a:pt x="0" y="96000"/>
                </a:lnTo>
                <a:close/>
              </a:path>
            </a:pathLst>
          </a:cu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33450" y="1257300"/>
            <a:ext cx="3009900" cy="201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4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57,4 %</a:t>
            </a:r>
            <a:endParaRPr b="0" i="0" sz="34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RETARDS AU CHECKOUT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Mais la médiane n'est que de 53 minutes.</a:t>
            </a:r>
            <a:endParaRPr b="1" i="0" sz="1300" u="none" cap="none" strike="noStrike">
              <a:solidFill>
                <a:srgbClr val="1B2A4A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majorité des retards sont courts et gérables sans intervention lourde. Les retards extrêmes (&gt; 4h) sont rares mais dévastateurs.</a:t>
            </a:r>
            <a:endParaRPr b="0" i="0" sz="120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419600" y="1143000"/>
            <a:ext cx="3352800" cy="23337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C2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419600" y="1143000"/>
            <a:ext cx="3352800" cy="435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cubicBezTo>
                  <a:pt x="0" y="53724"/>
                  <a:pt x="1526" y="0"/>
                  <a:pt x="3409" y="0"/>
                </a:cubicBezTo>
                <a:lnTo>
                  <a:pt x="116591" y="0"/>
                </a:lnTo>
                <a:cubicBezTo>
                  <a:pt x="118474" y="0"/>
                  <a:pt x="120000" y="53724"/>
                  <a:pt x="120000" y="120000"/>
                </a:cubicBezTo>
                <a:lnTo>
                  <a:pt x="120000" y="96000"/>
                </a:lnTo>
                <a:lnTo>
                  <a:pt x="0" y="96000"/>
                </a:lnTo>
                <a:close/>
              </a:path>
            </a:pathLst>
          </a:cu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591050" y="1257300"/>
            <a:ext cx="3009900" cy="219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4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-18 pts</a:t>
            </a:r>
            <a:endParaRPr b="0" i="0" sz="3400" u="none" cap="none" strike="noStrike">
              <a:solidFill>
                <a:srgbClr val="00C2B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CONNECT (43 %) vs MOBILE (61 %)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Inter"/>
                <a:ea typeface="Inter"/>
                <a:cs typeface="Inter"/>
                <a:sym typeface="Inter"/>
              </a:rPr>
              <a:t>La technologie sans clé Getaround Connect réduit les retards de 18 points.</a:t>
            </a:r>
            <a:endParaRPr b="1" i="0" sz="1250" u="none" cap="none" strike="noStrike">
              <a:solidFill>
                <a:srgbClr val="0F766E"/>
              </a:solidFill>
              <a:highlight>
                <a:srgbClr val="F0FDF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 de contrainte de rendez-vous physique : le locataire verrouille via smartphone. En Mobile, l'attente du propriétaire amplifie le retard.</a:t>
            </a:r>
            <a:endParaRPr b="0" i="0" sz="120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077200" y="1143000"/>
            <a:ext cx="3352800" cy="23337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077200" y="1143000"/>
            <a:ext cx="3352800" cy="43500"/>
          </a:xfrm>
          <a:custGeom>
            <a:rect b="b" l="l" r="r" t="t"/>
            <a:pathLst>
              <a:path extrusionOk="0" h="120000" w="120000">
                <a:moveTo>
                  <a:pt x="0" y="120000"/>
                </a:moveTo>
                <a:cubicBezTo>
                  <a:pt x="0" y="53724"/>
                  <a:pt x="1526" y="0"/>
                  <a:pt x="3409" y="0"/>
                </a:cubicBezTo>
                <a:lnTo>
                  <a:pt x="116591" y="0"/>
                </a:lnTo>
                <a:cubicBezTo>
                  <a:pt x="118474" y="0"/>
                  <a:pt x="120000" y="53724"/>
                  <a:pt x="120000" y="120000"/>
                </a:cubicBezTo>
                <a:lnTo>
                  <a:pt x="120000" y="96000"/>
                </a:lnTo>
                <a:lnTo>
                  <a:pt x="0" y="96000"/>
                </a:ln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248650" y="1257300"/>
            <a:ext cx="3009900" cy="201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400" u="none" cap="none" strike="noStrike">
                <a:solidFill>
                  <a:srgbClr val="E74C3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218</a:t>
            </a:r>
            <a:endParaRPr b="0" i="0" sz="3400" u="none" cap="none" strike="noStrike">
              <a:solidFill>
                <a:srgbClr val="E74C3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LITIGES RÉELS CONSTATÉS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991B1B"/>
                </a:solidFill>
                <a:highlight>
                  <a:srgbClr val="FEF2F2"/>
                </a:highlight>
                <a:latin typeface="Inter"/>
                <a:ea typeface="Inter"/>
                <a:cs typeface="Inter"/>
                <a:sym typeface="Inter"/>
              </a:rPr>
              <a:t>Soit 12,6 % des locations consécutives.</a:t>
            </a:r>
            <a:endParaRPr b="1" i="0" sz="1300" u="none" cap="none" strike="noStrike">
              <a:solidFill>
                <a:srgbClr val="991B1B"/>
              </a:solidFill>
              <a:highlight>
                <a:srgbClr val="FEF2F2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 retard du prédécesseur dépasse le délai disponible avant la prise en main suivante. C'est ce noyau dur qu'il faut neutraliser.</a:t>
            </a:r>
            <a:endParaRPr b="0" i="0" sz="120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917" y="3667125"/>
            <a:ext cx="8040000" cy="27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762000" y="571500"/>
            <a:ext cx="10668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Quel Seuil Choisir ? L'Arbitrage Volume vs Satisfaction</a:t>
            </a:r>
            <a:endParaRPr b="0" i="0" sz="2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762000" y="1095375"/>
            <a:ext cx="3905400" cy="1571700"/>
            <a:chOff x="0" y="0"/>
            <a:chExt cx="3905400" cy="1571700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484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0"/>
              <a:ext cx="3905400" cy="1143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35800"/>
                    <a:pt x="1048" y="0"/>
                    <a:pt x="2341" y="0"/>
                  </a:cubicBezTo>
                  <a:lnTo>
                    <a:pt x="117659" y="0"/>
                  </a:lnTo>
                  <a:cubicBezTo>
                    <a:pt x="118952" y="0"/>
                    <a:pt x="120000" y="3580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190500" y="190500"/>
              <a:ext cx="3524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25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Deux forces opposées : La recherche du point d'équilibre</a:t>
              </a:r>
              <a:endParaRPr b="1" i="0" sz="12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Plus le seuil augmente :</a:t>
              </a:r>
              <a:r>
                <a:rPr b="0" i="0" lang="en-US" sz="1000" u="none" cap="none" strike="noStrike">
                  <a:solidFill>
                    <a:srgbClr val="2C3E50"/>
                  </a:solidFill>
                  <a:latin typeface="Inter"/>
                  <a:ea typeface="Inter"/>
                  <a:cs typeface="Inter"/>
                  <a:sym typeface="Inter"/>
                </a:rPr>
                <a:t> On résout davantage de conflits et on protège l'expérience du second locataire.</a:t>
              </a:r>
              <a:endParaRPr b="0" i="0" sz="1000" u="none" cap="none" strike="noStrik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E74C3C"/>
                  </a:solidFill>
                  <a:latin typeface="Inter"/>
                  <a:ea typeface="Inter"/>
                  <a:cs typeface="Inter"/>
                  <a:sym typeface="Inter"/>
                </a:rPr>
                <a:t>Mais le coût explose :</a:t>
              </a:r>
              <a:r>
                <a:rPr b="0" i="0" lang="en-US" sz="1000" u="none" cap="none" strike="noStrike">
                  <a:solidFill>
                    <a:srgbClr val="2C3E50"/>
                  </a:solidFill>
                  <a:latin typeface="Inter"/>
                  <a:ea typeface="Inter"/>
                  <a:cs typeface="Inter"/>
                  <a:sym typeface="Inter"/>
                </a:rPr>
                <a:t> Chaque minute de seuil supplémentaire bloque des créneaux et menace le chiffre d'affaires.</a:t>
              </a:r>
              <a:endParaRPr b="0" i="0" sz="1000" u="none" cap="none" strike="noStrik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4857750" y="1095375"/>
            <a:ext cx="3905400" cy="1571700"/>
            <a:chOff x="0" y="0"/>
            <a:chExt cx="3905400" cy="1571700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14300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0" y="0"/>
              <a:ext cx="3905400" cy="1143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35800"/>
                    <a:pt x="1048" y="0"/>
                    <a:pt x="2341" y="0"/>
                  </a:cubicBezTo>
                  <a:lnTo>
                    <a:pt x="117659" y="0"/>
                  </a:lnTo>
                  <a:cubicBezTo>
                    <a:pt x="118952" y="0"/>
                    <a:pt x="120000" y="3580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190500" y="171450"/>
              <a:ext cx="3524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 palier optimal : 60 minutes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190500" y="419100"/>
              <a:ext cx="1714500" cy="571500"/>
            </a:xfrm>
            <a:prstGeom prst="roundRect">
              <a:avLst>
                <a:gd fmla="val 10000" name="adj"/>
              </a:avLst>
            </a:prstGeom>
            <a:solidFill>
              <a:srgbClr val="F0FDFA"/>
            </a:solidFill>
            <a:ln cap="flat" cmpd="sng" w="9525">
              <a:solidFill>
                <a:srgbClr val="CCFB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266700" y="457200"/>
              <a:ext cx="1562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67 %</a:t>
              </a:r>
              <a:endParaRPr b="0" i="0" sz="1400" u="none" cap="none" strike="noStrike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0F766E"/>
                  </a:solidFill>
                  <a:latin typeface="Inter"/>
                  <a:ea typeface="Inter"/>
                  <a:cs typeface="Inter"/>
                  <a:sym typeface="Inter"/>
                </a:rPr>
                <a:t>CONFLITS RÉSOLUS</a:t>
              </a:r>
              <a:endParaRPr b="1" i="0" sz="65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146 litiges évités sur 218</a:t>
              </a:r>
              <a:endParaRPr b="0" i="0" sz="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2000250" y="419100"/>
              <a:ext cx="1714500" cy="571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2076450" y="457200"/>
              <a:ext cx="15621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1B2A4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1,9 %</a:t>
              </a:r>
              <a:endParaRPr b="0" i="0" sz="14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VOLUME BLOQUÉ</a:t>
              </a:r>
              <a:endParaRPr b="1" i="0" sz="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401 locations concernées</a:t>
              </a:r>
              <a:endParaRPr b="0" i="0" sz="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190500" y="1066800"/>
              <a:ext cx="3524400" cy="400200"/>
            </a:xfrm>
            <a:prstGeom prst="roundRect">
              <a:avLst>
                <a:gd fmla="val 14285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266700" y="1095375"/>
              <a:ext cx="337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Rendement décroissant au-delà :</a:t>
              </a:r>
              <a:endParaRPr b="1" i="0" sz="9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78350F"/>
                  </a:solidFill>
                  <a:latin typeface="Inter"/>
                  <a:ea typeface="Inter"/>
                  <a:cs typeface="Inter"/>
                  <a:sym typeface="Inter"/>
                </a:rPr>
                <a:t>Passer à 3 heures (180 min) ne fait gagner que 23 points de conflits supplémentaires mais multiplie par 2,5 les locations bloquées !</a:t>
              </a:r>
              <a:endParaRPr b="0" i="0" sz="90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8953500" y="1095375"/>
            <a:ext cx="2476500" cy="5334000"/>
            <a:chOff x="0" y="0"/>
            <a:chExt cx="2476500" cy="5334000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2476500" cy="5334000"/>
            </a:xfrm>
            <a:prstGeom prst="roundRect">
              <a:avLst>
                <a:gd fmla="val 3846" name="adj"/>
              </a:avLst>
            </a:pr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190500" y="17145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SIMULATION COMPARATIVE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142875" y="495300"/>
              <a:ext cx="2190900" cy="809700"/>
            </a:xfrm>
            <a:prstGeom prst="roundRect">
              <a:avLst>
                <a:gd fmla="val 7058" name="adj"/>
              </a:avLst>
            </a:prstGeom>
            <a:solidFill>
              <a:srgbClr val="2537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266700" y="609600"/>
              <a:ext cx="19431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Seuil 30 min</a:t>
              </a:r>
              <a:endParaRPr b="1" i="0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48 %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résolus | </a:t>
              </a:r>
              <a:r>
                <a:rPr b="1" i="0" lang="en-US" sz="9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0,9 %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bloquées</a:t>
              </a:r>
              <a:endParaRPr b="0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142875" y="1428750"/>
              <a:ext cx="2190900" cy="904800"/>
            </a:xfrm>
            <a:prstGeom prst="roundRect">
              <a:avLst>
                <a:gd fmla="val 6315" name="adj"/>
              </a:avLst>
            </a:pr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362075" y="1524000"/>
              <a:ext cx="857400" cy="171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1362075" y="1524000"/>
              <a:ext cx="857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RECOMMANDÉ</a:t>
              </a:r>
              <a:endParaRPr b="0"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66700" y="1543050"/>
              <a:ext cx="1943100" cy="6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1B2A4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Seuil 60 min</a:t>
              </a:r>
              <a:endParaRPr b="0" i="0" sz="115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67 % résolus | 1,9 % bloquées</a:t>
              </a:r>
              <a:endParaRPr b="1" i="0" sz="9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142875" y="2457450"/>
              <a:ext cx="2190900" cy="809700"/>
            </a:xfrm>
            <a:prstGeom prst="roundRect">
              <a:avLst>
                <a:gd fmla="val 7058" name="adj"/>
              </a:avLst>
            </a:prstGeom>
            <a:solidFill>
              <a:srgbClr val="2537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266700" y="2571750"/>
              <a:ext cx="19431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Seuil 120 min</a:t>
              </a:r>
              <a:endParaRPr b="1" i="0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84 %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résolus | </a:t>
              </a:r>
              <a:r>
                <a:rPr b="1" i="0" lang="en-US" sz="9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3,8 %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bloquées</a:t>
              </a:r>
              <a:endParaRPr b="0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142875" y="3390900"/>
              <a:ext cx="2190900" cy="809700"/>
            </a:xfrm>
            <a:prstGeom prst="roundRect">
              <a:avLst>
                <a:gd fmla="val 7058" name="adj"/>
              </a:avLst>
            </a:prstGeom>
            <a:solidFill>
              <a:srgbClr val="2537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266700" y="3505200"/>
              <a:ext cx="19431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Seuil 180 min</a:t>
              </a:r>
              <a:endParaRPr b="1" i="0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90 %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résolus | </a:t>
              </a:r>
              <a:r>
                <a:rPr b="1" i="0" lang="en-US" sz="9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4,9 %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bloquées</a:t>
              </a:r>
              <a:endParaRPr b="0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142875" y="4324350"/>
              <a:ext cx="2190900" cy="809700"/>
            </a:xfrm>
            <a:prstGeom prst="roundRect">
              <a:avLst>
                <a:gd fmla="val 7058" name="adj"/>
              </a:avLst>
            </a:prstGeom>
            <a:solidFill>
              <a:srgbClr val="2537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266700" y="4438650"/>
              <a:ext cx="19431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Seuil 240 min</a:t>
              </a:r>
              <a:endParaRPr b="1" i="0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94 %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résolus | </a:t>
              </a:r>
              <a:r>
                <a:rPr b="1" i="0" lang="en-US" sz="9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5,6 %</a:t>
              </a:r>
              <a:r>
                <a:rPr b="0" i="0" lang="en-US" sz="9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bloquées</a:t>
              </a:r>
              <a:endParaRPr b="0" i="0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1248" r="1258" t="0"/>
          <a:stretch/>
        </p:blipFill>
        <p:spPr>
          <a:xfrm>
            <a:off x="762000" y="2809875"/>
            <a:ext cx="80010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/>
        </p:nvSpPr>
        <p:spPr>
          <a:xfrm>
            <a:off x="762000" y="628650"/>
            <a:ext cx="10668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Modèle de Tarification Prédictive : Random Forest Regressor</a:t>
            </a:r>
            <a:endParaRPr b="0" i="0" sz="22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4572000" y="3753250"/>
            <a:ext cx="6381901" cy="276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5"/>
          <p:cNvGrpSpPr/>
          <p:nvPr/>
        </p:nvGrpSpPr>
        <p:grpSpPr>
          <a:xfrm>
            <a:off x="762000" y="1285875"/>
            <a:ext cx="3333900" cy="5048400"/>
            <a:chOff x="0" y="0"/>
            <a:chExt cx="3333900" cy="5048400"/>
          </a:xfrm>
        </p:grpSpPr>
        <p:sp>
          <p:nvSpPr>
            <p:cNvPr id="179" name="Google Shape;179;p5"/>
            <p:cNvSpPr/>
            <p:nvPr/>
          </p:nvSpPr>
          <p:spPr>
            <a:xfrm>
              <a:off x="0" y="0"/>
              <a:ext cx="3333900" cy="50484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14300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0" y="0"/>
              <a:ext cx="3333900" cy="133500"/>
            </a:xfrm>
            <a:custGeom>
              <a:rect b="b" l="l" r="r" t="t"/>
              <a:pathLst>
                <a:path extrusionOk="0" h="120000" w="120000">
                  <a:moveTo>
                    <a:pt x="0" y="100000"/>
                  </a:moveTo>
                  <a:cubicBezTo>
                    <a:pt x="0" y="44770"/>
                    <a:pt x="1535" y="0"/>
                    <a:pt x="3429" y="0"/>
                  </a:cubicBezTo>
                  <a:lnTo>
                    <a:pt x="116571" y="0"/>
                  </a:lnTo>
                  <a:cubicBezTo>
                    <a:pt x="118465" y="0"/>
                    <a:pt x="120000" y="44770"/>
                    <a:pt x="120000" y="10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228600" y="228600"/>
              <a:ext cx="2876700" cy="459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Performance Modèle</a:t>
              </a:r>
              <a:endParaRPr b="0" i="0" sz="17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JEU DE TEST (969 ANNONCES)</a:t>
              </a:r>
              <a:endParaRPr b="0" i="0" sz="12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0F766E"/>
                  </a:solidFill>
                  <a:highlight>
                    <a:srgbClr val="F0FDFA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10,78 € </a:t>
              </a:r>
              <a:r>
                <a:rPr b="0" i="0" lang="en-US" u="none" cap="none" strike="noStrike">
                  <a:solidFill>
                    <a:srgbClr val="0F766E"/>
                  </a:solidFill>
                  <a:highlight>
                    <a:srgbClr val="F0FDFA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/ jour</a:t>
              </a:r>
              <a:endParaRPr b="0" i="0" sz="1700" u="none" cap="none" strike="noStrike">
                <a:solidFill>
                  <a:srgbClr val="00C2B2"/>
                </a:solidFill>
                <a:highlight>
                  <a:srgbClr val="F0FDFA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F766E"/>
                  </a:solidFill>
                  <a:highlight>
                    <a:srgbClr val="F0FDFA"/>
                  </a:highlight>
                  <a:latin typeface="Inter"/>
                  <a:ea typeface="Inter"/>
                  <a:cs typeface="Inter"/>
                  <a:sym typeface="Inter"/>
                </a:rPr>
                <a:t>MAE (Erreur Moyenne)</a:t>
              </a:r>
              <a:endParaRPr b="0" i="0" sz="1200" u="none" cap="none" strike="noStrike">
                <a:solidFill>
                  <a:srgbClr val="00C2B2"/>
                </a:solidFill>
                <a:highlight>
                  <a:srgbClr val="F0FDFA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334155"/>
                  </a:solidFill>
                  <a:highlight>
                    <a:srgbClr val="F0FDFA"/>
                  </a:highlight>
                  <a:latin typeface="Inter"/>
                  <a:ea typeface="Inter"/>
                  <a:cs typeface="Inter"/>
                  <a:sym typeface="Inter"/>
                </a:rPr>
                <a:t>Erreur relative de 9,0 % par rapport au prix médian de 119 €.</a:t>
              </a:r>
              <a:endParaRPr b="0" i="0" sz="1100" u="none" cap="none" strike="noStrike">
                <a:solidFill>
                  <a:srgbClr val="00C2B2"/>
                </a:solidFill>
                <a:highlight>
                  <a:srgbClr val="F0FDFA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1B2A4A"/>
                  </a:solidFill>
                  <a:highlight>
                    <a:srgbClr val="F8FAFC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0,729</a:t>
              </a:r>
              <a:endParaRPr b="0" i="0" sz="1700" u="none" cap="none" strike="noStrike">
                <a:solidFill>
                  <a:srgbClr val="00C2B2"/>
                </a:solidFill>
                <a:highlight>
                  <a:srgbClr val="F8FAFC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1B2A4A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R² (Score Prédictif)</a:t>
              </a:r>
              <a:endParaRPr b="0" i="0" sz="1200" u="none" cap="none" strike="noStrike">
                <a:solidFill>
                  <a:srgbClr val="00C2B2"/>
                </a:solidFill>
                <a:highlight>
                  <a:srgbClr val="F8FAFC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highlight>
                    <a:srgbClr val="F8FAFC"/>
                  </a:highlight>
                  <a:latin typeface="Inter"/>
                  <a:ea typeface="Inter"/>
                  <a:cs typeface="Inter"/>
                  <a:sym typeface="Inter"/>
                </a:rPr>
                <a:t>72,9 % de la variance du prix expliquée par le modèle.</a:t>
              </a:r>
              <a:endParaRPr b="0" i="0" sz="1100" u="none" cap="none" strike="noStrike">
                <a:solidFill>
                  <a:srgbClr val="00C2B2"/>
                </a:solidFill>
                <a:highlight>
                  <a:srgbClr val="F8FAFC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125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Gain vs Baseline Linéaire</a:t>
              </a:r>
              <a:endParaRPr b="0" i="0" sz="125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 régression Ridge plafonne à 12,12 € de MAE et 0,693 de R². Random Forest capture les non-linéarités complexes.</a:t>
              </a:r>
              <a:endParaRPr b="0" i="0" sz="11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125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Décision Produit</a:t>
              </a:r>
              <a:endParaRPr b="0" i="0" sz="125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L'API suggère une fourchette de négociation (±11 €) plutôt que d'imposer un prix rigide au propriétaire.</a:t>
              </a:r>
              <a:endParaRPr b="0" i="0" sz="11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82" name="Google Shape;182;p5"/>
          <p:cNvSpPr txBox="1"/>
          <p:nvPr/>
        </p:nvSpPr>
        <p:spPr>
          <a:xfrm>
            <a:off x="4476750" y="1238250"/>
            <a:ext cx="69534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Explicabilité du Prix</a:t>
            </a:r>
            <a:endParaRPr b="0" i="0" sz="18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FACTEURS DETERMINANTS</a:t>
            </a:r>
            <a:endParaRPr b="0" i="0" sz="13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73,6 % du signal de prix</a:t>
            </a:r>
            <a:r>
              <a:rPr b="0" i="0" lang="en-US" sz="130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Inter Medium"/>
                <a:ea typeface="Inter Medium"/>
                <a:cs typeface="Inter Medium"/>
                <a:sym typeface="Inter Medium"/>
              </a:rPr>
              <a:t> — Concentré sur la Puissance et le Kilométrage</a:t>
            </a:r>
            <a:endParaRPr b="0" i="0" sz="1450" u="none" cap="none" strike="noStrike">
              <a:solidFill>
                <a:srgbClr val="1B2A4A"/>
              </a:solidFill>
              <a:highlight>
                <a:srgbClr val="F0FDFA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• Puissance moteur (45,5 %) :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Premier facteur déterminant de la valeur perçue du véhicule.</a:t>
            </a:r>
            <a:endParaRPr b="0" i="0" sz="135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• Kilométrage (28,1 %) :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Indicateur direct d'usure et de dépréciation.</a:t>
            </a:r>
            <a:endParaRPr b="0" i="0" sz="135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• Équipements (GPS, Connect, Régulateur) :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Pèsent chacun entre 2 et 4 %. Ils maximisent le taux de clics et la conversion plutôt que le prix journalier pur.</a:t>
            </a:r>
            <a:endParaRPr b="0" i="0" sz="135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rPr>
              <a:t>• Type de véhicule &amp; Marque : </a:t>
            </a:r>
            <a:r>
              <a:rPr b="0" i="0" lang="en-US" sz="12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 SUV (+ surcote) vs citadine compacte.</a:t>
            </a:r>
            <a:endParaRPr b="0" i="0" sz="135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762000" y="628650"/>
            <a:ext cx="106680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5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 Industrielle &amp; Déploiement Microservices</a:t>
            </a:r>
            <a:endParaRPr b="0" i="0" sz="25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62000" y="1381125"/>
            <a:ext cx="2495700" cy="114300"/>
          </a:xfrm>
          <a:custGeom>
            <a:rect b="b" l="l" r="r" t="t"/>
            <a:pathLst>
              <a:path extrusionOk="0" h="120000" w="120000">
                <a:moveTo>
                  <a:pt x="0" y="100000"/>
                </a:moveTo>
                <a:cubicBezTo>
                  <a:pt x="0" y="44770"/>
                  <a:pt x="2051" y="0"/>
                  <a:pt x="4580" y="0"/>
                </a:cubicBezTo>
                <a:lnTo>
                  <a:pt x="115420" y="0"/>
                </a:lnTo>
                <a:cubicBezTo>
                  <a:pt x="117949" y="0"/>
                  <a:pt x="120000" y="44770"/>
                  <a:pt x="120000" y="100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62000" y="1381125"/>
            <a:ext cx="2495700" cy="4857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C2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933450" y="1619250"/>
            <a:ext cx="2152800" cy="302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API REST FastAPI</a:t>
            </a:r>
            <a:endParaRPr b="0" i="0" sz="1800" u="none" cap="none" strike="noStrike">
              <a:solidFill>
                <a:srgbClr val="00C2B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Inter"/>
                <a:ea typeface="Inter"/>
                <a:cs typeface="Inter"/>
                <a:sym typeface="Inter"/>
              </a:rPr>
              <a:t>Port 8000 — Swagger UI</a:t>
            </a:r>
            <a:endParaRPr b="1" i="0" sz="1250" u="none" cap="none" strike="noStrike">
              <a:solidFill>
                <a:srgbClr val="0F766E"/>
              </a:solidFill>
              <a:highlight>
                <a:srgbClr val="F0FDF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 stricte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schémas Pydantic v2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Endpoints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unitaire (/predict) et lot (/predict/batch)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Inférence sub-ms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Pipeline Scikit-Learn sérialisée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Rétro-compatibilité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format legacy test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486150" y="1381125"/>
            <a:ext cx="2495700" cy="114300"/>
          </a:xfrm>
          <a:custGeom>
            <a:rect b="b" l="l" r="r" t="t"/>
            <a:pathLst>
              <a:path extrusionOk="0" h="120000" w="120000">
                <a:moveTo>
                  <a:pt x="0" y="100000"/>
                </a:moveTo>
                <a:cubicBezTo>
                  <a:pt x="0" y="44770"/>
                  <a:pt x="2051" y="0"/>
                  <a:pt x="4580" y="0"/>
                </a:cubicBezTo>
                <a:lnTo>
                  <a:pt x="115420" y="0"/>
                </a:lnTo>
                <a:cubicBezTo>
                  <a:pt x="117949" y="0"/>
                  <a:pt x="120000" y="44770"/>
                  <a:pt x="120000" y="100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B2A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486150" y="1381125"/>
            <a:ext cx="2495700" cy="4857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657600" y="1619250"/>
            <a:ext cx="2152800" cy="370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Dashboard Streamlit</a:t>
            </a:r>
            <a:endParaRPr b="0" i="0" sz="18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Port 8501 — Décisionnel</a:t>
            </a:r>
            <a:endParaRPr b="1" i="0" sz="1250" u="none" cap="none" strike="noStrike">
              <a:solidFill>
                <a:srgbClr val="475569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Page 1 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Analyse exploratoire &amp; Simulateur interactif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Page 2 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Calculateur de prix temps réel loueurs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Page 3 :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Doc technique &amp; monitoring API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Composants Plotly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réactifs &amp; dynamiques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210300" y="1381125"/>
            <a:ext cx="2495700" cy="114300"/>
          </a:xfrm>
          <a:custGeom>
            <a:rect b="b" l="l" r="r" t="t"/>
            <a:pathLst>
              <a:path extrusionOk="0" h="120000" w="120000">
                <a:moveTo>
                  <a:pt x="0" y="100000"/>
                </a:moveTo>
                <a:cubicBezTo>
                  <a:pt x="0" y="44770"/>
                  <a:pt x="2051" y="0"/>
                  <a:pt x="4580" y="0"/>
                </a:cubicBezTo>
                <a:lnTo>
                  <a:pt x="115420" y="0"/>
                </a:lnTo>
                <a:cubicBezTo>
                  <a:pt x="117949" y="0"/>
                  <a:pt x="120000" y="44770"/>
                  <a:pt x="120000" y="100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2C3E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210300" y="1381125"/>
            <a:ext cx="2495700" cy="4857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381750" y="1619250"/>
            <a:ext cx="2152800" cy="302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2C3E5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Docker</a:t>
            </a:r>
            <a:endParaRPr b="0" i="0" sz="1800" u="none" cap="none" strike="noStrike">
              <a:solidFill>
                <a:srgbClr val="2C3E5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250" u="none" cap="none" strike="noStrike">
                <a:solidFill>
                  <a:srgbClr val="475569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Multi-Services &amp; Isolation</a:t>
            </a:r>
            <a:endParaRPr b="1" i="0" sz="1250" u="none" cap="none" strike="noStrike">
              <a:solidFill>
                <a:srgbClr val="475569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Dockerfile.api + dashboard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isolés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Orchestration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unifiée via docker-compose.yml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Portabilité totale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sans conflit de dépendances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 Ready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(AWS ECS, Render)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934450" y="1381125"/>
            <a:ext cx="2495700" cy="114300"/>
          </a:xfrm>
          <a:custGeom>
            <a:rect b="b" l="l" r="r" t="t"/>
            <a:pathLst>
              <a:path extrusionOk="0" h="120000" w="120000">
                <a:moveTo>
                  <a:pt x="0" y="100000"/>
                </a:moveTo>
                <a:cubicBezTo>
                  <a:pt x="0" y="44770"/>
                  <a:pt x="2051" y="0"/>
                  <a:pt x="4580" y="0"/>
                </a:cubicBezTo>
                <a:lnTo>
                  <a:pt x="115420" y="0"/>
                </a:lnTo>
                <a:cubicBezTo>
                  <a:pt x="117949" y="0"/>
                  <a:pt x="120000" y="44770"/>
                  <a:pt x="120000" y="100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C2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934450" y="1381125"/>
            <a:ext cx="2495700" cy="48579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00C2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9105900" y="1619250"/>
            <a:ext cx="2152800" cy="3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MLOps &amp; MLflow</a:t>
            </a:r>
            <a:endParaRPr b="0" i="0" sz="1800" u="none" cap="none" strike="noStrike">
              <a:solidFill>
                <a:srgbClr val="00C2B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highlight>
                  <a:srgbClr val="F0FDFA"/>
                </a:highlight>
                <a:latin typeface="Inter"/>
                <a:ea typeface="Inter"/>
                <a:cs typeface="Inter"/>
                <a:sym typeface="Inter"/>
              </a:rPr>
              <a:t>Gouvernance &amp; Registry</a:t>
            </a:r>
            <a:endParaRPr b="1" i="0" sz="1250" u="none" cap="none" strike="noStrike">
              <a:solidFill>
                <a:srgbClr val="0F766E"/>
              </a:solidFill>
              <a:highlight>
                <a:srgbClr val="F0FDFA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Tracking des runs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hyperparamètres et métriques (MAE, R²)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Versioning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 modèles de régression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Rollback instantané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vers version stable prod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Char char="●"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Détection continuelle</a:t>
            </a: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du data drift</a:t>
            </a:r>
            <a:endParaRPr b="0" i="0" sz="13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/>
        </p:nvSpPr>
        <p:spPr>
          <a:xfrm>
            <a:off x="762000" y="628650"/>
            <a:ext cx="106680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7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Recommandations Stratégiques &amp; Impact Business</a:t>
            </a:r>
            <a:endParaRPr b="0" i="0" sz="27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762000" y="1123950"/>
            <a:ext cx="6381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Feuille de route pour le Product Manager GetAround</a:t>
            </a:r>
            <a:endParaRPr b="0" i="0" sz="1600" u="none" cap="none" strike="noStrike">
              <a:solidFill>
                <a:srgbClr val="1B2A4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762000" y="1428750"/>
            <a:ext cx="6381900" cy="1047900"/>
            <a:chOff x="0" y="0"/>
            <a:chExt cx="6381900" cy="1047900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6381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190500" y="1905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0FDFA"/>
            </a:solidFill>
            <a:ln cap="flat" cmpd="sng" w="9525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1905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i="0" sz="1700" u="none" cap="none" strike="noStrike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10" name="Google Shape;210;p7"/>
            <p:cNvSpPr txBox="1"/>
            <p:nvPr/>
          </p:nvSpPr>
          <p:spPr>
            <a:xfrm>
              <a:off x="762000" y="142875"/>
              <a:ext cx="542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Instaurer un seuil de 60 minutes</a:t>
              </a:r>
              <a:endParaRPr b="1" i="0" sz="16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14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Résout 67 % des conflits majeurs pour seulement 1,9 % de volume bloqué. Impact revenu résiduel minime car une part des locations est reportée sur d'autres créneaux.</a:t>
              </a:r>
              <a:endParaRPr b="0" i="0" sz="14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762000" y="2619375"/>
            <a:ext cx="6381900" cy="1047900"/>
            <a:chOff x="0" y="0"/>
            <a:chExt cx="6381900" cy="1047900"/>
          </a:xfrm>
        </p:grpSpPr>
        <p:sp>
          <p:nvSpPr>
            <p:cNvPr id="212" name="Google Shape;212;p7"/>
            <p:cNvSpPr/>
            <p:nvPr/>
          </p:nvSpPr>
          <p:spPr>
            <a:xfrm>
              <a:off x="0" y="0"/>
              <a:ext cx="6381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190500" y="1905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0FDFA"/>
            </a:solidFill>
            <a:ln cap="flat" cmpd="sng" w="9525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1905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i="0" sz="1700" u="none" cap="none" strike="noStrike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15" name="Google Shape;215;p7"/>
            <p:cNvSpPr txBox="1"/>
            <p:nvPr/>
          </p:nvSpPr>
          <p:spPr>
            <a:xfrm>
              <a:off x="762000" y="142875"/>
              <a:ext cx="542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Ne pas exclure le mode Mobile</a:t>
              </a:r>
              <a:endParaRPr b="1" i="0" sz="16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14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Bien que Getaround Connect enregistre moins de retards (43 % vs 61 %), les enchaînements en Mobile génèrent les conflits les plus toxiques (face-à-face physique conflictuel).</a:t>
              </a:r>
              <a:endParaRPr b="0" i="0" sz="14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7"/>
          <p:cNvGrpSpPr/>
          <p:nvPr/>
        </p:nvGrpSpPr>
        <p:grpSpPr>
          <a:xfrm>
            <a:off x="762000" y="3810000"/>
            <a:ext cx="6381900" cy="1047900"/>
            <a:chOff x="0" y="0"/>
            <a:chExt cx="6381900" cy="1047900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6381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190500" y="1905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0FDFA"/>
            </a:solidFill>
            <a:ln cap="flat" cmpd="sng" w="9525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1905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i="0" sz="1700" u="none" cap="none" strike="noStrike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762000" y="142875"/>
              <a:ext cx="542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Déploiement progressif par A/B Testing</a:t>
              </a:r>
              <a:endParaRPr b="1" i="0" sz="16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14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Tester le seuil de 60 min sur 50 % des véhicules d'une métropole pilote pendant 30 jours. Mesurer le taux d'annulation et le Net Promoter Score (NPS).</a:t>
              </a:r>
              <a:endParaRPr b="0" i="0" sz="14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762000" y="5000625"/>
            <a:ext cx="6381900" cy="1047900"/>
            <a:chOff x="0" y="0"/>
            <a:chExt cx="6381900" cy="1047900"/>
          </a:xfrm>
        </p:grpSpPr>
        <p:sp>
          <p:nvSpPr>
            <p:cNvPr id="222" name="Google Shape;222;p7"/>
            <p:cNvSpPr/>
            <p:nvPr/>
          </p:nvSpPr>
          <p:spPr>
            <a:xfrm>
              <a:off x="0" y="0"/>
              <a:ext cx="63819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190500" y="190500"/>
              <a:ext cx="419100" cy="419100"/>
            </a:xfrm>
            <a:prstGeom prst="roundRect">
              <a:avLst>
                <a:gd fmla="val 13636" name="adj"/>
              </a:avLst>
            </a:prstGeom>
            <a:solidFill>
              <a:srgbClr val="F0FDFA"/>
            </a:solidFill>
            <a:ln cap="flat" cmpd="sng" w="9525">
              <a:solidFill>
                <a:srgbClr val="00C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1905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700" u="none" cap="none" strike="noStrike">
                  <a:solidFill>
                    <a:srgbClr val="0F766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i="0" sz="1700" u="none" cap="none" strike="noStrike">
                <a:solidFill>
                  <a:srgbClr val="0F766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762000" y="142875"/>
              <a:ext cx="5429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B2A4A"/>
                  </a:solidFill>
                  <a:latin typeface="Inter"/>
                  <a:ea typeface="Inter"/>
                  <a:cs typeface="Inter"/>
                  <a:sym typeface="Inter"/>
                </a:rPr>
                <a:t>Recommandation tarifaire assistée</a:t>
              </a:r>
              <a:endParaRPr b="1" i="0" sz="1600" u="none" cap="none" strike="noStrike">
                <a:solidFill>
                  <a:srgbClr val="1B2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145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Intégrer l'API /predict directement dans le formulaire de dépôt d'annonce avec une fourchette indicative (±11 €) pour maximiser le taux de réservation dès le premier mois.</a:t>
              </a:r>
              <a:endParaRPr b="0" i="0" sz="14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7429500" y="1123950"/>
            <a:ext cx="4000500" cy="4924500"/>
            <a:chOff x="0" y="0"/>
            <a:chExt cx="4000500" cy="4924500"/>
          </a:xfrm>
        </p:grpSpPr>
        <p:sp>
          <p:nvSpPr>
            <p:cNvPr id="227" name="Google Shape;227;p7"/>
            <p:cNvSpPr/>
            <p:nvPr/>
          </p:nvSpPr>
          <p:spPr>
            <a:xfrm>
              <a:off x="0" y="0"/>
              <a:ext cx="4000500" cy="4924500"/>
            </a:xfrm>
            <a:prstGeom prst="roundRect">
              <a:avLst>
                <a:gd fmla="val 2857" name="adj"/>
              </a:avLst>
            </a:prstGeom>
            <a:solidFill>
              <a:srgbClr val="1B2A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0" y="0"/>
              <a:ext cx="4000500" cy="152400"/>
            </a:xfrm>
            <a:custGeom>
              <a:rect b="b" l="l" r="r" t="t"/>
              <a:pathLst>
                <a:path extrusionOk="0" h="120000" w="120000">
                  <a:moveTo>
                    <a:pt x="0" y="90000"/>
                  </a:moveTo>
                  <a:cubicBezTo>
                    <a:pt x="0" y="40298"/>
                    <a:pt x="1535" y="0"/>
                    <a:pt x="3429" y="0"/>
                  </a:cubicBezTo>
                  <a:lnTo>
                    <a:pt x="116571" y="0"/>
                  </a:lnTo>
                  <a:cubicBezTo>
                    <a:pt x="118465" y="0"/>
                    <a:pt x="120000" y="40298"/>
                    <a:pt x="120000" y="9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C2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228600" y="228600"/>
              <a:ext cx="3543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CHIFFRAGE DU ROI</a:t>
              </a:r>
              <a:endParaRPr b="0" i="0" sz="1600" u="none" cap="none" strike="noStrike">
                <a:solidFill>
                  <a:srgbClr val="00C2B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30" name="Google Shape;230;p7"/>
            <p:cNvGrpSpPr/>
            <p:nvPr/>
          </p:nvGrpSpPr>
          <p:grpSpPr>
            <a:xfrm>
              <a:off x="228600" y="571500"/>
              <a:ext cx="3543300" cy="933600"/>
              <a:chOff x="0" y="0"/>
              <a:chExt cx="3543300" cy="933600"/>
            </a:xfrm>
          </p:grpSpPr>
          <p:sp>
            <p:nvSpPr>
              <p:cNvPr id="231" name="Google Shape;231;p7"/>
              <p:cNvSpPr/>
              <p:nvPr/>
            </p:nvSpPr>
            <p:spPr>
              <a:xfrm>
                <a:off x="0" y="0"/>
                <a:ext cx="3543300" cy="933600"/>
              </a:xfrm>
              <a:prstGeom prst="roundRect">
                <a:avLst>
                  <a:gd fmla="val 8163" name="adj"/>
                </a:avLst>
              </a:prstGeom>
              <a:solidFill>
                <a:srgbClr val="25375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7"/>
              <p:cNvSpPr txBox="1"/>
              <p:nvPr/>
            </p:nvSpPr>
            <p:spPr>
              <a:xfrm>
                <a:off x="190500" y="114300"/>
                <a:ext cx="3162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2300" u="none" cap="none" strike="noStrike">
                    <a:solidFill>
                      <a:srgbClr val="00C2B2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146 </a:t>
                </a:r>
                <a:r>
                  <a:rPr b="1" i="0" lang="en-US" sz="17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litiges évités</a:t>
                </a:r>
                <a:endParaRPr b="0" i="0" sz="23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US" u="none" cap="none" strike="noStrik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Sur 218 conflits constatés (-67 % de churn locataire)</a:t>
                </a:r>
                <a:endParaRPr b="0" i="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3" name="Google Shape;233;p7"/>
            <p:cNvGrpSpPr/>
            <p:nvPr/>
          </p:nvGrpSpPr>
          <p:grpSpPr>
            <a:xfrm>
              <a:off x="228600" y="1638300"/>
              <a:ext cx="3543300" cy="933600"/>
              <a:chOff x="0" y="0"/>
              <a:chExt cx="3543300" cy="933600"/>
            </a:xfrm>
          </p:grpSpPr>
          <p:sp>
            <p:nvSpPr>
              <p:cNvPr id="234" name="Google Shape;234;p7"/>
              <p:cNvSpPr/>
              <p:nvPr/>
            </p:nvSpPr>
            <p:spPr>
              <a:xfrm>
                <a:off x="0" y="0"/>
                <a:ext cx="3543300" cy="933600"/>
              </a:xfrm>
              <a:prstGeom prst="roundRect">
                <a:avLst>
                  <a:gd fmla="val 8163" name="adj"/>
                </a:avLst>
              </a:prstGeom>
              <a:solidFill>
                <a:srgbClr val="25375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7"/>
              <p:cNvSpPr txBox="1"/>
              <p:nvPr/>
            </p:nvSpPr>
            <p:spPr>
              <a:xfrm>
                <a:off x="190500" y="114300"/>
                <a:ext cx="3162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2300" u="none" cap="none" strike="noStrike">
                    <a:solidFill>
                      <a:srgbClr val="00C2B2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1,9 % </a:t>
                </a:r>
                <a:r>
                  <a:rPr b="1" i="0" lang="en-US" sz="17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du volume</a:t>
                </a:r>
                <a:endParaRPr b="0" i="0" sz="23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US" u="none" cap="none" strike="noStrik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Exposé au blocage (hypothèse haute sans report de date)</a:t>
                </a:r>
                <a:endParaRPr b="0" i="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6" name="Google Shape;236;p7"/>
            <p:cNvGrpSpPr/>
            <p:nvPr/>
          </p:nvGrpSpPr>
          <p:grpSpPr>
            <a:xfrm>
              <a:off x="228600" y="2705100"/>
              <a:ext cx="3543300" cy="933600"/>
              <a:chOff x="0" y="0"/>
              <a:chExt cx="3543300" cy="933600"/>
            </a:xfrm>
          </p:grpSpPr>
          <p:sp>
            <p:nvSpPr>
              <p:cNvPr id="237" name="Google Shape;237;p7"/>
              <p:cNvSpPr/>
              <p:nvPr/>
            </p:nvSpPr>
            <p:spPr>
              <a:xfrm>
                <a:off x="0" y="0"/>
                <a:ext cx="3543300" cy="933600"/>
              </a:xfrm>
              <a:prstGeom prst="roundRect">
                <a:avLst>
                  <a:gd fmla="val 8163" name="adj"/>
                </a:avLst>
              </a:prstGeom>
              <a:solidFill>
                <a:srgbClr val="25375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7"/>
              <p:cNvSpPr txBox="1"/>
              <p:nvPr/>
            </p:nvSpPr>
            <p:spPr>
              <a:xfrm>
                <a:off x="190500" y="114300"/>
                <a:ext cx="3162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2300" u="none" cap="none" strike="noStrike">
                    <a:solidFill>
                      <a:srgbClr val="00C2B2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10,78 € / jour</a:t>
                </a:r>
                <a:endParaRPr b="0" i="0" sz="23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US" u="none" cap="none" strike="noStrik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Précision moyenne du modèle de tarification (R² = 0.729)</a:t>
                </a:r>
                <a:endParaRPr b="0" i="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9" name="Google Shape;239;p7"/>
            <p:cNvGrpSpPr/>
            <p:nvPr/>
          </p:nvGrpSpPr>
          <p:grpSpPr>
            <a:xfrm>
              <a:off x="228600" y="3771900"/>
              <a:ext cx="3543300" cy="933600"/>
              <a:chOff x="0" y="0"/>
              <a:chExt cx="3543300" cy="933600"/>
            </a:xfrm>
          </p:grpSpPr>
          <p:sp>
            <p:nvSpPr>
              <p:cNvPr id="240" name="Google Shape;240;p7"/>
              <p:cNvSpPr/>
              <p:nvPr/>
            </p:nvSpPr>
            <p:spPr>
              <a:xfrm>
                <a:off x="0" y="0"/>
                <a:ext cx="3543300" cy="933600"/>
              </a:xfrm>
              <a:prstGeom prst="roundRect">
                <a:avLst>
                  <a:gd fmla="val 8163" name="adj"/>
                </a:avLst>
              </a:prstGeom>
              <a:solidFill>
                <a:srgbClr val="25375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7"/>
              <p:cNvSpPr txBox="1"/>
              <p:nvPr/>
            </p:nvSpPr>
            <p:spPr>
              <a:xfrm>
                <a:off x="190500" y="114300"/>
                <a:ext cx="3162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2300" u="none" cap="none" strike="noStrike">
                    <a:solidFill>
                      <a:srgbClr val="00C2B2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100 % </a:t>
                </a:r>
                <a:r>
                  <a:rPr b="1" i="0" lang="en-US" sz="1700" u="none" cap="none" strike="noStrike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Conteneurisé</a:t>
                </a:r>
                <a:endParaRPr b="0" i="0" sz="2300" u="none" cap="none" strike="noStrike">
                  <a:solidFill>
                    <a:srgbClr val="00C2B2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US" u="none" cap="none" strike="noStrik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Deux microservices déployables en 1 clic via Docker Compose</a:t>
                </a:r>
                <a:endParaRPr b="0" i="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