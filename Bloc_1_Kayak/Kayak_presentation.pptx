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y="5143500" cx="9144000"/>
  <p:notesSz cx="6858000" cy="9144000"/>
  <p:embeddedFontLst>
    <p:embeddedFont>
      <p:font typeface="Inter SemiBold"/>
      <p:regular r:id="rId13"/>
      <p:bold r:id="rId14"/>
      <p:italic r:id="rId15"/>
      <p:boldItalic r:id="rId16"/>
    </p:embeddedFont>
    <p:embeddedFont>
      <p:font typeface="Inter"/>
      <p:bold r:id="rId17"/>
      <p:boldItalic r:id="rId18"/>
    </p:embeddedFont>
    <p:embeddedFont>
      <p:font typeface="Inter ExtraBold"/>
      <p:bold r:id="rId19"/>
      <p:boldItalic r:id="rId20"/>
    </p:embeddedFont>
    <p:embeddedFont>
      <p:font typeface="Inter Medium"/>
      <p:regular r:id="rId21"/>
      <p:bold r:id="rId22"/>
      <p:italic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5" roundtripDataSignature="AMtx7mi2LP8hGxQXgUwa4g5MzZBjuqDtW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ExtraBold-boldItalic.fntdata"/><Relationship Id="rId22" Type="http://schemas.openxmlformats.org/officeDocument/2006/relationships/font" Target="fonts/InterMedium-bold.fntdata"/><Relationship Id="rId21" Type="http://schemas.openxmlformats.org/officeDocument/2006/relationships/font" Target="fonts/InterMedium-regular.fntdata"/><Relationship Id="rId24" Type="http://schemas.openxmlformats.org/officeDocument/2006/relationships/font" Target="fonts/InterMedium-boldItalic.fntdata"/><Relationship Id="rId23" Type="http://schemas.openxmlformats.org/officeDocument/2006/relationships/font" Target="fonts/InterMedium-italic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5" Type="http://customschemas.google.com/relationships/presentationmetadata" Target="meta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font" Target="fonts/InterSemiBold-regular.fntdata"/><Relationship Id="rId12" Type="http://schemas.openxmlformats.org/officeDocument/2006/relationships/slide" Target="slides/slide8.xml"/><Relationship Id="rId15" Type="http://schemas.openxmlformats.org/officeDocument/2006/relationships/font" Target="fonts/InterSemiBold-italic.fntdata"/><Relationship Id="rId14" Type="http://schemas.openxmlformats.org/officeDocument/2006/relationships/font" Target="fonts/InterSemiBold-bold.fntdata"/><Relationship Id="rId17" Type="http://schemas.openxmlformats.org/officeDocument/2006/relationships/font" Target="fonts/Inter-bold.fntdata"/><Relationship Id="rId16" Type="http://schemas.openxmlformats.org/officeDocument/2006/relationships/font" Target="fonts/InterSemiBold-boldItalic.fntdata"/><Relationship Id="rId19" Type="http://schemas.openxmlformats.org/officeDocument/2006/relationships/font" Target="fonts/InterExtraBold-bold.fntdata"/><Relationship Id="rId18" Type="http://schemas.openxmlformats.org/officeDocument/2006/relationships/font" Target="fonts/Inter-bold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58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" name="Google Shape;7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58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3" name="Google Shape;9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58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58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" name="Google Shape;12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58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" name="Google Shape;13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58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8a56848f2_0_143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4" name="Google Shape;154;g3f8a56848f2_0_14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58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6" name="Google Shape;176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58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11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1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14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14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6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16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7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8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18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18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0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0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1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1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15.png"/><Relationship Id="rId6" Type="http://schemas.openxmlformats.org/officeDocument/2006/relationships/image" Target="../media/image1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"/>
          <p:cNvSpPr/>
          <p:nvPr/>
        </p:nvSpPr>
        <p:spPr>
          <a:xfrm>
            <a:off x="0" y="0"/>
            <a:ext cx="3048000" cy="5143500"/>
          </a:xfrm>
          <a:prstGeom prst="rect">
            <a:avLst/>
          </a:prstGeom>
          <a:solidFill>
            <a:srgbClr val="0E344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55" name="Google Shape;55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428625"/>
            <a:ext cx="720900" cy="7593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" name="Google Shape;56;p1"/>
          <p:cNvGrpSpPr/>
          <p:nvPr/>
        </p:nvGrpSpPr>
        <p:grpSpPr>
          <a:xfrm>
            <a:off x="285750" y="1428750"/>
            <a:ext cx="2476500" cy="3381375"/>
            <a:chOff x="285750" y="1428750"/>
            <a:chExt cx="2476500" cy="3381375"/>
          </a:xfrm>
        </p:grpSpPr>
        <p:sp>
          <p:nvSpPr>
            <p:cNvPr id="57" name="Google Shape;57;p1"/>
            <p:cNvSpPr txBox="1"/>
            <p:nvPr/>
          </p:nvSpPr>
          <p:spPr>
            <a:xfrm>
              <a:off x="285750" y="1428750"/>
              <a:ext cx="2476500" cy="1428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fr-FR" sz="1000">
                  <a:solidFill>
                    <a:srgbClr val="3FDAD2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Certification </a:t>
              </a:r>
              <a:r>
                <a:rPr lang="fr-FR" sz="1000">
                  <a:solidFill>
                    <a:srgbClr val="3FDAD2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CDSD </a:t>
              </a:r>
              <a:r>
                <a:rPr b="0" lang="fr-FR" sz="1000">
                  <a:solidFill>
                    <a:srgbClr val="3FDAD2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BLOC 1</a:t>
              </a:r>
              <a:endParaRPr b="0" sz="1000">
                <a:solidFill>
                  <a:srgbClr val="3FDAD2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fr-FR" sz="2400">
                  <a:solidFill>
                    <a:srgbClr val="FFFF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Plan your trip</a:t>
              </a:r>
              <a:br>
                <a:rPr b="0" lang="fr-FR" sz="2400">
                  <a:solidFill>
                    <a:srgbClr val="FFFF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</a:br>
              <a:r>
                <a:rPr b="0" lang="fr-FR" sz="2400">
                  <a:solidFill>
                    <a:srgbClr val="FFFF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with Kayak</a:t>
              </a:r>
              <a:endParaRPr b="0" sz="2400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58" name="Google Shape;58;p1"/>
            <p:cNvSpPr txBox="1"/>
            <p:nvPr/>
          </p:nvSpPr>
          <p:spPr>
            <a:xfrm>
              <a:off x="285750" y="4238625"/>
              <a:ext cx="2476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b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fr-FR" sz="12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Christopher Gilleron</a:t>
              </a:r>
              <a:endParaRPr b="1" sz="1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fr-FR" sz="10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8 octobre 2026</a:t>
              </a:r>
              <a:endParaRPr b="0" sz="10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9" name="Google Shape;59;p1"/>
          <p:cNvGrpSpPr/>
          <p:nvPr/>
        </p:nvGrpSpPr>
        <p:grpSpPr>
          <a:xfrm>
            <a:off x="3333750" y="381000"/>
            <a:ext cx="5524500" cy="4286325"/>
            <a:chOff x="3333750" y="381000"/>
            <a:chExt cx="5524500" cy="4286325"/>
          </a:xfrm>
        </p:grpSpPr>
        <p:sp>
          <p:nvSpPr>
            <p:cNvPr id="60" name="Google Shape;60;p1"/>
            <p:cNvSpPr txBox="1"/>
            <p:nvPr/>
          </p:nvSpPr>
          <p:spPr>
            <a:xfrm>
              <a:off x="3333750" y="381000"/>
              <a:ext cx="5524500" cy="762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fr-FR" sz="1870">
                  <a:solidFill>
                    <a:srgbClr val="0E3449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Construction d'une Infrastructure de Données</a:t>
              </a:r>
              <a:endParaRPr b="0" sz="1870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fr-FR" sz="935">
                  <a:solidFill>
                    <a:srgbClr val="64748B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Pipeline ETL et Infrastructure de Données pour la Recommandation Touristique</a:t>
              </a:r>
              <a:endParaRPr b="0" sz="935">
                <a:solidFill>
                  <a:srgbClr val="64748B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  <p:sp>
          <p:nvSpPr>
            <p:cNvPr id="61" name="Google Shape;61;p1"/>
            <p:cNvSpPr/>
            <p:nvPr/>
          </p:nvSpPr>
          <p:spPr>
            <a:xfrm>
              <a:off x="3333750" y="1381125"/>
              <a:ext cx="5429400" cy="1000200"/>
            </a:xfrm>
            <a:prstGeom prst="roundRect">
              <a:avLst>
                <a:gd fmla="val 7619" name="adj"/>
              </a:avLst>
            </a:prstGeom>
            <a:solidFill>
              <a:srgbClr val="F1F5F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" name="Google Shape;62;p1"/>
            <p:cNvSpPr txBox="1"/>
            <p:nvPr/>
          </p:nvSpPr>
          <p:spPr>
            <a:xfrm>
              <a:off x="3524250" y="1715135"/>
              <a:ext cx="381000" cy="381000"/>
            </a:xfrm>
            <a:prstGeom prst="rect">
              <a:avLst/>
            </a:prstGeom>
            <a:solidFill>
              <a:srgbClr val="E0F2F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FR" sz="2000">
                  <a:solidFill>
                    <a:srgbClr val="0369A1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track_changes</a:t>
              </a:r>
              <a:endParaRPr sz="2000">
                <a:solidFill>
                  <a:srgbClr val="0369A1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63" name="Google Shape;63;p1"/>
            <p:cNvSpPr txBox="1"/>
            <p:nvPr/>
          </p:nvSpPr>
          <p:spPr>
            <a:xfrm>
              <a:off x="4095750" y="1476375"/>
              <a:ext cx="4572000" cy="809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fr-FR" sz="1250">
                  <a:solidFill>
                    <a:srgbClr val="0369A1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Problématique métier</a:t>
              </a:r>
              <a:endParaRPr b="0" sz="1250">
                <a:solidFill>
                  <a:srgbClr val="0369A1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fr-FR" sz="105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Aider les utilisateurs de Kayak à planifier leur séjour en France en combinant météo en temps réel et offre hôtelière.</a:t>
              </a:r>
              <a:endParaRPr b="0" sz="10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64" name="Google Shape;64;p1"/>
            <p:cNvSpPr/>
            <p:nvPr/>
          </p:nvSpPr>
          <p:spPr>
            <a:xfrm>
              <a:off x="3333750" y="2524125"/>
              <a:ext cx="5429400" cy="1000200"/>
            </a:xfrm>
            <a:prstGeom prst="roundRect">
              <a:avLst>
                <a:gd fmla="val 7619" name="adj"/>
              </a:avLst>
            </a:prstGeom>
            <a:solidFill>
              <a:srgbClr val="F1F5F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1"/>
            <p:cNvSpPr txBox="1"/>
            <p:nvPr/>
          </p:nvSpPr>
          <p:spPr>
            <a:xfrm>
              <a:off x="3524250" y="2858135"/>
              <a:ext cx="381000" cy="381000"/>
            </a:xfrm>
            <a:prstGeom prst="rect">
              <a:avLst/>
            </a:prstGeom>
            <a:solidFill>
              <a:srgbClr val="F0FD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FR" sz="2000">
                  <a:solidFill>
                    <a:srgbClr val="15803D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settings</a:t>
              </a:r>
              <a:endParaRPr sz="2000">
                <a:solidFill>
                  <a:srgbClr val="15803D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66" name="Google Shape;66;p1"/>
            <p:cNvSpPr txBox="1"/>
            <p:nvPr/>
          </p:nvSpPr>
          <p:spPr>
            <a:xfrm>
              <a:off x="4095750" y="2619375"/>
              <a:ext cx="4572000" cy="809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fr-FR" sz="1250">
                  <a:solidFill>
                    <a:srgbClr val="15803D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Périmètre technique</a:t>
              </a:r>
              <a:endParaRPr b="0" sz="1250">
                <a:solidFill>
                  <a:srgbClr val="15803D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fr-FR" sz="105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35 villes géocodées, prévisions météo sur 5 jours, scraping de 100 hôtels qualifiés et stockage Cloud.</a:t>
              </a:r>
              <a:endParaRPr b="0" sz="10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67" name="Google Shape;67;p1"/>
            <p:cNvSpPr/>
            <p:nvPr/>
          </p:nvSpPr>
          <p:spPr>
            <a:xfrm>
              <a:off x="3333750" y="3667125"/>
              <a:ext cx="5429400" cy="1000200"/>
            </a:xfrm>
            <a:prstGeom prst="roundRect">
              <a:avLst>
                <a:gd fmla="val 7619" name="adj"/>
              </a:avLst>
            </a:prstGeom>
            <a:solidFill>
              <a:srgbClr val="F1F5F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" name="Google Shape;68;p1"/>
            <p:cNvSpPr txBox="1"/>
            <p:nvPr/>
          </p:nvSpPr>
          <p:spPr>
            <a:xfrm>
              <a:off x="3524250" y="4001135"/>
              <a:ext cx="381000" cy="381000"/>
            </a:xfrm>
            <a:prstGeom prst="rect">
              <a:avLst/>
            </a:prstGeom>
            <a:solidFill>
              <a:srgbClr val="FDF2F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FR" sz="2000">
                  <a:solidFill>
                    <a:srgbClr val="B91C1C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build</a:t>
              </a:r>
              <a:endParaRPr sz="2000">
                <a:solidFill>
                  <a:srgbClr val="B91C1C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69" name="Google Shape;69;p1"/>
            <p:cNvSpPr txBox="1"/>
            <p:nvPr/>
          </p:nvSpPr>
          <p:spPr>
            <a:xfrm>
              <a:off x="4095750" y="3762375"/>
              <a:ext cx="4572000" cy="809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fr-FR" sz="1250">
                  <a:solidFill>
                    <a:srgbClr val="B91C1C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Livrable</a:t>
              </a:r>
              <a:endParaRPr b="0" sz="1250">
                <a:solidFill>
                  <a:srgbClr val="B91C1C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fr-FR" sz="105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Restitution cartographique interactive et base de données relationnelle interrogeable.</a:t>
              </a:r>
              <a:endParaRPr b="0" sz="10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id="70" name="Google Shape;70;p1"/>
          <p:cNvPicPr preferRelativeResize="0"/>
          <p:nvPr/>
        </p:nvPicPr>
        <p:blipFill rotWithShape="1">
          <a:blip r:embed="rId5">
            <a:alphaModFix/>
          </a:blip>
          <a:srcRect b="60" l="0" r="0" t="70"/>
          <a:stretch/>
        </p:blipFill>
        <p:spPr>
          <a:xfrm>
            <a:off x="285750" y="3000375"/>
            <a:ext cx="2476500" cy="473400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"/>
          <p:cNvSpPr/>
          <p:nvPr/>
        </p:nvSpPr>
        <p:spPr>
          <a:xfrm>
            <a:off x="3333750" y="1381125"/>
            <a:ext cx="57300" cy="1000200"/>
          </a:xfrm>
          <a:prstGeom prst="roundRect">
            <a:avLst>
              <a:gd fmla="val 50000" name="adj"/>
            </a:avLst>
          </a:prstGeom>
          <a:solidFill>
            <a:srgbClr val="0369A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1"/>
          <p:cNvSpPr/>
          <p:nvPr/>
        </p:nvSpPr>
        <p:spPr>
          <a:xfrm>
            <a:off x="3333750" y="2524125"/>
            <a:ext cx="57300" cy="1000200"/>
          </a:xfrm>
          <a:prstGeom prst="roundRect">
            <a:avLst>
              <a:gd fmla="val 50000" name="adj"/>
            </a:avLst>
          </a:prstGeom>
          <a:solidFill>
            <a:srgbClr val="1580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1"/>
          <p:cNvSpPr/>
          <p:nvPr/>
        </p:nvSpPr>
        <p:spPr>
          <a:xfrm>
            <a:off x="3333750" y="3667125"/>
            <a:ext cx="57300" cy="1000200"/>
          </a:xfrm>
          <a:prstGeom prst="roundRect">
            <a:avLst>
              <a:gd fmla="val 50000" name="adj"/>
            </a:avLst>
          </a:prstGeom>
          <a:solidFill>
            <a:srgbClr val="B91C1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"/>
          <p:cNvSpPr/>
          <p:nvPr/>
        </p:nvSpPr>
        <p:spPr>
          <a:xfrm>
            <a:off x="0" y="0"/>
            <a:ext cx="3048000" cy="5143500"/>
          </a:xfrm>
          <a:prstGeom prst="rect">
            <a:avLst/>
          </a:prstGeom>
          <a:solidFill>
            <a:srgbClr val="0E344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79" name="Google Shape;79;p2"/>
          <p:cNvPicPr preferRelativeResize="0"/>
          <p:nvPr/>
        </p:nvPicPr>
        <p:blipFill rotWithShape="1">
          <a:blip r:embed="rId3">
            <a:alphaModFix/>
          </a:blip>
          <a:srcRect b="0" l="18247" r="18241" t="0"/>
          <a:stretch/>
        </p:blipFill>
        <p:spPr>
          <a:xfrm>
            <a:off x="571500" y="476250"/>
            <a:ext cx="720900" cy="759300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2"/>
          <p:cNvSpPr txBox="1"/>
          <p:nvPr/>
        </p:nvSpPr>
        <p:spPr>
          <a:xfrm>
            <a:off x="381000" y="1714500"/>
            <a:ext cx="2286000" cy="285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fr-FR" sz="935">
                <a:solidFill>
                  <a:srgbClr val="3FDAD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Architecture</a:t>
            </a:r>
            <a:endParaRPr b="0" sz="935">
              <a:solidFill>
                <a:srgbClr val="3FDAD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lang="fr-FR" sz="2210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Environnement &amp; Stack Technique</a:t>
            </a:r>
            <a:endParaRPr b="0" sz="2210">
              <a:solidFill>
                <a:srgbClr val="FFFFFF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grpSp>
        <p:nvGrpSpPr>
          <p:cNvPr id="81" name="Google Shape;81;p2"/>
          <p:cNvGrpSpPr/>
          <p:nvPr/>
        </p:nvGrpSpPr>
        <p:grpSpPr>
          <a:xfrm>
            <a:off x="3048000" y="0"/>
            <a:ext cx="6096000" cy="5143500"/>
            <a:chOff x="3048000" y="0"/>
            <a:chExt cx="6096000" cy="5143500"/>
          </a:xfrm>
        </p:grpSpPr>
        <p:sp>
          <p:nvSpPr>
            <p:cNvPr id="82" name="Google Shape;82;p2"/>
            <p:cNvSpPr/>
            <p:nvPr/>
          </p:nvSpPr>
          <p:spPr>
            <a:xfrm>
              <a:off x="3048000" y="0"/>
              <a:ext cx="6096000" cy="5143500"/>
            </a:xfrm>
            <a:prstGeom prst="rect">
              <a:avLst/>
            </a:prstGeom>
            <a:solidFill>
              <a:srgbClr val="F8FAF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2"/>
            <p:cNvSpPr/>
            <p:nvPr/>
          </p:nvSpPr>
          <p:spPr>
            <a:xfrm>
              <a:off x="3333750" y="571500"/>
              <a:ext cx="1238400" cy="4000500"/>
            </a:xfrm>
            <a:prstGeom prst="roundRect">
              <a:avLst>
                <a:gd fmla="val 9230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" name="Google Shape;84;p2"/>
            <p:cNvSpPr txBox="1"/>
            <p:nvPr/>
          </p:nvSpPr>
          <p:spPr>
            <a:xfrm>
              <a:off x="3333750" y="571500"/>
              <a:ext cx="1238400" cy="400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42875" lIns="142875" spcFirstLastPara="1" rIns="142875" wrap="square" tIns="1428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fr-FR" sz="1153">
                  <a:solidFill>
                    <a:srgbClr val="0369A1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01</a:t>
              </a:r>
              <a:endParaRPr b="0" sz="1153">
                <a:solidFill>
                  <a:srgbClr val="0369A1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fr-FR" sz="1230">
                  <a:solidFill>
                    <a:srgbClr val="0E3449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Sources</a:t>
              </a:r>
              <a:endParaRPr b="0" sz="1230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fr-FR" sz="775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🌐 OpenWeatherMap</a:t>
              </a:r>
              <a:endParaRPr b="1" sz="775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fr-FR" sz="698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API météo prévisions à 5 jours.</a:t>
              </a:r>
              <a:endParaRPr sz="698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fr-FR" sz="775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🏨 Booking.com</a:t>
              </a:r>
              <a:endParaRPr b="1" sz="775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fr-FR" sz="698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Extraction des offres hôtelières.</a:t>
              </a:r>
              <a:endParaRPr sz="698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85" name="Google Shape;85;p2"/>
            <p:cNvSpPr/>
            <p:nvPr/>
          </p:nvSpPr>
          <p:spPr>
            <a:xfrm>
              <a:off x="4714875" y="571500"/>
              <a:ext cx="1238400" cy="4000500"/>
            </a:xfrm>
            <a:prstGeom prst="roundRect">
              <a:avLst>
                <a:gd fmla="val 9230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2"/>
            <p:cNvSpPr txBox="1"/>
            <p:nvPr/>
          </p:nvSpPr>
          <p:spPr>
            <a:xfrm>
              <a:off x="4714875" y="571500"/>
              <a:ext cx="1238400" cy="400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42875" lIns="142875" spcFirstLastPara="1" rIns="142875" wrap="square" tIns="1428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fr-FR" sz="1100">
                  <a:solidFill>
                    <a:srgbClr val="15803D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02</a:t>
              </a:r>
              <a:endParaRPr b="0" sz="1100">
                <a:solidFill>
                  <a:srgbClr val="15803D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fr-FR" sz="1200">
                  <a:solidFill>
                    <a:srgbClr val="0E3449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Collecte &amp; ETL</a:t>
              </a:r>
              <a:endParaRPr b="0" sz="1200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fr-FR" sz="1000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🐍 Pandas &amp; NumPy</a:t>
              </a:r>
              <a:endParaRPr b="1" sz="10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fr-FR" sz="90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Nettoyage, conversion des types, jointures et exports</a:t>
              </a:r>
              <a:endParaRPr sz="9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fr-FR" sz="1000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🎭 Playwright</a:t>
              </a:r>
              <a:endParaRPr b="1" sz="10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fr-FR" sz="90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Scraping dynamique (Chromium).</a:t>
              </a:r>
              <a:endParaRPr sz="9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87" name="Google Shape;87;p2"/>
            <p:cNvSpPr/>
            <p:nvPr/>
          </p:nvSpPr>
          <p:spPr>
            <a:xfrm>
              <a:off x="6096000" y="571500"/>
              <a:ext cx="1238400" cy="4000500"/>
            </a:xfrm>
            <a:prstGeom prst="roundRect">
              <a:avLst>
                <a:gd fmla="val 9230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2"/>
            <p:cNvSpPr txBox="1"/>
            <p:nvPr/>
          </p:nvSpPr>
          <p:spPr>
            <a:xfrm>
              <a:off x="6096000" y="571500"/>
              <a:ext cx="1238400" cy="400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42875" lIns="142875" spcFirstLastPara="1" rIns="142875" wrap="square" tIns="1428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fr-FR" sz="1100">
                  <a:solidFill>
                    <a:srgbClr val="B91C1C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03</a:t>
              </a:r>
              <a:endParaRPr b="0" sz="1100">
                <a:solidFill>
                  <a:srgbClr val="B91C1C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fr-FR" sz="1200">
                  <a:solidFill>
                    <a:srgbClr val="0E3449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Cloud &amp; DB</a:t>
              </a:r>
              <a:endParaRPr b="0" sz="1200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fr-FR" sz="1000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🪣 AWS S3</a:t>
              </a:r>
              <a:endParaRPr b="1" sz="10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fr-FR" sz="90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Stockage brut (Data Lake CSV).</a:t>
              </a:r>
              <a:endParaRPr sz="9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fr-FR" sz="1000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🐘 NEON DB</a:t>
              </a:r>
              <a:endParaRPr b="1" sz="10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fr-FR" sz="90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PostgreSQL Warehouse structuré.</a:t>
              </a:r>
              <a:endParaRPr sz="9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89" name="Google Shape;89;p2"/>
            <p:cNvSpPr/>
            <p:nvPr/>
          </p:nvSpPr>
          <p:spPr>
            <a:xfrm>
              <a:off x="7477125" y="571500"/>
              <a:ext cx="1238400" cy="4000500"/>
            </a:xfrm>
            <a:prstGeom prst="roundRect">
              <a:avLst>
                <a:gd fmla="val 9230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" name="Google Shape;90;p2"/>
            <p:cNvSpPr txBox="1"/>
            <p:nvPr/>
          </p:nvSpPr>
          <p:spPr>
            <a:xfrm>
              <a:off x="7477125" y="571500"/>
              <a:ext cx="1238400" cy="400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42875" lIns="142875" spcFirstLastPara="1" rIns="142875" wrap="square" tIns="1428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fr-FR" sz="1100">
                  <a:solidFill>
                    <a:srgbClr val="0E3449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04</a:t>
              </a:r>
              <a:endParaRPr b="0" sz="1100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fr-FR" sz="1200">
                  <a:solidFill>
                    <a:srgbClr val="0E3449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Restitution</a:t>
              </a:r>
              <a:endParaRPr b="0" sz="1200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fr-FR" sz="1000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📊 Plotly Express</a:t>
              </a:r>
              <a:endParaRPr b="1" sz="10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fr-FR" sz="90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Visualisation et cartes interactives.</a:t>
              </a:r>
              <a:endParaRPr sz="9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fr-FR" sz="1000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💻 HTML</a:t>
              </a:r>
              <a:endParaRPr b="1" sz="10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fr-FR" sz="90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Livrables décisionnels autonomes.</a:t>
              </a:r>
              <a:endParaRPr sz="9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3"/>
          <p:cNvSpPr txBox="1"/>
          <p:nvPr>
            <p:ph idx="4294967295" type="ctrTitle"/>
          </p:nvPr>
        </p:nvSpPr>
        <p:spPr>
          <a:xfrm>
            <a:off x="1190625" y="400050"/>
            <a:ext cx="7086600" cy="533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fr-FR" sz="21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Collecte Météo &amp; Sélection du Top-5</a:t>
            </a:r>
            <a:endParaRPr b="0" sz="210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96" name="Google Shape;96;p3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7" name="Google Shape;97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3"/>
          <p:cNvSpPr txBox="1"/>
          <p:nvPr/>
        </p:nvSpPr>
        <p:spPr>
          <a:xfrm>
            <a:off x="571500" y="1143000"/>
            <a:ext cx="4191000" cy="2362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-FR" sz="105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ACQUISITION &amp; HEURISTIQUE</a:t>
            </a:r>
            <a:endParaRPr b="1" sz="105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lang="fr-FR"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1. Géocodage Nominatim (OpenStreetMap)</a:t>
            </a:r>
            <a:endParaRPr b="1" sz="110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fr-FR" sz="10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Conversion des 35 noms de villes en coordonnées (Lat/Lon) avec pause de 1.5s pour respecter le rate-limiting.</a:t>
            </a:r>
            <a:endParaRPr sz="1000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fr-FR"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2. Prévisions OpenWeatherMap</a:t>
            </a:r>
            <a:endParaRPr b="1" sz="110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fr-FR" sz="10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Endpoint 5-day / 3-hour forecast (40 relevés par ville agrégés en moyenne de température et pic de risque de pluie).</a:t>
            </a:r>
            <a:endParaRPr sz="1000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fr-FR"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3. Heuristique de sélection du Top-5</a:t>
            </a:r>
            <a:endParaRPr b="1" sz="110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rtl="0" algn="l">
              <a:spcBef>
                <a:spcPts val="45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Inter"/>
              <a:buChar char="●"/>
            </a:pPr>
            <a:r>
              <a:rPr b="1" lang="fr-FR" sz="1000">
                <a:solidFill>
                  <a:srgbClr val="015955"/>
                </a:solidFill>
                <a:highlight>
                  <a:srgbClr val="E0F2FE"/>
                </a:highlight>
                <a:latin typeface="Courier New"/>
                <a:ea typeface="Courier New"/>
                <a:cs typeface="Courier New"/>
                <a:sym typeface="Courier New"/>
              </a:rPr>
              <a:t>Chaleur maximale</a:t>
            </a:r>
            <a:r>
              <a:rPr lang="fr-FR" sz="10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: tri décroissant sur </a:t>
            </a:r>
            <a:r>
              <a:rPr b="1" lang="fr-FR" sz="1000">
                <a:solidFill>
                  <a:srgbClr val="015955"/>
                </a:solidFill>
                <a:latin typeface="Courier New"/>
                <a:ea typeface="Courier New"/>
                <a:cs typeface="Courier New"/>
                <a:sym typeface="Courier New"/>
              </a:rPr>
              <a:t>avg_temp_c</a:t>
            </a:r>
            <a:r>
              <a:rPr lang="fr-FR" sz="10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sz="1000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rtl="0" algn="l">
              <a:spcBef>
                <a:spcPts val="45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Inter"/>
              <a:buChar char="●"/>
            </a:pPr>
            <a:r>
              <a:rPr b="1" lang="fr-FR" sz="1000">
                <a:solidFill>
                  <a:srgbClr val="015955"/>
                </a:solidFill>
                <a:highlight>
                  <a:srgbClr val="E0F2FE"/>
                </a:highlight>
                <a:latin typeface="Courier New"/>
                <a:ea typeface="Courier New"/>
                <a:cs typeface="Courier New"/>
                <a:sym typeface="Courier New"/>
              </a:rPr>
              <a:t>Pluie minimale</a:t>
            </a:r>
            <a:r>
              <a:rPr lang="fr-FR" sz="10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: tri croissant sur </a:t>
            </a:r>
            <a:r>
              <a:rPr b="1" lang="fr-FR" sz="1000">
                <a:solidFill>
                  <a:srgbClr val="015955"/>
                </a:solidFill>
                <a:latin typeface="Courier New"/>
                <a:ea typeface="Courier New"/>
                <a:cs typeface="Courier New"/>
                <a:sym typeface="Courier New"/>
              </a:rPr>
              <a:t>median_pop</a:t>
            </a:r>
            <a:r>
              <a:rPr lang="fr-FR" sz="10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(0.0 = zéro risque).</a:t>
            </a:r>
            <a:endParaRPr sz="1000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99" name="Google Shape;99;p3"/>
          <p:cNvPicPr preferRelativeResize="0"/>
          <p:nvPr/>
        </p:nvPicPr>
        <p:blipFill rotWithShape="1">
          <a:blip r:embed="rId5">
            <a:alphaModFix/>
          </a:blip>
          <a:srcRect b="0" l="3934" r="3943" t="0"/>
          <a:stretch/>
        </p:blipFill>
        <p:spPr>
          <a:xfrm>
            <a:off x="4953000" y="1143000"/>
            <a:ext cx="3619500" cy="2076600"/>
          </a:xfrm>
          <a:prstGeom prst="roundRect">
            <a:avLst>
              <a:gd fmla="val 3669" name="adj"/>
            </a:avLst>
          </a:prstGeom>
          <a:noFill/>
          <a:ln>
            <a:noFill/>
          </a:ln>
        </p:spPr>
      </p:pic>
      <p:sp>
        <p:nvSpPr>
          <p:cNvPr id="100" name="Google Shape;100;p3"/>
          <p:cNvSpPr txBox="1"/>
          <p:nvPr/>
        </p:nvSpPr>
        <p:spPr>
          <a:xfrm>
            <a:off x="4953000" y="3381375"/>
            <a:ext cx="3619500" cy="10479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txBody>
          <a:bodyPr anchorCtr="0" anchor="ctr" bIns="142875" lIns="142875" spcFirstLastPara="1" rIns="142875" wrap="square" tIns="142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fr-FR" sz="1100">
                <a:solidFill>
                  <a:srgbClr val="0369A1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🎯 Résultat</a:t>
            </a:r>
            <a:endParaRPr b="0" sz="1100">
              <a:solidFill>
                <a:srgbClr val="0369A1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lang="fr-FR" sz="10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Sélection de 5 destinations idéales en Provence et Occitanie : </a:t>
            </a:r>
            <a:r>
              <a:rPr b="1" lang="fr-FR" sz="10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Nîmes, Uzès, Avignon, Carcassonne, Aix en Provence</a:t>
            </a:r>
            <a:r>
              <a:rPr lang="fr-FR" sz="10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sz="1000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"/>
          <p:cNvSpPr/>
          <p:nvPr/>
        </p:nvSpPr>
        <p:spPr>
          <a:xfrm>
            <a:off x="0" y="0"/>
            <a:ext cx="3048000" cy="5143500"/>
          </a:xfrm>
          <a:prstGeom prst="rect">
            <a:avLst/>
          </a:prstGeom>
          <a:solidFill>
            <a:srgbClr val="0E344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4"/>
          <p:cNvSpPr/>
          <p:nvPr/>
        </p:nvSpPr>
        <p:spPr>
          <a:xfrm>
            <a:off x="3048000" y="0"/>
            <a:ext cx="6096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07" name="Google Shape;107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476250"/>
            <a:ext cx="576900" cy="38580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4"/>
          <p:cNvSpPr/>
          <p:nvPr/>
        </p:nvSpPr>
        <p:spPr>
          <a:xfrm>
            <a:off x="3238500" y="476250"/>
            <a:ext cx="1285800" cy="1666800"/>
          </a:xfrm>
          <a:prstGeom prst="roundRect">
            <a:avLst>
              <a:gd fmla="val 7407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4"/>
          <p:cNvSpPr/>
          <p:nvPr/>
        </p:nvSpPr>
        <p:spPr>
          <a:xfrm>
            <a:off x="4619625" y="476250"/>
            <a:ext cx="1285800" cy="1666800"/>
          </a:xfrm>
          <a:prstGeom prst="roundRect">
            <a:avLst>
              <a:gd fmla="val 7407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4"/>
          <p:cNvSpPr/>
          <p:nvPr/>
        </p:nvSpPr>
        <p:spPr>
          <a:xfrm>
            <a:off x="6000750" y="476250"/>
            <a:ext cx="1285800" cy="1666800"/>
          </a:xfrm>
          <a:prstGeom prst="roundRect">
            <a:avLst>
              <a:gd fmla="val 7407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"/>
          <p:cNvSpPr/>
          <p:nvPr/>
        </p:nvSpPr>
        <p:spPr>
          <a:xfrm>
            <a:off x="7381875" y="476250"/>
            <a:ext cx="1285800" cy="1666800"/>
          </a:xfrm>
          <a:prstGeom prst="roundRect">
            <a:avLst>
              <a:gd fmla="val 7407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4"/>
          <p:cNvSpPr txBox="1"/>
          <p:nvPr/>
        </p:nvSpPr>
        <p:spPr>
          <a:xfrm>
            <a:off x="381000" y="1714500"/>
            <a:ext cx="2286000" cy="2857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fr-FR" sz="935">
                <a:solidFill>
                  <a:srgbClr val="3FDAD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Playwright Scraping</a:t>
            </a:r>
            <a:endParaRPr b="0" sz="935">
              <a:solidFill>
                <a:srgbClr val="3FDAD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indent="0" lvl="0" marL="0" rtl="0" algn="l">
              <a:spcBef>
                <a:spcPts val="900"/>
              </a:spcBef>
              <a:spcAft>
                <a:spcPts val="900"/>
              </a:spcAft>
              <a:buNone/>
            </a:pPr>
            <a:r>
              <a:rPr b="0" lang="fr-FR" sz="2210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Scraping Hôtelier Robuste</a:t>
            </a:r>
            <a:endParaRPr b="0" sz="935">
              <a:solidFill>
                <a:srgbClr val="3FDAD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14" name="Google Shape;114;p4"/>
          <p:cNvSpPr txBox="1"/>
          <p:nvPr/>
        </p:nvSpPr>
        <p:spPr>
          <a:xfrm>
            <a:off x="3238500" y="476250"/>
            <a:ext cx="1285800" cy="1666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114300" lIns="114300" spcFirstLastPara="1" rIns="114300" wrap="square" tIns="1143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fr-FR" sz="1000">
                <a:solidFill>
                  <a:srgbClr val="0369A1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01</a:t>
            </a:r>
            <a:endParaRPr b="0" sz="1000">
              <a:solidFill>
                <a:srgbClr val="0369A1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fr-FR" sz="1100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Objectif</a:t>
            </a:r>
            <a:endParaRPr b="0" sz="1000">
              <a:solidFill>
                <a:srgbClr val="0369A1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fr-FR" sz="85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🎯 Volume</a:t>
            </a:r>
            <a:endParaRPr b="0" sz="850">
              <a:solidFill>
                <a:srgbClr val="0369A1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fr-FR" sz="7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100 hôtels qualifiés (20 hôtels complets × 5 villes).</a:t>
            </a:r>
            <a:endParaRPr b="0" sz="750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5" name="Google Shape;115;p4"/>
          <p:cNvSpPr txBox="1"/>
          <p:nvPr/>
        </p:nvSpPr>
        <p:spPr>
          <a:xfrm>
            <a:off x="4619625" y="476250"/>
            <a:ext cx="1285800" cy="1666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114300" lIns="114300" spcFirstLastPara="1" rIns="114300" wrap="square" tIns="1143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fr-FR" sz="1000">
                <a:solidFill>
                  <a:srgbClr val="15803D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02</a:t>
            </a:r>
            <a:endParaRPr b="0" sz="1000">
              <a:solidFill>
                <a:srgbClr val="15803D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fr-FR" sz="1100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Anti-Bot</a:t>
            </a:r>
            <a:endParaRPr b="0" sz="1000">
              <a:solidFill>
                <a:srgbClr val="15803D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fr-FR" sz="85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🛡️ Sécurité</a:t>
            </a:r>
            <a:endParaRPr b="0" sz="850">
              <a:solidFill>
                <a:srgbClr val="15803D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fr-FR" sz="7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Session d'accueil, validation cookies OneTrust et injection de paramètres réels.</a:t>
            </a:r>
            <a:endParaRPr b="0" sz="750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6" name="Google Shape;116;p4"/>
          <p:cNvSpPr txBox="1"/>
          <p:nvPr/>
        </p:nvSpPr>
        <p:spPr>
          <a:xfrm>
            <a:off x="6000750" y="476250"/>
            <a:ext cx="1285800" cy="1666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114300" lIns="114300" spcFirstLastPara="1" rIns="114300" wrap="square" tIns="1143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fr-FR" sz="1000">
                <a:solidFill>
                  <a:srgbClr val="B91C1C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03</a:t>
            </a:r>
            <a:endParaRPr b="0" sz="1000">
              <a:solidFill>
                <a:srgbClr val="B91C1C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fr-FR" sz="1100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Vivier</a:t>
            </a:r>
            <a:endParaRPr b="0" sz="1000">
              <a:solidFill>
                <a:srgbClr val="B91C1C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fr-FR" sz="85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⚡ Stratégie</a:t>
            </a:r>
            <a:endParaRPr b="0" sz="850">
              <a:solidFill>
                <a:srgbClr val="B91C1C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fr-FR" sz="7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Chargement de 50 candidats puis extraction séquentielle de 20 fiches valides.</a:t>
            </a:r>
            <a:endParaRPr b="0" sz="750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7" name="Google Shape;117;p4"/>
          <p:cNvSpPr txBox="1"/>
          <p:nvPr/>
        </p:nvSpPr>
        <p:spPr>
          <a:xfrm>
            <a:off x="7381875" y="476250"/>
            <a:ext cx="1285800" cy="1666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114300" lIns="114300" spcFirstLastPara="1" rIns="114300" wrap="square" tIns="1143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fr-FR" sz="1000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04</a:t>
            </a:r>
            <a:endParaRPr b="0" sz="1000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fr-FR" sz="1100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Double-Onglet</a:t>
            </a:r>
            <a:endParaRPr b="0" sz="1000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fr-FR" sz="85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🔄 Navigation</a:t>
            </a:r>
            <a:endParaRPr b="0" sz="850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fr-FR" sz="7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Un onglet principal pour la liste et un onglet secondaire pour le deep scrape.</a:t>
            </a:r>
            <a:endParaRPr b="0" sz="750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18" name="Google Shape;118;p4"/>
          <p:cNvPicPr preferRelativeResize="0"/>
          <p:nvPr/>
        </p:nvPicPr>
        <p:blipFill rotWithShape="1">
          <a:blip r:embed="rId4">
            <a:alphaModFix/>
          </a:blip>
          <a:srcRect b="14490" l="0" r="0" t="14483"/>
          <a:stretch/>
        </p:blipFill>
        <p:spPr>
          <a:xfrm>
            <a:off x="3238500" y="2333625"/>
            <a:ext cx="5429400" cy="2428800"/>
          </a:xfrm>
          <a:prstGeom prst="roundRect">
            <a:avLst>
              <a:gd fmla="val 3921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"/>
          <p:cNvSpPr txBox="1"/>
          <p:nvPr/>
        </p:nvSpPr>
        <p:spPr>
          <a:xfrm>
            <a:off x="1190625" y="381000"/>
            <a:ext cx="70866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fr-FR" sz="1943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Architecture Cloud : Cycle de Vie &amp; Stockage des Données</a:t>
            </a:r>
            <a:endParaRPr b="0" sz="1943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24" name="Google Shape;124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5"/>
          <p:cNvSpPr txBox="1"/>
          <p:nvPr/>
        </p:nvSpPr>
        <p:spPr>
          <a:xfrm>
            <a:off x="1190625" y="914400"/>
            <a:ext cx="7086600" cy="23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-FR" sz="95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STOCKAGE CLOUD : DATA LAKE &amp; DATA WAREHOUSE</a:t>
            </a:r>
            <a:endParaRPr b="1" sz="95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6" name="Google Shape;126;p5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7" name="Google Shape;127;p5"/>
          <p:cNvGrpSpPr/>
          <p:nvPr/>
        </p:nvGrpSpPr>
        <p:grpSpPr>
          <a:xfrm>
            <a:off x="523875" y="1333500"/>
            <a:ext cx="3905400" cy="3286200"/>
            <a:chOff x="523875" y="1333500"/>
            <a:chExt cx="3905400" cy="3286200"/>
          </a:xfrm>
        </p:grpSpPr>
        <p:sp>
          <p:nvSpPr>
            <p:cNvPr id="128" name="Google Shape;128;p5"/>
            <p:cNvSpPr/>
            <p:nvPr/>
          </p:nvSpPr>
          <p:spPr>
            <a:xfrm>
              <a:off x="523875" y="1333500"/>
              <a:ext cx="3905400" cy="3286200"/>
            </a:xfrm>
            <a:prstGeom prst="roundRect">
              <a:avLst>
                <a:gd fmla="val 3478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" name="Google Shape;129;p5"/>
            <p:cNvSpPr txBox="1"/>
            <p:nvPr/>
          </p:nvSpPr>
          <p:spPr>
            <a:xfrm>
              <a:off x="714375" y="1476375"/>
              <a:ext cx="3524400" cy="3000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fr-FR" sz="1300">
                  <a:solidFill>
                    <a:srgbClr val="0E3449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🪣 1. DATA LAKE (Amazon S3)</a:t>
              </a:r>
              <a:endParaRPr b="0" sz="1300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fr-FR" sz="950">
                  <a:solidFill>
                    <a:srgbClr val="015955"/>
                  </a:solidFill>
                  <a:latin typeface="Inter"/>
                  <a:ea typeface="Inter"/>
                  <a:cs typeface="Inter"/>
                  <a:sym typeface="Inter"/>
                </a:rPr>
                <a:t>Couche Brute (Raw Zone)</a:t>
              </a:r>
              <a:endParaRPr b="1" sz="95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fr-FR" sz="1000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• Nature :</a:t>
              </a:r>
              <a:r>
                <a:rPr lang="fr-FR" sz="10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Fichier CSV brut (</a:t>
              </a:r>
              <a:r>
                <a:rPr b="1" lang="fr-FR" sz="1000">
                  <a:solidFill>
                    <a:srgbClr val="015955"/>
                  </a:solidFill>
                  <a:highlight>
                    <a:srgbClr val="E0F2FE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hotels_data.csv</a:t>
              </a:r>
              <a:r>
                <a:rPr lang="fr-FR" sz="10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)</a:t>
              </a:r>
              <a:endParaRPr sz="10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fr-FR" sz="1000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• Origine :</a:t>
              </a:r>
              <a:r>
                <a:rPr lang="fr-FR" sz="10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Données brutes de l'api météo et du scraping Booking</a:t>
              </a:r>
              <a:endParaRPr sz="10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fr-FR" sz="1000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• État :</a:t>
              </a:r>
              <a:r>
                <a:rPr lang="fr-FR" sz="10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Donnée source non modifiée (texte brut)</a:t>
              </a:r>
              <a:endParaRPr sz="10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fr-FR" sz="850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Rôle métier :</a:t>
              </a:r>
              <a:endParaRPr b="1" sz="85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1" lang="fr-FR" sz="1000">
                  <a:solidFill>
                    <a:srgbClr val="015955"/>
                  </a:solidFill>
                  <a:latin typeface="Inter"/>
                  <a:ea typeface="Inter"/>
                  <a:cs typeface="Inter"/>
                  <a:sym typeface="Inter"/>
                </a:rPr>
                <a:t>- Résilience :</a:t>
              </a:r>
              <a:r>
                <a:rPr lang="fr-FR" sz="10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Sauvegarde historique permanente</a:t>
              </a:r>
              <a:endParaRPr sz="10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1" lang="fr-FR" sz="1000">
                  <a:solidFill>
                    <a:srgbClr val="015955"/>
                  </a:solidFill>
                  <a:latin typeface="Inter"/>
                  <a:ea typeface="Inter"/>
                  <a:cs typeface="Inter"/>
                  <a:sym typeface="Inter"/>
                </a:rPr>
                <a:t>- Rejouabilité :</a:t>
              </a:r>
              <a:r>
                <a:rPr lang="fr-FR" sz="10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Permet de corriger un bug ou réexécuter sans re-scraper le web</a:t>
              </a:r>
              <a:endParaRPr sz="10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30" name="Google Shape;130;p5"/>
          <p:cNvGrpSpPr/>
          <p:nvPr/>
        </p:nvGrpSpPr>
        <p:grpSpPr>
          <a:xfrm>
            <a:off x="4714875" y="1333500"/>
            <a:ext cx="3905400" cy="3286200"/>
            <a:chOff x="4714875" y="1333500"/>
            <a:chExt cx="3905400" cy="3286200"/>
          </a:xfrm>
        </p:grpSpPr>
        <p:sp>
          <p:nvSpPr>
            <p:cNvPr id="131" name="Google Shape;131;p5"/>
            <p:cNvSpPr/>
            <p:nvPr/>
          </p:nvSpPr>
          <p:spPr>
            <a:xfrm>
              <a:off x="4714875" y="1333500"/>
              <a:ext cx="3905400" cy="3286200"/>
            </a:xfrm>
            <a:prstGeom prst="roundRect">
              <a:avLst>
                <a:gd fmla="val 3478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" name="Google Shape;132;p5"/>
            <p:cNvSpPr txBox="1"/>
            <p:nvPr/>
          </p:nvSpPr>
          <p:spPr>
            <a:xfrm>
              <a:off x="4905375" y="1476375"/>
              <a:ext cx="3524400" cy="3000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fr-FR" sz="1300">
                  <a:solidFill>
                    <a:srgbClr val="0E3449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🐘 2. DATA WAREHOUSE (RDS)</a:t>
              </a:r>
              <a:endParaRPr b="0" sz="1300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fr-FR" sz="950">
                  <a:solidFill>
                    <a:srgbClr val="015955"/>
                  </a:solidFill>
                  <a:latin typeface="Inter"/>
                  <a:ea typeface="Inter"/>
                  <a:cs typeface="Inter"/>
                  <a:sym typeface="Inter"/>
                </a:rPr>
                <a:t>Couche Structurée (PostgreSQL)</a:t>
              </a:r>
              <a:endParaRPr b="1" sz="95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fr-FR" sz="1000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• Nature :</a:t>
              </a:r>
              <a:r>
                <a:rPr lang="fr-FR" sz="10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Table SQL </a:t>
              </a:r>
              <a:r>
                <a:rPr b="1" lang="fr-FR" sz="1000">
                  <a:solidFill>
                    <a:srgbClr val="015955"/>
                  </a:solidFill>
                  <a:highlight>
                    <a:srgbClr val="E0F2FE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hotels_data</a:t>
              </a:r>
              <a:r>
                <a:rPr lang="fr-FR" sz="10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(100 hôtels × 12 attributs)</a:t>
              </a:r>
              <a:endParaRPr sz="10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fr-FR" sz="1000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• Origine :</a:t>
              </a:r>
              <a:r>
                <a:rPr lang="fr-FR" sz="10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Jointure métrique météo (</a:t>
              </a:r>
              <a:r>
                <a:rPr lang="fr-FR" sz="900">
                  <a:solidFill>
                    <a:srgbClr val="0E3449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temp/pop</a:t>
              </a:r>
              <a:r>
                <a:rPr lang="fr-FR" sz="10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) et offres hôtels via UUID</a:t>
              </a:r>
              <a:endParaRPr sz="10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fr-FR" sz="1000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• État :</a:t>
              </a:r>
              <a:r>
                <a:rPr lang="fr-FR" sz="10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Donnée nettoyée, typée et organisée (schéma relationnel)</a:t>
              </a:r>
              <a:endParaRPr sz="10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fr-FR" sz="850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Rôle métier :</a:t>
              </a:r>
              <a:endParaRPr b="1" sz="85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1" lang="fr-FR" sz="1000">
                  <a:solidFill>
                    <a:srgbClr val="015955"/>
                  </a:solidFill>
                  <a:latin typeface="Inter"/>
                  <a:ea typeface="Inter"/>
                  <a:cs typeface="Inter"/>
                  <a:sym typeface="Inter"/>
                </a:rPr>
                <a:t>- Analyse décisionnelle :</a:t>
              </a:r>
              <a:r>
                <a:rPr lang="fr-FR" sz="10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Requêtes SQL ciblées pour les analystes </a:t>
              </a:r>
              <a:r>
                <a:rPr i="1" lang="fr-FR" sz="100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(ex: trouver hôtels avec note &gt; 8.5)</a:t>
              </a:r>
              <a:endParaRPr sz="10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6"/>
          <p:cNvSpPr txBox="1"/>
          <p:nvPr>
            <p:ph idx="4294967295" type="ctrTitle"/>
          </p:nvPr>
        </p:nvSpPr>
        <p:spPr>
          <a:xfrm>
            <a:off x="1190625" y="381000"/>
            <a:ext cx="7086600" cy="428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fr-FR" sz="195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Restitution Cartographique (Plotly)</a:t>
            </a:r>
            <a:endParaRPr b="0" sz="195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38" name="Google Shape;138;p6"/>
          <p:cNvSpPr txBox="1"/>
          <p:nvPr/>
        </p:nvSpPr>
        <p:spPr>
          <a:xfrm>
            <a:off x="1190625" y="781050"/>
            <a:ext cx="7086600" cy="238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-FR" sz="95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Visualisation interactive des destinations et des offres</a:t>
            </a:r>
            <a:endParaRPr b="1" sz="95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39" name="Google Shape;139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6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41" name="Google Shape;141;p6"/>
          <p:cNvGrpSpPr/>
          <p:nvPr/>
        </p:nvGrpSpPr>
        <p:grpSpPr>
          <a:xfrm>
            <a:off x="476250" y="1143000"/>
            <a:ext cx="3905400" cy="3143400"/>
            <a:chOff x="476250" y="1143000"/>
            <a:chExt cx="3905400" cy="3143400"/>
          </a:xfrm>
        </p:grpSpPr>
        <p:sp>
          <p:nvSpPr>
            <p:cNvPr id="142" name="Google Shape;142;p6"/>
            <p:cNvSpPr/>
            <p:nvPr/>
          </p:nvSpPr>
          <p:spPr>
            <a:xfrm>
              <a:off x="476250" y="1143000"/>
              <a:ext cx="3905400" cy="3143400"/>
            </a:xfrm>
            <a:prstGeom prst="roundRect">
              <a:avLst>
                <a:gd fmla="val 3636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143" name="Google Shape;143;p6"/>
            <p:cNvPicPr preferRelativeResize="0"/>
            <p:nvPr/>
          </p:nvPicPr>
          <p:blipFill rotWithShape="1">
            <a:blip r:embed="rId5">
              <a:alphaModFix/>
            </a:blip>
            <a:srcRect b="3695" l="0" r="0" t="3704"/>
            <a:stretch/>
          </p:blipFill>
          <p:spPr>
            <a:xfrm>
              <a:off x="666750" y="1333500"/>
              <a:ext cx="3524400" cy="1666800"/>
            </a:xfrm>
            <a:prstGeom prst="roundRect">
              <a:avLst>
                <a:gd fmla="val 4571" name="adj"/>
              </a:avLst>
            </a:prstGeom>
            <a:noFill/>
            <a:ln>
              <a:noFill/>
            </a:ln>
          </p:spPr>
        </p:pic>
        <p:sp>
          <p:nvSpPr>
            <p:cNvPr id="144" name="Google Shape;144;p6"/>
            <p:cNvSpPr txBox="1"/>
            <p:nvPr/>
          </p:nvSpPr>
          <p:spPr>
            <a:xfrm>
              <a:off x="666750" y="3095625"/>
              <a:ext cx="3524400" cy="10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fr-FR" sz="1100">
                  <a:solidFill>
                    <a:srgbClr val="0E3449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Carte 1 — Destinations météo</a:t>
              </a:r>
              <a:endParaRPr b="0" sz="1100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1" lang="fr-FR" sz="900">
                  <a:solidFill>
                    <a:srgbClr val="015955"/>
                  </a:solidFill>
                  <a:highlight>
                    <a:srgbClr val="E0F2FE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top_5_destinations_map.html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fr-FR" sz="95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Top 5 des destinations avec dégradé de chaleur et taille des marqueurs proportionnelle à la température brute observée.</a:t>
              </a:r>
              <a:endParaRPr b="0" sz="9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45" name="Google Shape;145;p6"/>
          <p:cNvGrpSpPr/>
          <p:nvPr/>
        </p:nvGrpSpPr>
        <p:grpSpPr>
          <a:xfrm>
            <a:off x="4762500" y="1143000"/>
            <a:ext cx="3905400" cy="3143400"/>
            <a:chOff x="4762500" y="1143000"/>
            <a:chExt cx="3905400" cy="3143400"/>
          </a:xfrm>
        </p:grpSpPr>
        <p:sp>
          <p:nvSpPr>
            <p:cNvPr id="146" name="Google Shape;146;p6"/>
            <p:cNvSpPr/>
            <p:nvPr/>
          </p:nvSpPr>
          <p:spPr>
            <a:xfrm>
              <a:off x="4762500" y="1143000"/>
              <a:ext cx="3905400" cy="3143400"/>
            </a:xfrm>
            <a:prstGeom prst="roundRect">
              <a:avLst>
                <a:gd fmla="val 3636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147" name="Google Shape;147;p6"/>
            <p:cNvPicPr preferRelativeResize="0"/>
            <p:nvPr/>
          </p:nvPicPr>
          <p:blipFill rotWithShape="1">
            <a:blip r:embed="rId6">
              <a:alphaModFix/>
            </a:blip>
            <a:srcRect b="0" l="10026" r="10026" t="0"/>
            <a:stretch/>
          </p:blipFill>
          <p:spPr>
            <a:xfrm>
              <a:off x="4953000" y="1333500"/>
              <a:ext cx="3524400" cy="1666800"/>
            </a:xfrm>
            <a:prstGeom prst="roundRect">
              <a:avLst>
                <a:gd fmla="val 4571" name="adj"/>
              </a:avLst>
            </a:prstGeom>
            <a:noFill/>
            <a:ln>
              <a:noFill/>
            </a:ln>
          </p:spPr>
        </p:pic>
        <p:sp>
          <p:nvSpPr>
            <p:cNvPr id="148" name="Google Shape;148;p6"/>
            <p:cNvSpPr txBox="1"/>
            <p:nvPr/>
          </p:nvSpPr>
          <p:spPr>
            <a:xfrm>
              <a:off x="4953000" y="3095625"/>
              <a:ext cx="3524400" cy="10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fr-FR" sz="1100">
                  <a:solidFill>
                    <a:srgbClr val="0E3449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Carte 2 — Offres hôtelières</a:t>
              </a:r>
              <a:endParaRPr b="0" sz="1100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1" lang="fr-FR" sz="900">
                  <a:solidFill>
                    <a:srgbClr val="015955"/>
                  </a:solidFill>
                  <a:highlight>
                    <a:srgbClr val="E0F2FE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top_20_hotels_map.html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fr-FR" sz="95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Top 20 des meilleurs établissements avec infobulles interactives détaillant le Nom, la Ville, la Note de l'hôtel et le Prix.</a:t>
              </a:r>
              <a:endParaRPr b="0" sz="9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49" name="Google Shape;149;p6"/>
          <p:cNvGrpSpPr/>
          <p:nvPr/>
        </p:nvGrpSpPr>
        <p:grpSpPr>
          <a:xfrm>
            <a:off x="476250" y="4400550"/>
            <a:ext cx="8191500" cy="381000"/>
            <a:chOff x="476250" y="4400550"/>
            <a:chExt cx="8191500" cy="381000"/>
          </a:xfrm>
        </p:grpSpPr>
        <p:sp>
          <p:nvSpPr>
            <p:cNvPr id="150" name="Google Shape;150;p6"/>
            <p:cNvSpPr/>
            <p:nvPr/>
          </p:nvSpPr>
          <p:spPr>
            <a:xfrm>
              <a:off x="476250" y="4400550"/>
              <a:ext cx="8191500" cy="381000"/>
            </a:xfrm>
            <a:prstGeom prst="roundRect">
              <a:avLst>
                <a:gd fmla="val 20000" name="adj"/>
              </a:avLst>
            </a:prstGeom>
            <a:solidFill>
              <a:srgbClr val="E0F2F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" name="Google Shape;151;p6"/>
            <p:cNvSpPr txBox="1"/>
            <p:nvPr/>
          </p:nvSpPr>
          <p:spPr>
            <a:xfrm>
              <a:off x="619125" y="4400550"/>
              <a:ext cx="79059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fr-FR" sz="950">
                  <a:solidFill>
                    <a:srgbClr val="015955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⚡ Format autonome :</a:t>
              </a:r>
              <a:r>
                <a:rPr lang="fr-FR" sz="950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 Fichiers HTML autonomes intégrant le moteur de rendu interactif </a:t>
              </a:r>
              <a:r>
                <a:rPr b="1" lang="fr-FR" sz="950">
                  <a:solidFill>
                    <a:srgbClr val="0E3449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Plotly.js</a:t>
              </a:r>
              <a:r>
                <a:rPr lang="fr-FR" sz="950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 sans aucune dépendance serveur.</a:t>
              </a:r>
              <a:endParaRPr sz="95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f8a56848f2_0_1439"/>
          <p:cNvSpPr txBox="1"/>
          <p:nvPr>
            <p:ph idx="4294967295" type="ctrTitle"/>
          </p:nvPr>
        </p:nvSpPr>
        <p:spPr>
          <a:xfrm>
            <a:off x="1190625" y="381000"/>
            <a:ext cx="7086600" cy="428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-FR" sz="20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Classement &amp; Axes d'Amélioration</a:t>
            </a:r>
            <a:endParaRPr sz="200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5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57" name="Google Shape;157;g3f8a56848f2_0_1439"/>
          <p:cNvSpPr txBox="1"/>
          <p:nvPr/>
        </p:nvSpPr>
        <p:spPr>
          <a:xfrm>
            <a:off x="1190625" y="781050"/>
            <a:ext cx="7086600" cy="238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5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58" name="Google Shape;158;g3f8a56848f2_0_143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g3f8a56848f2_0_1439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g3f8a56848f2_0_1439"/>
          <p:cNvSpPr/>
          <p:nvPr/>
        </p:nvSpPr>
        <p:spPr>
          <a:xfrm>
            <a:off x="476250" y="1095375"/>
            <a:ext cx="3905400" cy="2000100"/>
          </a:xfrm>
          <a:prstGeom prst="roundRect">
            <a:avLst>
              <a:gd fmla="val 4761" name="adj"/>
            </a:avLst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g3f8a56848f2_0_1439"/>
          <p:cNvSpPr txBox="1"/>
          <p:nvPr/>
        </p:nvSpPr>
        <p:spPr>
          <a:xfrm>
            <a:off x="666750" y="1190625"/>
            <a:ext cx="35244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fr-FR" sz="1150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🏆 Top 5 Destinations</a:t>
            </a:r>
            <a:endParaRPr b="0" sz="1150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162" name="Google Shape;162;g3f8a56848f2_0_1439"/>
          <p:cNvSpPr/>
          <p:nvPr/>
        </p:nvSpPr>
        <p:spPr>
          <a:xfrm>
            <a:off x="4762500" y="1095375"/>
            <a:ext cx="3905400" cy="2000100"/>
          </a:xfrm>
          <a:prstGeom prst="roundRect">
            <a:avLst>
              <a:gd fmla="val 4761" name="adj"/>
            </a:avLst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g3f8a56848f2_0_1439"/>
          <p:cNvSpPr txBox="1"/>
          <p:nvPr/>
        </p:nvSpPr>
        <p:spPr>
          <a:xfrm>
            <a:off x="4953000" y="1190625"/>
            <a:ext cx="35244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fr-FR" sz="1150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🏨 Top 5 Hôtels Les Plus Populaires</a:t>
            </a:r>
            <a:endParaRPr b="0" sz="1150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164" name="Google Shape;164;g3f8a56848f2_0_1439"/>
          <p:cNvSpPr txBox="1"/>
          <p:nvPr/>
        </p:nvSpPr>
        <p:spPr>
          <a:xfrm>
            <a:off x="4953000" y="1524000"/>
            <a:ext cx="3524400" cy="147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fr-FR" sz="850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R.Nom de l'Hôtel (Ville)NotePrix (2n)</a:t>
            </a:r>
            <a:endParaRPr b="0" sz="850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-FR" sz="850">
                <a:solidFill>
                  <a:srgbClr val="F59E0B"/>
                </a:solidFill>
                <a:latin typeface="Inter"/>
                <a:ea typeface="Inter"/>
                <a:cs typeface="Inter"/>
                <a:sym typeface="Inter"/>
              </a:rPr>
              <a:t>🌟 1</a:t>
            </a:r>
            <a:r>
              <a:rPr b="0" lang="fr-FR" sz="85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 Mas de Meze </a:t>
            </a:r>
            <a:r>
              <a:rPr b="0" lang="fr-FR" sz="8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(Uzès)</a:t>
            </a:r>
            <a:r>
              <a:rPr b="1" lang="fr-FR" sz="85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9.8</a:t>
            </a:r>
            <a:r>
              <a:rPr b="1" lang="fr-FR" sz="8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655 €</a:t>
            </a:r>
            <a:endParaRPr sz="850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-FR" sz="850">
                <a:solidFill>
                  <a:srgbClr val="F59E0B"/>
                </a:solidFill>
                <a:latin typeface="Inter"/>
                <a:ea typeface="Inter"/>
                <a:cs typeface="Inter"/>
                <a:sym typeface="Inter"/>
              </a:rPr>
              <a:t>🌟 2</a:t>
            </a:r>
            <a:r>
              <a:rPr b="0" lang="fr-FR" sz="85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Sur le quai </a:t>
            </a:r>
            <a:r>
              <a:rPr b="0" lang="fr-FR" sz="8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(Carcassonne)</a:t>
            </a:r>
            <a:r>
              <a:rPr b="1" lang="fr-FR" sz="85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9.8</a:t>
            </a:r>
            <a:r>
              <a:rPr b="1" lang="fr-FR" sz="8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304 €</a:t>
            </a:r>
            <a:endParaRPr sz="850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-FR" sz="850">
                <a:solidFill>
                  <a:srgbClr val="F59E0B"/>
                </a:solidFill>
                <a:latin typeface="Inter"/>
                <a:ea typeface="Inter"/>
                <a:cs typeface="Inter"/>
                <a:sym typeface="Inter"/>
              </a:rPr>
              <a:t>🌟 3</a:t>
            </a:r>
            <a:r>
              <a:rPr b="0" lang="fr-FR" sz="85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Le Mas des Alexandrins </a:t>
            </a:r>
            <a:r>
              <a:rPr b="0" lang="fr-FR" sz="8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(Uzès)</a:t>
            </a:r>
            <a:r>
              <a:rPr b="1" lang="fr-FR" sz="85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9.7</a:t>
            </a:r>
            <a:r>
              <a:rPr b="1" lang="fr-FR" sz="8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418 €</a:t>
            </a:r>
            <a:endParaRPr sz="850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-FR" sz="850">
                <a:solidFill>
                  <a:srgbClr val="F59E0B"/>
                </a:solidFill>
                <a:latin typeface="Inter"/>
                <a:ea typeface="Inter"/>
                <a:cs typeface="Inter"/>
                <a:sym typeface="Inter"/>
              </a:rPr>
              <a:t>🌟 4</a:t>
            </a:r>
            <a:r>
              <a:rPr b="0" lang="fr-FR" sz="85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Villa Montplaisir </a:t>
            </a:r>
            <a:r>
              <a:rPr b="0" lang="fr-FR" sz="8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(Avignon)</a:t>
            </a:r>
            <a:r>
              <a:rPr b="1" lang="fr-FR" sz="85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9.7</a:t>
            </a:r>
            <a:r>
              <a:rPr b="1" lang="fr-FR" sz="8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395 €</a:t>
            </a:r>
            <a:endParaRPr sz="850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-FR" sz="850">
                <a:solidFill>
                  <a:srgbClr val="F59E0B"/>
                </a:solidFill>
                <a:latin typeface="Inter"/>
                <a:ea typeface="Inter"/>
                <a:cs typeface="Inter"/>
                <a:sym typeface="Inter"/>
              </a:rPr>
              <a:t>🌟 5</a:t>
            </a:r>
            <a:r>
              <a:rPr b="0" lang="fr-FR" sz="85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SalutBB Chambre d'hôte </a:t>
            </a:r>
            <a:r>
              <a:rPr b="0" lang="fr-FR" sz="8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(Carc.)</a:t>
            </a:r>
            <a:r>
              <a:rPr b="1" lang="fr-FR" sz="85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9.7</a:t>
            </a:r>
            <a:r>
              <a:rPr b="1" lang="fr-FR" sz="8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305 €</a:t>
            </a:r>
            <a:endParaRPr sz="850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5" name="Google Shape;165;g3f8a56848f2_0_1439"/>
          <p:cNvSpPr/>
          <p:nvPr/>
        </p:nvSpPr>
        <p:spPr>
          <a:xfrm>
            <a:off x="476250" y="3219450"/>
            <a:ext cx="8191500" cy="266700"/>
          </a:xfrm>
          <a:prstGeom prst="roundRect">
            <a:avLst>
              <a:gd fmla="val 21428" name="adj"/>
            </a:avLst>
          </a:prstGeom>
          <a:solidFill>
            <a:srgbClr val="F0F9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g3f8a56848f2_0_1439"/>
          <p:cNvSpPr txBox="1"/>
          <p:nvPr/>
        </p:nvSpPr>
        <p:spPr>
          <a:xfrm>
            <a:off x="619125" y="3219450"/>
            <a:ext cx="79059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fr-FR" sz="1000">
                <a:solidFill>
                  <a:srgbClr val="015955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⚙️ Bilan Technique &amp; Passage à l'Échelle</a:t>
            </a:r>
            <a:endParaRPr b="0" sz="1000">
              <a:solidFill>
                <a:srgbClr val="015955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167" name="Google Shape;167;g3f8a56848f2_0_1439"/>
          <p:cNvSpPr/>
          <p:nvPr/>
        </p:nvSpPr>
        <p:spPr>
          <a:xfrm>
            <a:off x="476250" y="3600450"/>
            <a:ext cx="2600400" cy="1143000"/>
          </a:xfrm>
          <a:prstGeom prst="roundRect">
            <a:avLst>
              <a:gd fmla="val 6666" name="adj"/>
            </a:avLst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g3f8a56848f2_0_1439"/>
          <p:cNvSpPr txBox="1"/>
          <p:nvPr/>
        </p:nvSpPr>
        <p:spPr>
          <a:xfrm>
            <a:off x="619125" y="3695700"/>
            <a:ext cx="2314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fr-FR" sz="950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🛠️ Modélisation de base</a:t>
            </a:r>
            <a:endParaRPr b="0" sz="950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lang="fr-FR" sz="8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Évoluer vers une forme normale 3NF (séparer la table </a:t>
            </a:r>
            <a:r>
              <a:rPr lang="fr-FR" sz="850">
                <a:solidFill>
                  <a:srgbClr val="334155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cities</a:t>
            </a:r>
            <a:r>
              <a:rPr lang="fr-FR" sz="8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de </a:t>
            </a:r>
            <a:r>
              <a:rPr lang="fr-FR" sz="850">
                <a:solidFill>
                  <a:srgbClr val="334155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hotels</a:t>
            </a:r>
            <a:r>
              <a:rPr lang="fr-FR" sz="8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) pour éliminer toute redondance.</a:t>
            </a:r>
            <a:endParaRPr sz="850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9" name="Google Shape;169;g3f8a56848f2_0_1439"/>
          <p:cNvSpPr/>
          <p:nvPr/>
        </p:nvSpPr>
        <p:spPr>
          <a:xfrm>
            <a:off x="3267075" y="3600450"/>
            <a:ext cx="2610000" cy="1143000"/>
          </a:xfrm>
          <a:prstGeom prst="roundRect">
            <a:avLst>
              <a:gd fmla="val 6666" name="adj"/>
            </a:avLst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g3f8a56848f2_0_1439"/>
          <p:cNvSpPr txBox="1"/>
          <p:nvPr/>
        </p:nvSpPr>
        <p:spPr>
          <a:xfrm>
            <a:off x="3409950" y="3695700"/>
            <a:ext cx="23241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fr-FR" sz="950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⚙️ Orchestration</a:t>
            </a:r>
            <a:endParaRPr b="0" sz="950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lang="fr-FR" sz="8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Industrialiser le pipeline ETL avec </a:t>
            </a:r>
            <a:r>
              <a:rPr b="1" lang="fr-FR" sz="85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Apache Airflow</a:t>
            </a:r>
            <a:r>
              <a:rPr lang="fr-FR" sz="8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via un DAG planifié chaque matin pour actualiser météo et disponibilités.</a:t>
            </a:r>
            <a:endParaRPr sz="850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1" name="Google Shape;171;g3f8a56848f2_0_1439"/>
          <p:cNvSpPr/>
          <p:nvPr/>
        </p:nvSpPr>
        <p:spPr>
          <a:xfrm>
            <a:off x="6067425" y="3600450"/>
            <a:ext cx="2600400" cy="1143000"/>
          </a:xfrm>
          <a:prstGeom prst="roundRect">
            <a:avLst>
              <a:gd fmla="val 6666" name="adj"/>
            </a:avLst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g3f8a56848f2_0_1439"/>
          <p:cNvSpPr txBox="1"/>
          <p:nvPr/>
        </p:nvSpPr>
        <p:spPr>
          <a:xfrm>
            <a:off x="6210300" y="3695700"/>
            <a:ext cx="2314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fr-FR" sz="950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🚀 Optimisation Big Data</a:t>
            </a:r>
            <a:endParaRPr b="0" sz="950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lang="fr-FR" sz="8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Stockage colonnaire compressé au format </a:t>
            </a:r>
            <a:r>
              <a:rPr b="1" lang="fr-FR" sz="85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Parquet</a:t>
            </a:r>
            <a:r>
              <a:rPr lang="fr-FR" sz="8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sur S3 et requêtage serverless via </a:t>
            </a:r>
            <a:r>
              <a:rPr b="1" lang="fr-FR" sz="85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AWS Athena</a:t>
            </a:r>
            <a:r>
              <a:rPr lang="fr-FR" sz="8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à moindre coût.</a:t>
            </a:r>
            <a:endParaRPr sz="850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3" name="Google Shape;173;g3f8a56848f2_0_1439"/>
          <p:cNvSpPr txBox="1"/>
          <p:nvPr/>
        </p:nvSpPr>
        <p:spPr>
          <a:xfrm>
            <a:off x="666750" y="1524000"/>
            <a:ext cx="3524400" cy="1476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fr-FR" sz="850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R. Ville (Temp. Moy / Pluie)</a:t>
            </a:r>
            <a:endParaRPr b="0" sz="850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lang="fr-FR" sz="850">
                <a:solidFill>
                  <a:srgbClr val="F59E0B"/>
                </a:solidFill>
                <a:latin typeface="Inter"/>
                <a:ea typeface="Inter"/>
                <a:cs typeface="Inter"/>
                <a:sym typeface="Inter"/>
              </a:rPr>
              <a:t>🥇 1 </a:t>
            </a:r>
            <a:r>
              <a:rPr b="0" lang="fr-FR" sz="85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Nîmes </a:t>
            </a:r>
            <a:r>
              <a:rPr b="1" lang="fr-FR" sz="85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32.7 °C</a:t>
            </a:r>
            <a:r>
              <a:rPr b="0" lang="fr-FR" sz="8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(0% pluie)</a:t>
            </a:r>
            <a:endParaRPr b="0" sz="850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-FR" sz="850">
                <a:solidFill>
                  <a:srgbClr val="F59E0B"/>
                </a:solidFill>
                <a:latin typeface="Inter"/>
                <a:ea typeface="Inter"/>
                <a:cs typeface="Inter"/>
                <a:sym typeface="Inter"/>
              </a:rPr>
              <a:t>🥈 2 </a:t>
            </a:r>
            <a:r>
              <a:rPr b="0" lang="fr-FR" sz="85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Uzès </a:t>
            </a:r>
            <a:r>
              <a:rPr b="1" lang="fr-FR" sz="85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31.5 °C</a:t>
            </a:r>
            <a:r>
              <a:rPr b="0" lang="fr-FR" sz="8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(0% pluie)</a:t>
            </a:r>
            <a:endParaRPr b="0" sz="850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-FR" sz="850">
                <a:solidFill>
                  <a:srgbClr val="F59E0B"/>
                </a:solidFill>
                <a:latin typeface="Inter"/>
                <a:ea typeface="Inter"/>
                <a:cs typeface="Inter"/>
                <a:sym typeface="Inter"/>
              </a:rPr>
              <a:t>🥉 3 </a:t>
            </a:r>
            <a:r>
              <a:rPr b="0" lang="fr-FR" sz="85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Avignon </a:t>
            </a:r>
            <a:r>
              <a:rPr b="1" lang="fr-FR" sz="85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31.3 °C</a:t>
            </a:r>
            <a:r>
              <a:rPr b="0" lang="fr-FR" sz="8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(0% pluie)</a:t>
            </a:r>
            <a:endParaRPr b="0" sz="850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-FR" sz="8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🏅 4 </a:t>
            </a:r>
            <a:r>
              <a:rPr b="0" lang="fr-FR" sz="85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Carcassonne </a:t>
            </a:r>
            <a:r>
              <a:rPr b="1" lang="fr-FR" sz="85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31.1 °C</a:t>
            </a:r>
            <a:r>
              <a:rPr b="0" lang="fr-FR" sz="8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(0% pluie)</a:t>
            </a:r>
            <a:endParaRPr b="0" sz="850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-FR" sz="8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🏅 5 </a:t>
            </a:r>
            <a:r>
              <a:rPr b="0" lang="fr-FR" sz="85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Aix-en-Provence </a:t>
            </a:r>
            <a:r>
              <a:rPr b="1" lang="fr-FR" sz="85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30.3 °C</a:t>
            </a:r>
            <a:r>
              <a:rPr b="0" lang="fr-FR" sz="8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(0% pluie)</a:t>
            </a:r>
            <a:endParaRPr b="0" sz="850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DBD0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9"/>
          <p:cNvSpPr txBox="1"/>
          <p:nvPr>
            <p:ph idx="4294967295" type="ctrTitle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-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</a:t>
            </a:r>
            <a:r>
              <a:rPr lang="fr-FR" sz="1100"/>
              <a:t> </a:t>
            </a:r>
            <a:r>
              <a:rPr b="0" i="0" lang="fr-FR" sz="5200" u="none" cap="none" strike="noStrik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 questions ?</a:t>
            </a:r>
            <a:endParaRPr b="0" i="0" sz="52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79" name="Google Shape;179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