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ExtraBold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4JYO1fTcROg0S9wx9C8PozJAN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ExtraBold-boldItalic.fntdata"/><Relationship Id="rId21" Type="http://schemas.openxmlformats.org/officeDocument/2006/relationships/font" Target="fonts/InterExtraBold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a56848f2_0_14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8a56848f2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8625"/>
            <a:ext cx="720900" cy="75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"/>
          <p:cNvGrpSpPr/>
          <p:nvPr/>
        </p:nvGrpSpPr>
        <p:grpSpPr>
          <a:xfrm>
            <a:off x="285750" y="1428750"/>
            <a:ext cx="2476500" cy="3381375"/>
            <a:chOff x="285750" y="1428750"/>
            <a:chExt cx="2476500" cy="3381375"/>
          </a:xfrm>
        </p:grpSpPr>
        <p:sp>
          <p:nvSpPr>
            <p:cNvPr id="57" name="Google Shape;57;p1"/>
            <p:cNvSpPr txBox="1"/>
            <p:nvPr/>
          </p:nvSpPr>
          <p:spPr>
            <a:xfrm>
              <a:off x="285750" y="1428750"/>
              <a:ext cx="2476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fr-FR" sz="1000" u="none" cap="none" strike="noStrike">
                  <a:solidFill>
                    <a:srgbClr val="3FDAD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Certification CDSD BLOC 1</a:t>
              </a:r>
              <a:endParaRPr b="0" i="0" sz="100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fr-FR" sz="24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Plan your trip</a:t>
              </a:r>
              <a:br>
                <a:rPr b="0" i="0" lang="fr-FR" sz="24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i="0" lang="fr-FR" sz="24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with Kayak</a:t>
              </a:r>
              <a:endParaRPr b="0" i="0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8" name="Google Shape;58;p1"/>
            <p:cNvSpPr txBox="1"/>
            <p:nvPr/>
          </p:nvSpPr>
          <p:spPr>
            <a:xfrm>
              <a:off x="285750" y="4238625"/>
              <a:ext cx="2476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fr-FR" sz="12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Christopher Gilleron</a:t>
              </a:r>
              <a:endParaRPr b="1" i="0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fr-FR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8 octobre 2026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" name="Google Shape;59;p1"/>
          <p:cNvGrpSpPr/>
          <p:nvPr/>
        </p:nvGrpSpPr>
        <p:grpSpPr>
          <a:xfrm>
            <a:off x="3333750" y="428588"/>
            <a:ext cx="5524500" cy="4286325"/>
            <a:chOff x="3333750" y="381000"/>
            <a:chExt cx="5524500" cy="4286325"/>
          </a:xfrm>
        </p:grpSpPr>
        <p:sp>
          <p:nvSpPr>
            <p:cNvPr id="60" name="Google Shape;60;p1"/>
            <p:cNvSpPr txBox="1"/>
            <p:nvPr/>
          </p:nvSpPr>
          <p:spPr>
            <a:xfrm>
              <a:off x="3333750" y="381000"/>
              <a:ext cx="5524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0"/>
                <a:buFont typeface="Arial"/>
                <a:buNone/>
              </a:pPr>
              <a:r>
                <a:rPr b="0" i="0" lang="fr-FR" sz="187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Construction d'une Infrastructure de Données</a:t>
              </a:r>
              <a:endParaRPr b="0" i="0" sz="187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fr-FR" sz="935" u="none" cap="none" strike="noStrike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Pipeline ETL et Infrastructure de Données pour la Recommandation Touristique</a:t>
              </a:r>
              <a:endParaRPr b="0" i="0" sz="93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3333750" y="1381125"/>
              <a:ext cx="5429400" cy="1000200"/>
            </a:xfrm>
            <a:prstGeom prst="roundRect">
              <a:avLst>
                <a:gd fmla="val 761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 txBox="1"/>
            <p:nvPr/>
          </p:nvSpPr>
          <p:spPr>
            <a:xfrm>
              <a:off x="4095750" y="1476375"/>
              <a:ext cx="4572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fr-FR" sz="1250" u="none" cap="none" strike="noStrike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Problématique métier</a:t>
              </a:r>
              <a:endParaRPr b="0" i="0" sz="1250" u="none" cap="none" strike="noStrike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fr-FR" sz="10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Aider les utilisateurs de Kayak à planifier leur séjour en France en combinant météo en temps réel et offre hôtelière.</a:t>
              </a:r>
              <a:endParaRPr b="0" i="0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3333750" y="2524125"/>
              <a:ext cx="5429400" cy="1000200"/>
            </a:xfrm>
            <a:prstGeom prst="roundRect">
              <a:avLst>
                <a:gd fmla="val 761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 txBox="1"/>
            <p:nvPr/>
          </p:nvSpPr>
          <p:spPr>
            <a:xfrm>
              <a:off x="4095750" y="2619375"/>
              <a:ext cx="4572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fr-FR" sz="1250" u="none" cap="none" strike="noStrike">
                  <a:solidFill>
                    <a:srgbClr val="15803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Périmètre technique</a:t>
              </a:r>
              <a:endParaRPr b="0" i="0" sz="1250" u="none" cap="none" strike="noStrike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fr-FR" sz="10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35 villes géocodées, prévisions météo sur 5 jours, scraping de 100 hôtels qualifiés et stockage Cloud.</a:t>
              </a:r>
              <a:endParaRPr b="0" i="0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3333750" y="3667125"/>
              <a:ext cx="5429400" cy="1000200"/>
            </a:xfrm>
            <a:prstGeom prst="roundRect">
              <a:avLst>
                <a:gd fmla="val 761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 txBox="1"/>
            <p:nvPr/>
          </p:nvSpPr>
          <p:spPr>
            <a:xfrm>
              <a:off x="4095750" y="3762375"/>
              <a:ext cx="4572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fr-FR" sz="1250" u="none" cap="none" strike="noStrike">
                  <a:solidFill>
                    <a:srgbClr val="B91C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Livrable</a:t>
              </a:r>
              <a:endParaRPr b="0" i="0" sz="1250" u="none" cap="none" strike="noStrike">
                <a:solidFill>
                  <a:srgbClr val="B91C1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fr-FR" sz="10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Restitution cartographique interactive et base de données relationnelle interrogeable.</a:t>
              </a:r>
              <a:endParaRPr b="0" i="0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7" name="Google Shape;67;p1"/>
          <p:cNvPicPr preferRelativeResize="0"/>
          <p:nvPr/>
        </p:nvPicPr>
        <p:blipFill rotWithShape="1">
          <a:blip r:embed="rId5">
            <a:alphaModFix/>
          </a:blip>
          <a:srcRect b="60" l="0" r="0" t="70"/>
          <a:stretch/>
        </p:blipFill>
        <p:spPr>
          <a:xfrm>
            <a:off x="285750" y="3000375"/>
            <a:ext cx="2476500" cy="4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/>
          <p:nvPr/>
        </p:nvSpPr>
        <p:spPr>
          <a:xfrm>
            <a:off x="3333750" y="1381125"/>
            <a:ext cx="57300" cy="1000200"/>
          </a:xfrm>
          <a:prstGeom prst="roundRect">
            <a:avLst>
              <a:gd fmla="val 50000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3333750" y="2524125"/>
            <a:ext cx="57300" cy="1000200"/>
          </a:xfrm>
          <a:prstGeom prst="roundRect">
            <a:avLst>
              <a:gd fmla="val 50000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3333750" y="3667125"/>
            <a:ext cx="57300" cy="1000200"/>
          </a:xfrm>
          <a:prstGeom prst="roundRect">
            <a:avLst>
              <a:gd fmla="val 50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-17003" y="0"/>
            <a:ext cx="3048000" cy="51435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 b="0" l="18247" r="18241" t="0"/>
          <a:stretch/>
        </p:blipFill>
        <p:spPr>
          <a:xfrm>
            <a:off x="571500" y="476250"/>
            <a:ext cx="720900" cy="7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381000" y="1714500"/>
            <a:ext cx="2286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fr-FR" sz="935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</a:t>
            </a:r>
            <a:endParaRPr b="0" i="0" sz="935" u="none" cap="none" strike="noStrike">
              <a:solidFill>
                <a:srgbClr val="3FDAD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10"/>
              <a:buFont typeface="Arial"/>
              <a:buNone/>
            </a:pPr>
            <a:r>
              <a:rPr b="0" i="0" lang="fr-FR" sz="221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Environnement &amp; Stack Technique</a:t>
            </a:r>
            <a:endParaRPr b="0" i="0" sz="2210" u="none" cap="none" strike="noStrike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3048000" y="0"/>
            <a:ext cx="6096000" cy="5143500"/>
            <a:chOff x="3048000" y="0"/>
            <a:chExt cx="6096000" cy="5143500"/>
          </a:xfrm>
        </p:grpSpPr>
        <p:sp>
          <p:nvSpPr>
            <p:cNvPr id="79" name="Google Shape;79;p2"/>
            <p:cNvSpPr/>
            <p:nvPr/>
          </p:nvSpPr>
          <p:spPr>
            <a:xfrm>
              <a:off x="3048000" y="0"/>
              <a:ext cx="6096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333750" y="571500"/>
              <a:ext cx="1238400" cy="4000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3333750" y="571500"/>
              <a:ext cx="123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3"/>
                <a:buFont typeface="Arial"/>
                <a:buNone/>
              </a:pPr>
              <a:r>
                <a:rPr b="0" i="0" lang="fr-FR" sz="1153" u="none" cap="none" strike="noStrike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i="0" sz="1153" u="none" cap="none" strike="noStrike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30"/>
                <a:buFont typeface="Arial"/>
                <a:buNone/>
              </a:pPr>
              <a:r>
                <a:rPr b="0" i="0" lang="fr-FR" sz="123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Sources</a:t>
              </a:r>
              <a:endParaRPr b="0" i="0" sz="123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775"/>
                <a:buFont typeface="Arial"/>
                <a:buNone/>
              </a:pPr>
              <a:r>
                <a:rPr b="1" i="0" lang="fr-FR" sz="775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🌐 OpenWeatherMap</a:t>
              </a:r>
              <a:endParaRPr b="1" i="0" sz="775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698"/>
                <a:buFont typeface="Arial"/>
                <a:buNone/>
              </a:pPr>
              <a:r>
                <a:rPr b="0" i="0" lang="fr-FR" sz="698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API météo prévisions à 5 jours.</a:t>
              </a:r>
              <a:endParaRPr b="0" i="0" sz="698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775"/>
                <a:buFont typeface="Arial"/>
                <a:buNone/>
              </a:pPr>
              <a:r>
                <a:rPr b="1" i="0" lang="fr-FR" sz="775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🏨 Booking.com</a:t>
              </a:r>
              <a:endParaRPr b="1" i="0" sz="775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698"/>
                <a:buFont typeface="Arial"/>
                <a:buNone/>
              </a:pPr>
              <a:r>
                <a:rPr b="0" i="0" lang="fr-FR" sz="698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Extraction des offres hôtelières.</a:t>
              </a:r>
              <a:endParaRPr b="0" i="0" sz="698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714875" y="571500"/>
              <a:ext cx="1238400" cy="4000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4714875" y="571500"/>
              <a:ext cx="123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fr-FR" sz="1100" u="none" cap="none" strike="noStrike">
                  <a:solidFill>
                    <a:srgbClr val="15803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i="0" sz="1100" u="none" cap="none" strike="noStrike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fr-FR" sz="12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Collecte &amp; ETL</a:t>
              </a:r>
              <a:endParaRPr b="0" i="0" sz="12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🐍 Pandas &amp; NumPy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Nettoyage, conversion des types, jointures et exports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🎭 Playwright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Scraping dynamique (Chromium).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096000" y="571500"/>
              <a:ext cx="1238400" cy="4000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6096000" y="571500"/>
              <a:ext cx="123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fr-FR" sz="1100" u="none" cap="none" strike="noStrike">
                  <a:solidFill>
                    <a:srgbClr val="B91C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i="0" sz="1100" u="none" cap="none" strike="noStrike">
                <a:solidFill>
                  <a:srgbClr val="B91C1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fr-FR" sz="12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Cloud &amp; DB</a:t>
              </a:r>
              <a:endParaRPr b="0" i="0" sz="12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🪣 AWS S3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Stockage brut (Data Lake CSV).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🐘 NEON DB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PostgreSQL Warehouse structuré.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477125" y="571500"/>
              <a:ext cx="1238400" cy="4000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 txBox="1"/>
            <p:nvPr/>
          </p:nvSpPr>
          <p:spPr>
            <a:xfrm>
              <a:off x="7477125" y="571500"/>
              <a:ext cx="1238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fr-FR" sz="11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i="0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fr-FR" sz="12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Restitution</a:t>
              </a:r>
              <a:endParaRPr b="0" i="0" sz="12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📊 Plotly Express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Visualisation et cartes interactives.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💻 HTML</a:t>
              </a:r>
              <a:endParaRPr b="1" i="0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fr-FR" sz="9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Livrables décisionnels autonomes.</a:t>
              </a:r>
              <a:endParaRPr b="0" i="0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idx="4294967295" type="ctrTitle"/>
          </p:nvPr>
        </p:nvSpPr>
        <p:spPr>
          <a:xfrm>
            <a:off x="1190625" y="400050"/>
            <a:ext cx="7086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Collecte Météo &amp; Sélection du Top-5</a:t>
            </a:r>
            <a:endParaRPr b="0" i="0" sz="21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571500" y="1143000"/>
            <a:ext cx="4191000" cy="236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ACQUISITION &amp; HEURISTIQUE</a:t>
            </a:r>
            <a:endParaRPr b="1" i="0" sz="1050" u="none" cap="none" strike="noStrike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fr-FR"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API de </a:t>
            </a: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Géocodage Nominatim (OpenStreetMap)</a:t>
            </a:r>
            <a:endParaRPr b="1" i="0" sz="11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Conversion des 35 noms de villes en coordonnées (Lat/Lon) avec pause de 1.5s pour respecter le rate-limiting.</a:t>
            </a:r>
            <a:endParaRPr b="0" i="0" sz="10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2. Collecte des </a:t>
            </a:r>
            <a:r>
              <a:rPr b="1" lang="fr-FR"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révisions m</a:t>
            </a:r>
            <a:r>
              <a:rPr b="1" lang="fr-FR" sz="1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étéo sur</a:t>
            </a: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OpenWeatherMap</a:t>
            </a:r>
            <a:endParaRPr b="1" i="0" sz="11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Endpoint 5-day / 3-hour forecast (40 relevés par ville agrégés en moyenne de température et pic de risque de pluie).</a:t>
            </a:r>
            <a:endParaRPr b="0" i="0" sz="10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-FR" sz="11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3. Heuristique de sélection du Top-5</a:t>
            </a:r>
            <a:endParaRPr b="1" i="0" sz="11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Inter"/>
              <a:buChar char="●"/>
            </a:pPr>
            <a:r>
              <a:rPr b="1" i="0" lang="fr-FR" sz="1000" u="none" cap="none" strike="noStrike">
                <a:solidFill>
                  <a:srgbClr val="015955"/>
                </a:solidFill>
                <a:highlight>
                  <a:srgbClr val="E0F2FE"/>
                </a:highlight>
                <a:latin typeface="Courier New"/>
                <a:ea typeface="Courier New"/>
                <a:cs typeface="Courier New"/>
                <a:sym typeface="Courier New"/>
              </a:rPr>
              <a:t>Chaleur maximale</a:t>
            </a: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: tri décroissant sur </a:t>
            </a:r>
            <a:r>
              <a:rPr b="1" i="0" lang="fr-FR" sz="1000" u="none" cap="none" strike="noStrike">
                <a:solidFill>
                  <a:srgbClr val="015955"/>
                </a:solidFill>
                <a:latin typeface="Courier New"/>
                <a:ea typeface="Courier New"/>
                <a:cs typeface="Courier New"/>
                <a:sym typeface="Courier New"/>
              </a:rPr>
              <a:t>avg_temp_c</a:t>
            </a: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Inter"/>
              <a:buChar char="●"/>
            </a:pPr>
            <a:r>
              <a:rPr b="1" i="0" lang="fr-FR" sz="1000" u="none" cap="none" strike="noStrike">
                <a:solidFill>
                  <a:srgbClr val="015955"/>
                </a:solidFill>
                <a:highlight>
                  <a:srgbClr val="E0F2FE"/>
                </a:highlight>
                <a:latin typeface="Courier New"/>
                <a:ea typeface="Courier New"/>
                <a:cs typeface="Courier New"/>
                <a:sym typeface="Courier New"/>
              </a:rPr>
              <a:t>Pluie minimale</a:t>
            </a: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: tri croissant sur </a:t>
            </a:r>
            <a:r>
              <a:rPr b="1" i="0" lang="fr-FR" sz="1000" u="none" cap="none" strike="noStrike">
                <a:solidFill>
                  <a:srgbClr val="015955"/>
                </a:solidFill>
                <a:latin typeface="Courier New"/>
                <a:ea typeface="Courier New"/>
                <a:cs typeface="Courier New"/>
                <a:sym typeface="Courier New"/>
              </a:rPr>
              <a:t>median_pop</a:t>
            </a:r>
            <a:r>
              <a:rPr b="0" i="0" lang="fr-F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(0.0 = zéro risque).</a:t>
            </a:r>
            <a:endParaRPr b="0" i="0" sz="100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5">
            <a:alphaModFix/>
          </a:blip>
          <a:srcRect b="0" l="3934" r="3943" t="0"/>
          <a:stretch/>
        </p:blipFill>
        <p:spPr>
          <a:xfrm>
            <a:off x="4953000" y="1143000"/>
            <a:ext cx="3619500" cy="2076600"/>
          </a:xfrm>
          <a:prstGeom prst="roundRect">
            <a:avLst>
              <a:gd fmla="val 3669" name="adj"/>
            </a:avLst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4953000" y="3381375"/>
            <a:ext cx="3619500" cy="10479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142875" lIns="142875" spcFirstLastPara="1" rIns="142875" wrap="square" tIns="14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🎯 Résultat</a:t>
            </a:r>
            <a:endParaRPr b="0" i="0" sz="1100" u="none" cap="none" strike="noStrike">
              <a:solidFill>
                <a:srgbClr val="0369A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Sélection de 5 destinations idéales en Provence et Occitanie : </a:t>
            </a:r>
            <a:r>
              <a:rPr b="1" i="0" lang="fr-FR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Nîmes, Uzès, Avignon, Carcassonne, Aix en Provence</a:t>
            </a:r>
            <a:r>
              <a:rPr b="0" i="0" lang="fr-FR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048000" y="0"/>
            <a:ext cx="6096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6250"/>
            <a:ext cx="576900" cy="3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3238500" y="476250"/>
            <a:ext cx="1285800" cy="16668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19625" y="476250"/>
            <a:ext cx="1285800" cy="16668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000750" y="476250"/>
            <a:ext cx="1285800" cy="16668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381875" y="476250"/>
            <a:ext cx="1285800" cy="16668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81000" y="1714500"/>
            <a:ext cx="2286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fr-FR" sz="935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Playwright Scraping</a:t>
            </a:r>
            <a:endParaRPr b="0" i="0" sz="935" u="none" cap="none" strike="noStrike">
              <a:solidFill>
                <a:srgbClr val="3FDAD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210"/>
              <a:buFont typeface="Arial"/>
              <a:buNone/>
            </a:pPr>
            <a:r>
              <a:rPr b="0" i="0" lang="fr-FR" sz="221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Scraping Hôtelier Robuste</a:t>
            </a:r>
            <a:endParaRPr b="0" i="0" sz="935" u="none" cap="none" strike="noStrike">
              <a:solidFill>
                <a:srgbClr val="3FDAD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3238500" y="476250"/>
            <a:ext cx="1285800" cy="16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 b="0" i="0" sz="1000" u="none" cap="none" strike="noStrike">
              <a:solidFill>
                <a:srgbClr val="0369A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Objectif</a:t>
            </a:r>
            <a:endParaRPr b="0" i="0" sz="1000" u="none" cap="none" strike="noStrike">
              <a:solidFill>
                <a:srgbClr val="0369A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🎯 Volume</a:t>
            </a:r>
            <a:endParaRPr b="0" i="0" sz="850" u="none" cap="none" strike="noStrike">
              <a:solidFill>
                <a:srgbClr val="0369A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fr-FR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100 hôtels qualifiés (20 hôtels complets × 5 villes).</a:t>
            </a:r>
            <a:endParaRPr b="0" i="0" sz="7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619625" y="476250"/>
            <a:ext cx="1285800" cy="16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15803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 b="0" i="0" sz="1000" u="none" cap="none" strike="noStrike">
              <a:solidFill>
                <a:srgbClr val="15803D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Anti-Bot</a:t>
            </a:r>
            <a:endParaRPr b="0" i="0" sz="1000" u="none" cap="none" strike="noStrike">
              <a:solidFill>
                <a:srgbClr val="15803D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🛡️ Sécurité</a:t>
            </a:r>
            <a:endParaRPr b="0" i="0" sz="850" u="none" cap="none" strike="noStrike">
              <a:solidFill>
                <a:srgbClr val="15803D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fr-FR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Session d'accueil, validation cookies OneTrust et injection de paramètres réels.</a:t>
            </a:r>
            <a:endParaRPr b="0" i="0" sz="7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000750" y="476250"/>
            <a:ext cx="1285800" cy="16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B91C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 b="0" i="0" sz="1000" u="none" cap="none" strike="noStrike">
              <a:solidFill>
                <a:srgbClr val="B91C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Vivier</a:t>
            </a:r>
            <a:endParaRPr b="0" i="0" sz="1000" u="none" cap="none" strike="noStrike">
              <a:solidFill>
                <a:srgbClr val="B91C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⚡ Stratégie</a:t>
            </a:r>
            <a:endParaRPr b="0" i="0" sz="850" u="none" cap="none" strike="noStrike">
              <a:solidFill>
                <a:srgbClr val="B91C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fr-FR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Chargement de 50 candidats puis extraction séquentielle de 20 fiches valides.</a:t>
            </a:r>
            <a:endParaRPr b="0" i="0" sz="7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7381875" y="476250"/>
            <a:ext cx="1285800" cy="16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</a:t>
            </a:r>
            <a:endParaRPr b="0" i="0" sz="100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Double-Onglet</a:t>
            </a:r>
            <a:endParaRPr b="0" i="0" sz="100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🔄 Navigation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fr-FR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 onglet principal pour la liste et un onglet secondaire pour le deep scrape.</a:t>
            </a:r>
            <a:endParaRPr b="0" i="0" sz="7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14490" l="0" r="0" t="14483"/>
          <a:stretch/>
        </p:blipFill>
        <p:spPr>
          <a:xfrm>
            <a:off x="3238500" y="2333625"/>
            <a:ext cx="5429400" cy="2428800"/>
          </a:xfrm>
          <a:prstGeom prst="roundRect">
            <a:avLst>
              <a:gd fmla="val 392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1190625" y="381000"/>
            <a:ext cx="7086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3"/>
              <a:buFont typeface="Arial"/>
              <a:buNone/>
            </a:pPr>
            <a:r>
              <a:rPr b="0" i="0" lang="fr-FR" sz="1943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Cloud : Cycle de Vie &amp; Stockage des Données</a:t>
            </a:r>
            <a:endParaRPr b="0" i="0" sz="1943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1190625" y="914400"/>
            <a:ext cx="7086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fr-FR" sz="9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STOCKAGE CLOUD : DATA LAKE &amp; DATA WAREHOUSE</a:t>
            </a:r>
            <a:endParaRPr b="1" i="0" sz="950" u="none" cap="none" strike="noStrike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5"/>
          <p:cNvGrpSpPr/>
          <p:nvPr/>
        </p:nvGrpSpPr>
        <p:grpSpPr>
          <a:xfrm>
            <a:off x="523875" y="1333500"/>
            <a:ext cx="3905400" cy="3286200"/>
            <a:chOff x="523875" y="1333500"/>
            <a:chExt cx="3905400" cy="3286200"/>
          </a:xfrm>
        </p:grpSpPr>
        <p:sp>
          <p:nvSpPr>
            <p:cNvPr id="125" name="Google Shape;125;p5"/>
            <p:cNvSpPr/>
            <p:nvPr/>
          </p:nvSpPr>
          <p:spPr>
            <a:xfrm>
              <a:off x="523875" y="1333500"/>
              <a:ext cx="3905400" cy="32862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"/>
            <p:cNvSpPr txBox="1"/>
            <p:nvPr/>
          </p:nvSpPr>
          <p:spPr>
            <a:xfrm>
              <a:off x="714375" y="1476375"/>
              <a:ext cx="3524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fr-FR" sz="13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🪣 1. DATA LAKE (Amazon S3)</a:t>
              </a:r>
              <a:endParaRPr b="0" i="0" sz="13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fr-FR" sz="950" u="none" cap="none" strike="noStrike">
                  <a:solidFill>
                    <a:srgbClr val="015955"/>
                  </a:solidFill>
                  <a:latin typeface="Inter"/>
                  <a:ea typeface="Inter"/>
                  <a:cs typeface="Inter"/>
                  <a:sym typeface="Inter"/>
                </a:rPr>
                <a:t>Couche Brute (Raw Zone)</a:t>
              </a:r>
              <a:endParaRPr b="1" i="0" sz="9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Nature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Fichier CSV brut (</a:t>
              </a:r>
              <a:r>
                <a:rPr b="1" i="0" lang="fr-FR" sz="1000" u="none" cap="none" strike="noStrike">
                  <a:solidFill>
                    <a:srgbClr val="015955"/>
                  </a:solidFill>
                  <a:highlight>
                    <a:srgbClr val="E0F2FE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hotels_data.csv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Origine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Données brutes de l'api météo et du scraping Booking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État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Donnée source non modifiée (texte brut)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fr-FR" sz="8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Rôle métier :</a:t>
              </a:r>
              <a:endParaRPr b="1" i="0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15955"/>
                  </a:solidFill>
                  <a:latin typeface="Inter"/>
                  <a:ea typeface="Inter"/>
                  <a:cs typeface="Inter"/>
                  <a:sym typeface="Inter"/>
                </a:rPr>
                <a:t>- Résilience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Sauvegarde historique permanente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15955"/>
                  </a:solidFill>
                  <a:latin typeface="Inter"/>
                  <a:ea typeface="Inter"/>
                  <a:cs typeface="Inter"/>
                  <a:sym typeface="Inter"/>
                </a:rPr>
                <a:t>- Rejouabilité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Permet de corriger un bug ou réexécuter sans re-scraper le web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7" name="Google Shape;127;p5"/>
          <p:cNvGrpSpPr/>
          <p:nvPr/>
        </p:nvGrpSpPr>
        <p:grpSpPr>
          <a:xfrm>
            <a:off x="4714875" y="1333500"/>
            <a:ext cx="3905400" cy="3286200"/>
            <a:chOff x="4714875" y="1333500"/>
            <a:chExt cx="3905400" cy="3286200"/>
          </a:xfrm>
        </p:grpSpPr>
        <p:sp>
          <p:nvSpPr>
            <p:cNvPr id="128" name="Google Shape;128;p5"/>
            <p:cNvSpPr/>
            <p:nvPr/>
          </p:nvSpPr>
          <p:spPr>
            <a:xfrm>
              <a:off x="4714875" y="1333500"/>
              <a:ext cx="3905400" cy="32862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"/>
            <p:cNvSpPr txBox="1"/>
            <p:nvPr/>
          </p:nvSpPr>
          <p:spPr>
            <a:xfrm>
              <a:off x="4905375" y="1476375"/>
              <a:ext cx="3524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fr-FR" sz="13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🐘 2. DATA WAREHOUSE (</a:t>
              </a:r>
              <a:r>
                <a:rPr lang="fr-FR" sz="1300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NEON DB)</a:t>
              </a:r>
              <a:endParaRPr b="0" i="0" sz="13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fr-FR" sz="950" u="none" cap="none" strike="noStrike">
                  <a:solidFill>
                    <a:srgbClr val="015955"/>
                  </a:solidFill>
                  <a:latin typeface="Inter"/>
                  <a:ea typeface="Inter"/>
                  <a:cs typeface="Inter"/>
                  <a:sym typeface="Inter"/>
                </a:rPr>
                <a:t>Couche Structurée (PostgreSQL)</a:t>
              </a:r>
              <a:endParaRPr b="1" i="0" sz="9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Nature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Table SQL </a:t>
              </a:r>
              <a:r>
                <a:rPr b="1" i="0" lang="fr-FR" sz="1000" u="none" cap="none" strike="noStrike">
                  <a:solidFill>
                    <a:srgbClr val="015955"/>
                  </a:solidFill>
                  <a:highlight>
                    <a:srgbClr val="E0F2FE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hotels_data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(100 hôtels × 12 attributs)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Origine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Jointure métrique météo (</a:t>
              </a:r>
              <a:r>
                <a:rPr b="0" i="0" lang="fr-FR" sz="900" u="none" cap="none" strike="noStrike">
                  <a:solidFill>
                    <a:srgbClr val="0E344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temp/pop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) et offres hôtels via UUID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• État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Donnée nettoyée, typée et organisée (schéma relationnel)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fr-FR" sz="8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Rôle métier :</a:t>
              </a:r>
              <a:endParaRPr b="1" i="0" sz="8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fr-FR" sz="1000" u="none" cap="none" strike="noStrike">
                  <a:solidFill>
                    <a:srgbClr val="015955"/>
                  </a:solidFill>
                  <a:latin typeface="Inter"/>
                  <a:ea typeface="Inter"/>
                  <a:cs typeface="Inter"/>
                  <a:sym typeface="Inter"/>
                </a:rPr>
                <a:t>- Analyse décisionnelle :</a:t>
              </a:r>
              <a:r>
                <a:rPr b="0" i="0" lang="fr-FR" sz="100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Requêtes SQL ciblées pour les analystes </a:t>
              </a:r>
              <a:r>
                <a:rPr b="0" i="1" lang="fr-FR" sz="10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(ex: trouver hôtels avec note &gt; 8.5)</a:t>
              </a:r>
              <a:endParaRPr b="0" i="0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idx="4294967295" type="ctrTitle"/>
          </p:nvPr>
        </p:nvSpPr>
        <p:spPr>
          <a:xfrm>
            <a:off x="1190625" y="381000"/>
            <a:ext cx="70866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19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Restitution Cartographique (Plotly)</a:t>
            </a:r>
            <a:endParaRPr b="0" i="0" sz="195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190625" y="781050"/>
            <a:ext cx="70866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fr-FR" sz="9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Visualisation interactive des destinations et des offres</a:t>
            </a:r>
            <a:endParaRPr b="1" i="0" sz="950" u="none" cap="none" strike="noStrike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6"/>
          <p:cNvGrpSpPr/>
          <p:nvPr/>
        </p:nvGrpSpPr>
        <p:grpSpPr>
          <a:xfrm>
            <a:off x="476250" y="1143000"/>
            <a:ext cx="3905400" cy="3143400"/>
            <a:chOff x="476250" y="1143000"/>
            <a:chExt cx="3905400" cy="3143400"/>
          </a:xfrm>
        </p:grpSpPr>
        <p:sp>
          <p:nvSpPr>
            <p:cNvPr id="139" name="Google Shape;139;p6"/>
            <p:cNvSpPr/>
            <p:nvPr/>
          </p:nvSpPr>
          <p:spPr>
            <a:xfrm>
              <a:off x="476250" y="114300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p6"/>
            <p:cNvPicPr preferRelativeResize="0"/>
            <p:nvPr/>
          </p:nvPicPr>
          <p:blipFill rotWithShape="1">
            <a:blip r:embed="rId5">
              <a:alphaModFix/>
            </a:blip>
            <a:srcRect b="3695" l="0" r="0" t="3704"/>
            <a:stretch/>
          </p:blipFill>
          <p:spPr>
            <a:xfrm>
              <a:off x="666750" y="1333500"/>
              <a:ext cx="3524400" cy="1666800"/>
            </a:xfrm>
            <a:prstGeom prst="roundRect">
              <a:avLst>
                <a:gd fmla="val 4571" name="adj"/>
              </a:avLst>
            </a:prstGeom>
            <a:noFill/>
            <a:ln>
              <a:noFill/>
            </a:ln>
          </p:spPr>
        </p:pic>
        <p:sp>
          <p:nvSpPr>
            <p:cNvPr id="141" name="Google Shape;141;p6"/>
            <p:cNvSpPr txBox="1"/>
            <p:nvPr/>
          </p:nvSpPr>
          <p:spPr>
            <a:xfrm>
              <a:off x="666750" y="3095625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fr-FR" sz="11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Carte 1 — Destinations météo</a:t>
              </a:r>
              <a:endParaRPr b="0" i="0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fr-FR" sz="900" u="none" cap="none" strike="noStrike">
                  <a:solidFill>
                    <a:srgbClr val="015955"/>
                  </a:solidFill>
                  <a:highlight>
                    <a:srgbClr val="E0F2FE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top_5_destinations_map.html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fr-FR" sz="9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Top 5 des destinations avec dégradé de chaleur et taille des marqueurs proportionnelle à la température brute observée.</a:t>
              </a:r>
              <a:endParaRPr b="0" i="0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4762500" y="1143000"/>
            <a:ext cx="3905400" cy="3143400"/>
            <a:chOff x="4762500" y="1143000"/>
            <a:chExt cx="3905400" cy="3143400"/>
          </a:xfrm>
        </p:grpSpPr>
        <p:sp>
          <p:nvSpPr>
            <p:cNvPr id="143" name="Google Shape;143;p6"/>
            <p:cNvSpPr/>
            <p:nvPr/>
          </p:nvSpPr>
          <p:spPr>
            <a:xfrm>
              <a:off x="4762500" y="1143000"/>
              <a:ext cx="39054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" name="Google Shape;144;p6"/>
            <p:cNvPicPr preferRelativeResize="0"/>
            <p:nvPr/>
          </p:nvPicPr>
          <p:blipFill rotWithShape="1">
            <a:blip r:embed="rId6">
              <a:alphaModFix/>
            </a:blip>
            <a:srcRect b="0" l="10026" r="10026" t="0"/>
            <a:stretch/>
          </p:blipFill>
          <p:spPr>
            <a:xfrm>
              <a:off x="4953000" y="1333500"/>
              <a:ext cx="3524400" cy="1666800"/>
            </a:xfrm>
            <a:prstGeom prst="roundRect">
              <a:avLst>
                <a:gd fmla="val 4571" name="adj"/>
              </a:avLst>
            </a:prstGeom>
            <a:noFill/>
            <a:ln>
              <a:noFill/>
            </a:ln>
          </p:spPr>
        </p:pic>
        <p:sp>
          <p:nvSpPr>
            <p:cNvPr id="145" name="Google Shape;145;p6"/>
            <p:cNvSpPr txBox="1"/>
            <p:nvPr/>
          </p:nvSpPr>
          <p:spPr>
            <a:xfrm>
              <a:off x="4953000" y="3095625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fr-FR" sz="1100" u="none" cap="none" strike="noStrike">
                  <a:solidFill>
                    <a:srgbClr val="0E344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Carte 2 — Offres hôtelières</a:t>
              </a:r>
              <a:endParaRPr b="0" i="0" sz="110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fr-FR" sz="900" u="none" cap="none" strike="noStrike">
                  <a:solidFill>
                    <a:srgbClr val="015955"/>
                  </a:solidFill>
                  <a:highlight>
                    <a:srgbClr val="E0F2FE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top_20_hotels_map.html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fr-FR" sz="9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Top 20 des meilleurs établissements avec infobulles interactives détaillant le Nom, la Ville, la Note de l'hôtel et le Prix.</a:t>
              </a:r>
              <a:endParaRPr b="0" i="0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6"/>
          <p:cNvGrpSpPr/>
          <p:nvPr/>
        </p:nvGrpSpPr>
        <p:grpSpPr>
          <a:xfrm>
            <a:off x="476250" y="4400550"/>
            <a:ext cx="8191500" cy="381000"/>
            <a:chOff x="476250" y="4400550"/>
            <a:chExt cx="8191500" cy="381000"/>
          </a:xfrm>
        </p:grpSpPr>
        <p:sp>
          <p:nvSpPr>
            <p:cNvPr id="147" name="Google Shape;147;p6"/>
            <p:cNvSpPr/>
            <p:nvPr/>
          </p:nvSpPr>
          <p:spPr>
            <a:xfrm>
              <a:off x="476250" y="4400550"/>
              <a:ext cx="8191500" cy="381000"/>
            </a:xfrm>
            <a:prstGeom prst="roundRect">
              <a:avLst>
                <a:gd fmla="val 20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619125" y="4400550"/>
              <a:ext cx="790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fr-FR" sz="950" u="none" cap="none" strike="noStrike">
                  <a:solidFill>
                    <a:srgbClr val="01595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⚡ Format autonome :</a:t>
              </a:r>
              <a:r>
                <a:rPr b="0" i="0" lang="fr-FR" sz="9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Fichiers HTML autonomes intégrant le moteur de rendu interactif </a:t>
              </a:r>
              <a:r>
                <a:rPr b="1" i="0" lang="fr-FR" sz="950" u="none" cap="none" strike="noStrike">
                  <a:solidFill>
                    <a:srgbClr val="0E344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Plotly.js</a:t>
              </a:r>
              <a:r>
                <a:rPr b="0" i="0" lang="fr-FR" sz="950" u="none" cap="none" strike="noStrike">
                  <a:solidFill>
                    <a:srgbClr val="0E3449"/>
                  </a:solidFill>
                  <a:latin typeface="Inter"/>
                  <a:ea typeface="Inter"/>
                  <a:cs typeface="Inter"/>
                  <a:sym typeface="Inter"/>
                </a:rPr>
                <a:t> sans aucune dépendance serveur.</a:t>
              </a:r>
              <a:endParaRPr b="0" i="0" sz="95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a56848f2_0_1439"/>
          <p:cNvSpPr txBox="1"/>
          <p:nvPr>
            <p:ph idx="4294967295" type="ctrTitle"/>
          </p:nvPr>
        </p:nvSpPr>
        <p:spPr>
          <a:xfrm>
            <a:off x="1190625" y="381000"/>
            <a:ext cx="70866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0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Classement &amp; Axes d'Amélioration</a:t>
            </a:r>
            <a:endParaRPr b="0" i="0" sz="20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95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4" name="Google Shape;154;g3f8a56848f2_0_1439"/>
          <p:cNvSpPr txBox="1"/>
          <p:nvPr/>
        </p:nvSpPr>
        <p:spPr>
          <a:xfrm>
            <a:off x="1190625" y="781050"/>
            <a:ext cx="70866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1" i="0" sz="950" u="none" cap="none" strike="noStrike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g3f8a56848f2_0_14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8a56848f2_0_143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8a56848f2_0_1439"/>
          <p:cNvSpPr/>
          <p:nvPr/>
        </p:nvSpPr>
        <p:spPr>
          <a:xfrm>
            <a:off x="476250" y="1095375"/>
            <a:ext cx="3905400" cy="200010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8a56848f2_0_1439"/>
          <p:cNvSpPr txBox="1"/>
          <p:nvPr/>
        </p:nvSpPr>
        <p:spPr>
          <a:xfrm>
            <a:off x="666750" y="119062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fr-FR" sz="11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🏆 Top 5 Destinations</a:t>
            </a:r>
            <a:endParaRPr b="0" i="0" sz="11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9" name="Google Shape;159;g3f8a56848f2_0_1439"/>
          <p:cNvSpPr/>
          <p:nvPr/>
        </p:nvSpPr>
        <p:spPr>
          <a:xfrm>
            <a:off x="4762500" y="1095375"/>
            <a:ext cx="3905400" cy="2000100"/>
          </a:xfrm>
          <a:prstGeom prst="roundRect">
            <a:avLst>
              <a:gd fmla="val 4761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8a56848f2_0_1439"/>
          <p:cNvSpPr txBox="1"/>
          <p:nvPr/>
        </p:nvSpPr>
        <p:spPr>
          <a:xfrm>
            <a:off x="4953000" y="119062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fr-FR" sz="11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🏨 Top 5 Hôtels Les Plus Populaires</a:t>
            </a:r>
            <a:endParaRPr b="0" i="0" sz="11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1" name="Google Shape;161;g3f8a56848f2_0_1439"/>
          <p:cNvSpPr txBox="1"/>
          <p:nvPr/>
        </p:nvSpPr>
        <p:spPr>
          <a:xfrm>
            <a:off x="4953000" y="1524000"/>
            <a:ext cx="35244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fr-FR" sz="8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R.Nom de l'Hôtel (Ville)NotePrix (2n)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🌟 1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Mas de Meze 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(Uzès)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  <a:r>
              <a:rPr b="1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655 €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🌟 2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 le quai 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(Carcassonne)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  <a:r>
              <a:rPr b="1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304 €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🌟 3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Mas des Alexandrins 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(Uzès)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9.7</a:t>
            </a:r>
            <a:r>
              <a:rPr b="1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418 €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🌟 4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Villa Montplaisir 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(Avignon)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9.7</a:t>
            </a:r>
            <a:r>
              <a:rPr b="1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395 €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🌟 5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SalutBB Chambre d'hôte 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(Carc.)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9.7</a:t>
            </a:r>
            <a:r>
              <a:rPr b="1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305 €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g3f8a56848f2_0_1439"/>
          <p:cNvSpPr/>
          <p:nvPr/>
        </p:nvSpPr>
        <p:spPr>
          <a:xfrm>
            <a:off x="476250" y="3219450"/>
            <a:ext cx="8191500" cy="266700"/>
          </a:xfrm>
          <a:prstGeom prst="roundRect">
            <a:avLst>
              <a:gd fmla="val 21428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8a56848f2_0_1439"/>
          <p:cNvSpPr txBox="1"/>
          <p:nvPr/>
        </p:nvSpPr>
        <p:spPr>
          <a:xfrm>
            <a:off x="619125" y="3219450"/>
            <a:ext cx="790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01595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⚙️ Bilan Technique &amp; Passage à l'Échelle</a:t>
            </a:r>
            <a:endParaRPr b="0" i="0" sz="1000" u="none" cap="none" strike="noStrike">
              <a:solidFill>
                <a:srgbClr val="01595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4" name="Google Shape;164;g3f8a56848f2_0_1439"/>
          <p:cNvSpPr/>
          <p:nvPr/>
        </p:nvSpPr>
        <p:spPr>
          <a:xfrm>
            <a:off x="476250" y="3600450"/>
            <a:ext cx="2600400" cy="11430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8a56848f2_0_1439"/>
          <p:cNvSpPr txBox="1"/>
          <p:nvPr/>
        </p:nvSpPr>
        <p:spPr>
          <a:xfrm>
            <a:off x="619125" y="3695700"/>
            <a:ext cx="2314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fr-FR" sz="9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🛠️ Modélisation de base</a:t>
            </a:r>
            <a:endParaRPr b="0" i="0" sz="9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Évoluer vers une forme normale 3NF (séparer la table </a:t>
            </a:r>
            <a:r>
              <a:rPr b="0" i="0" lang="fr-FR" sz="85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cities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b="0" i="0" lang="fr-FR" sz="85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hotels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pour éliminer toute redondance.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g3f8a56848f2_0_1439"/>
          <p:cNvSpPr/>
          <p:nvPr/>
        </p:nvSpPr>
        <p:spPr>
          <a:xfrm>
            <a:off x="3267075" y="3600450"/>
            <a:ext cx="2610000" cy="11430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8a56848f2_0_1439"/>
          <p:cNvSpPr txBox="1"/>
          <p:nvPr/>
        </p:nvSpPr>
        <p:spPr>
          <a:xfrm>
            <a:off x="3409950" y="3695700"/>
            <a:ext cx="232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fr-FR" sz="9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⚙️ Orchestration</a:t>
            </a:r>
            <a:endParaRPr b="0" i="0" sz="9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Industrialiser le pipeline ETL avec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Apache Airflow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un DAG planifié chaque matin pour actualiser météo et disponibilités.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g3f8a56848f2_0_1439"/>
          <p:cNvSpPr/>
          <p:nvPr/>
        </p:nvSpPr>
        <p:spPr>
          <a:xfrm>
            <a:off x="6067425" y="3600450"/>
            <a:ext cx="2600400" cy="11430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8a56848f2_0_1439"/>
          <p:cNvSpPr txBox="1"/>
          <p:nvPr/>
        </p:nvSpPr>
        <p:spPr>
          <a:xfrm>
            <a:off x="6210300" y="3695700"/>
            <a:ext cx="2314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fr-FR" sz="9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🚀 Optimisation Big Data </a:t>
            </a:r>
            <a:endParaRPr b="0" i="0" sz="9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Stockage colonnaire compressé au format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Parquet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sur S3 </a:t>
            </a:r>
            <a:r>
              <a:rPr lang="fr-FR"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et requêtage serverless via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AWS Athena</a:t>
            </a:r>
            <a:r>
              <a:rPr b="0" i="0" lang="fr-FR" sz="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à moindre coût</a:t>
            </a:r>
            <a:endParaRPr b="0" i="0" sz="85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g3f8a56848f2_0_1439"/>
          <p:cNvSpPr txBox="1"/>
          <p:nvPr/>
        </p:nvSpPr>
        <p:spPr>
          <a:xfrm>
            <a:off x="666750" y="1524000"/>
            <a:ext cx="3524400" cy="14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fr-FR" sz="850" u="none" cap="none" strike="noStrike">
                <a:solidFill>
                  <a:srgbClr val="0E344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R. Ville (Temp. Moy /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🥇 1 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Nîmes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32.7 °C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(0%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🥈 2 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Uzès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31.5 °C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(0%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🥉 3 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Avignon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31.3 °C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(0%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🏅 4 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Carcassonne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31.1 °C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(0%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🏅 5 </a:t>
            </a:r>
            <a:r>
              <a:rPr b="0" i="0" lang="fr-FR" sz="85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Aix-en-Provence </a:t>
            </a:r>
            <a:r>
              <a:rPr b="1" i="0" lang="fr-FR" sz="850" u="none" cap="none" strike="noStrike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30.3 °C</a:t>
            </a:r>
            <a:r>
              <a:rPr b="0" i="0" lang="fr-FR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(0% pluie)</a:t>
            </a:r>
            <a:endParaRPr b="0" i="0" sz="850" u="none" cap="none" strike="noStrike">
              <a:solidFill>
                <a:srgbClr val="0E3449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fr-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