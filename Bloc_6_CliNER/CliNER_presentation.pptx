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5" roundtripDataSignature="AMtx7mid+clDDkNrFtibLV6SL/Qfin8ck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6A1C287-B342-465F-B4A4-0F307ADDF34E}">
  <a:tblStyle styleId="{56A1C287-B342-465F-B4A4-0F307ADDF34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customschemas.google.com/relationships/presentationmetadata" Target="metadata"/><Relationship Id="rId14" Type="http://schemas.openxmlformats.org/officeDocument/2006/relationships/slide" Target="slides/slide8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60f625aac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g3f60f625aac_2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f5ebb8600e_2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g3f5ebb8600e_2_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linical-protocols-standardization.onrender.com" TargetMode="External"/><Relationship Id="rId4" Type="http://schemas.openxmlformats.org/officeDocument/2006/relationships/hyperlink" Target="https://clinical-protocols-standardization.onrender.com" TargetMode="External"/><Relationship Id="rId5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drive.google.com/file/d/17VvWFkSVFY9oTJwOOuX9ZSb_iLslAbaQ/view" TargetMode="External"/><Relationship Id="rId4" Type="http://schemas.openxmlformats.org/officeDocument/2006/relationships/image" Target="../media/image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/>
          <p:cNvPicPr preferRelativeResize="0"/>
          <p:nvPr/>
        </p:nvPicPr>
        <p:blipFill rotWithShape="1">
          <a:blip r:embed="rId3">
            <a:alphaModFix/>
          </a:blip>
          <a:srcRect b="20" l="0" r="0" t="20"/>
          <a:stretch/>
        </p:blipFill>
        <p:spPr>
          <a:xfrm>
            <a:off x="5759300" y="1883000"/>
            <a:ext cx="5143500" cy="2914800"/>
          </a:xfrm>
          <a:prstGeom prst="roundRect">
            <a:avLst>
              <a:gd fmla="val 5228" name="adj"/>
            </a:avLst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762000" y="1524000"/>
            <a:ext cx="4953000" cy="369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D2FF"/>
                </a:solidFill>
              </a:rPr>
              <a:t>DEMO DAY • 03 AOÛT 2026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AIFS01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</a:pPr>
            <a:r>
              <a:rPr b="1" lang="en-US" sz="34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CliNER : extraction d’entitées médicales à partir de protocoles cliniques</a:t>
            </a:r>
            <a:endParaRPr b="1" sz="34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Présenté par :</a:t>
            </a:r>
            <a:endParaRPr b="1" sz="1200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Patrick Mouliom • Christopher Gilleron • Jérémie Becker</a:t>
            </a:r>
            <a:br>
              <a:rPr b="0" lang="en-US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lang="en-US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Arnaud Hoarau • Karim Atebata</a:t>
            </a:r>
            <a:endParaRPr b="0">
              <a:solidFill>
                <a:srgbClr val="CBD5E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15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/>
          <p:nvPr/>
        </p:nvSpPr>
        <p:spPr>
          <a:xfrm>
            <a:off x="731520" y="1714500"/>
            <a:ext cx="4572000" cy="438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Le Chaos Médical</a:t>
            </a:r>
            <a:endParaRPr b="1" sz="26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But : comparer des essais cliniques</a:t>
            </a:r>
            <a:b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Challenge : </a:t>
            </a:r>
            <a: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La source officielle (ClinicalTrials)  = JSON, hétérogènes, incompl</a:t>
            </a:r>
            <a: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ets</a:t>
            </a:r>
            <a:endParaRPr sz="18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⇒L'information cruciale est cachée dans des PDF de 100 voir 200 pages</a:t>
            </a:r>
            <a:endParaRPr sz="18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⇒ impossible de </a:t>
            </a:r>
            <a: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vérifier si 2 essais cliniques sur un même médicament ont été réalisés dans des conditions comparables</a:t>
            </a:r>
            <a:endParaRPr sz="18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2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1. Le Problème &amp; Le MVP</a:t>
            </a:r>
            <a:endParaRPr/>
          </a:p>
        </p:txBody>
      </p:sp>
      <p:sp>
        <p:nvSpPr>
          <p:cNvPr id="92" name="Google Shape;92;p2"/>
          <p:cNvSpPr txBox="1"/>
          <p:nvPr/>
        </p:nvSpPr>
        <p:spPr>
          <a:xfrm>
            <a:off x="5227675" y="1633275"/>
            <a:ext cx="6400200" cy="438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Notre Solution (MVP)</a:t>
            </a:r>
            <a:endParaRPr b="1" sz="26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Named Entities R</a:t>
            </a: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ecognition </a:t>
            </a: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(Qwen Fine-Tuné)</a:t>
            </a: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17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extraction d’informations médicales standardisées + filtres</a:t>
            </a:r>
            <a:endParaRPr b="1" sz="17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Recherche Augmentée (RAG Biobert) :</a:t>
            </a:r>
            <a:r>
              <a:rPr lang="en-US" sz="17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 Interrogation instantanée des protocoles cliniques en langage naturel.</a:t>
            </a:r>
            <a:endParaRPr sz="17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Gold standard : </a:t>
            </a:r>
            <a:r>
              <a:rPr lang="en-US" sz="17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Chia, 1000 études cliniques annotées, 144 avec protocoles pdf, divisés en train (fine tuning) et test sets</a:t>
            </a:r>
            <a:endParaRPr sz="17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Benchmark NER :</a:t>
            </a:r>
            <a:r>
              <a:rPr lang="en-US" sz="17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 Biobert + Qwen fine-tuné </a:t>
            </a: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VS</a:t>
            </a:r>
            <a:r>
              <a:rPr lang="en-US" sz="17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 TF-IDF + segmentation Qwen + récupération entitées candidates (SBert)</a:t>
            </a:r>
            <a:endParaRPr sz="17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" name="Google Shape;93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5425" y="5414724"/>
            <a:ext cx="4978649" cy="113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500">
        <p:fade thruBlk="1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Google Shape;98;p3"/>
          <p:cNvGrpSpPr/>
          <p:nvPr/>
        </p:nvGrpSpPr>
        <p:grpSpPr>
          <a:xfrm>
            <a:off x="762000" y="1524000"/>
            <a:ext cx="4762500" cy="1905150"/>
            <a:chOff x="762000" y="1524000"/>
            <a:chExt cx="4762500" cy="1905150"/>
          </a:xfrm>
        </p:grpSpPr>
        <p:sp>
          <p:nvSpPr>
            <p:cNvPr id="99" name="Google Shape;99;p3"/>
            <p:cNvSpPr txBox="1"/>
            <p:nvPr/>
          </p:nvSpPr>
          <p:spPr>
            <a:xfrm>
              <a:off x="762000" y="1524000"/>
              <a:ext cx="4762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00">
                  <a:solidFill>
                    <a:srgbClr val="00D2FF"/>
                  </a:solidFill>
                  <a:latin typeface="Calibri"/>
                  <a:ea typeface="Calibri"/>
                  <a:cs typeface="Calibri"/>
                  <a:sym typeface="Calibri"/>
                </a:rPr>
                <a:t>DÉMO EN DIRECT</a:t>
              </a:r>
              <a:endParaRPr b="1" sz="40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3"/>
            <p:cNvSpPr txBox="1"/>
            <p:nvPr/>
          </p:nvSpPr>
          <p:spPr>
            <a:xfrm>
              <a:off x="762000" y="2381250"/>
              <a:ext cx="47625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1F5F9"/>
                  </a:solidFill>
                  <a:latin typeface="Calibri"/>
                  <a:ea typeface="Calibri"/>
                  <a:cs typeface="Calibri"/>
                  <a:sym typeface="Calibri"/>
                </a:rPr>
                <a:t>Découvrez le moteur CliNER en action</a:t>
              </a:r>
              <a:endParaRPr b="1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Explorez l'interface interactive pour l'extraction d'entités cliniques (NER) et l'analyse de protocoles en temps réel.</a:t>
              </a:r>
              <a:endParaRPr b="0" sz="14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1" name="Google Shape;101;p3"/>
          <p:cNvGrpSpPr/>
          <p:nvPr/>
        </p:nvGrpSpPr>
        <p:grpSpPr>
          <a:xfrm>
            <a:off x="1428750" y="3714750"/>
            <a:ext cx="3429000" cy="571500"/>
            <a:chOff x="1428750" y="3714750"/>
            <a:chExt cx="3429000" cy="571500"/>
          </a:xfrm>
        </p:grpSpPr>
        <p:sp>
          <p:nvSpPr>
            <p:cNvPr id="102" name="Google Shape;102;p3"/>
            <p:cNvSpPr/>
            <p:nvPr/>
          </p:nvSpPr>
          <p:spPr>
            <a:xfrm>
              <a:off x="1428750" y="3714750"/>
              <a:ext cx="3429000" cy="571500"/>
            </a:xfrm>
            <a:prstGeom prst="roundRect">
              <a:avLst>
                <a:gd fmla="val 50000" name="adj"/>
              </a:avLst>
            </a:prstGeom>
            <a:solidFill>
              <a:srgbClr val="00D2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3"/>
            <p:cNvSpPr txBox="1"/>
            <p:nvPr/>
          </p:nvSpPr>
          <p:spPr>
            <a:xfrm>
              <a:off x="1428750" y="3714750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00B18"/>
                  </a:solidFill>
                  <a:uFill>
                    <a:noFill/>
                  </a:uFill>
                  <a:latin typeface="Material Icons"/>
                  <a:ea typeface="Material Icons"/>
                  <a:cs typeface="Material Icons"/>
                  <a:sym typeface="Material Icons"/>
                  <a:hlinkClick r:id="rId3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rocket_launch</a:t>
              </a:r>
              <a:r>
                <a:rPr b="1" lang="en-US" sz="1600">
                  <a:solidFill>
                    <a:srgbClr val="000B18"/>
                  </a:solidFill>
                  <a:uFill>
                    <a:noFill/>
                  </a:uFill>
                  <a:latin typeface="Calibri"/>
                  <a:ea typeface="Calibri"/>
                  <a:cs typeface="Calibri"/>
                  <a:sym typeface="Calibri"/>
                  <a:hlinkClick r:id="rId4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 Lancer l'Application Streamlit</a:t>
              </a:r>
              <a:endParaRPr b="1" sz="160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4" name="Google Shape;104;p3"/>
          <p:cNvGrpSpPr/>
          <p:nvPr/>
        </p:nvGrpSpPr>
        <p:grpSpPr>
          <a:xfrm>
            <a:off x="5626582" y="1705951"/>
            <a:ext cx="5135392" cy="2849088"/>
            <a:chOff x="5981700" y="1409700"/>
            <a:chExt cx="5562600" cy="3086100"/>
          </a:xfrm>
        </p:grpSpPr>
        <p:sp>
          <p:nvSpPr>
            <p:cNvPr id="105" name="Google Shape;105;p3"/>
            <p:cNvSpPr/>
            <p:nvPr/>
          </p:nvSpPr>
          <p:spPr>
            <a:xfrm>
              <a:off x="5981700" y="1409700"/>
              <a:ext cx="5562600" cy="3086100"/>
            </a:xfrm>
            <a:prstGeom prst="roundRect">
              <a:avLst>
                <a:gd fmla="val 4938" name="adj"/>
              </a:avLst>
            </a:prstGeom>
            <a:solidFill>
              <a:srgbClr val="00152F"/>
            </a:solidFill>
            <a:ln cap="flat" cmpd="sng" w="17575">
              <a:solidFill>
                <a:srgbClr val="00D2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06" name="Google Shape;106;p3"/>
            <p:cNvPicPr preferRelativeResize="0"/>
            <p:nvPr/>
          </p:nvPicPr>
          <p:blipFill rotWithShape="1">
            <a:blip r:embed="rId5">
              <a:alphaModFix/>
            </a:blip>
            <a:srcRect b="0" l="10951" r="10943" t="0"/>
            <a:stretch/>
          </p:blipFill>
          <p:spPr>
            <a:xfrm>
              <a:off x="6096000" y="1524000"/>
              <a:ext cx="5334000" cy="2857500"/>
            </a:xfrm>
            <a:prstGeom prst="roundRect">
              <a:avLst>
                <a:gd fmla="val 4000" name="adj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>
    <mc:Choice Requires="p14">
      <p:transition spd="slow" p14:dur="1500">
        <p:push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f60f625aac_2_0"/>
          <p:cNvSpPr txBox="1"/>
          <p:nvPr/>
        </p:nvSpPr>
        <p:spPr>
          <a:xfrm>
            <a:off x="2921550" y="111025"/>
            <a:ext cx="61581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200">
                <a:solidFill>
                  <a:srgbClr val="00D2FF"/>
                </a:solidFill>
              </a:rPr>
              <a:t>VIDEO DE PRESENTATION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12" name="Google Shape;112;g3f60f625aac_2_0" title="CliNER — Clinical NER - Google Chrome 2026-07-31 14-53-48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99274" y="573162"/>
            <a:ext cx="10193124" cy="571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500">
        <p14:gallery dir="l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Architecture et Circuit de la </a:t>
            </a:r>
            <a:r>
              <a:rPr b="1" lang="en-US" sz="32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donnée</a:t>
            </a:r>
            <a:r>
              <a:rPr b="1" lang="en-US" sz="32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</p:txBody>
      </p:sp>
      <p:pic>
        <p:nvPicPr>
          <p:cNvPr id="118" name="Google Shape;118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69000" y="950760"/>
            <a:ext cx="7503267" cy="5602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500">
        <p14:prism dir="l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"/>
          <p:cNvSpPr txBox="1"/>
          <p:nvPr/>
        </p:nvSpPr>
        <p:spPr>
          <a:xfrm>
            <a:off x="1245078" y="317385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457200" lvl="0" marL="2743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BENCHMARK</a:t>
            </a:r>
            <a:endParaRPr/>
          </a:p>
        </p:txBody>
      </p:sp>
      <p:graphicFrame>
        <p:nvGraphicFramePr>
          <p:cNvPr id="124" name="Google Shape;124;p8"/>
          <p:cNvGraphicFramePr/>
          <p:nvPr/>
        </p:nvGraphicFramePr>
        <p:xfrm>
          <a:off x="3534715" y="1809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{56A1C287-B342-465F-B4A4-0F307ADDF34E}</a:tableStyleId>
              </a:tblPr>
              <a:tblGrid>
                <a:gridCol w="2404250"/>
                <a:gridCol w="1361350"/>
                <a:gridCol w="1278000"/>
                <a:gridCol w="11057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MODELS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précision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recall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F1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664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dictionary</a:t>
                      </a:r>
                      <a:r>
                        <a:rPr lang="en-US">
                          <a:solidFill>
                            <a:schemeClr val="lt1"/>
                          </a:solidFill>
                        </a:rPr>
                        <a:t> floor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0.27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0.36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0.31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Qwen8B 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0.44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0.52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0.48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Qwen7B fine tuned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0.63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0.54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0.58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25" name="Google Shape;125;p8"/>
          <p:cNvSpPr txBox="1"/>
          <p:nvPr/>
        </p:nvSpPr>
        <p:spPr>
          <a:xfrm>
            <a:off x="2018025" y="1041525"/>
            <a:ext cx="9660000" cy="13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13716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NER only : inclusion/exclusion criteria txt ➔ entities (Évaluation Sémantique d'isolation  Validation stricte sur structure JSON)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6" name="Google Shape;126;p8"/>
          <p:cNvGraphicFramePr/>
          <p:nvPr/>
        </p:nvGraphicFramePr>
        <p:xfrm>
          <a:off x="3600190" y="43012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{56A1C287-B342-465F-B4A4-0F307ADDF34E}</a:tableStyleId>
              </a:tblPr>
              <a:tblGrid>
                <a:gridCol w="2914675"/>
                <a:gridCol w="1449250"/>
                <a:gridCol w="16544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MODELS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F1 (exact)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F1 (span overlap)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664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TF-IDF+Qwen8B+SBert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0.31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0.40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BioBERT + </a:t>
                      </a:r>
                      <a:r>
                        <a:rPr lang="en-US">
                          <a:solidFill>
                            <a:schemeClr val="lt1"/>
                          </a:solidFill>
                        </a:rPr>
                        <a:t>Qwen7B fine tuned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0.07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</a:rPr>
                        <a:t>N/A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27" name="Google Shape;127;p8"/>
          <p:cNvSpPr txBox="1"/>
          <p:nvPr/>
        </p:nvSpPr>
        <p:spPr>
          <a:xfrm>
            <a:off x="3044024" y="3580625"/>
            <a:ext cx="7608000" cy="13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Extraction + NER : PDF ➔ entities (Évaluation End-to-End - Alignement syntaxique millimétré)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8"/>
          <p:cNvSpPr txBox="1"/>
          <p:nvPr/>
        </p:nvSpPr>
        <p:spPr>
          <a:xfrm>
            <a:off x="2090875" y="5749725"/>
            <a:ext cx="9400500" cy="4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457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lt1"/>
                </a:solidFill>
              </a:rPr>
              <a:t>N/A : </a:t>
            </a:r>
            <a:r>
              <a:rPr i="1" lang="en-US" sz="1300">
                <a:solidFill>
                  <a:srgbClr val="CCCCCC"/>
                </a:solidFill>
                <a:highlight>
                  <a:srgbClr val="181818"/>
                </a:highlight>
              </a:rPr>
              <a:t> L'outil d'évaluation qu'on a utilisé n'a calculé que l'Exact Matching, le score le plus punitif.</a:t>
            </a:r>
            <a:r>
              <a:rPr lang="en-US">
                <a:solidFill>
                  <a:schemeClr val="dk1"/>
                </a:solidFill>
              </a:rPr>
              <a:t> 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9" name="Google Shape;129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5900" y="2396025"/>
            <a:ext cx="2143125" cy="2543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500">
        <p14:flip dir="l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 Perspectives &amp; Évolutions</a:t>
            </a:r>
            <a:endParaRPr/>
          </a:p>
        </p:txBody>
      </p:sp>
      <p:sp>
        <p:nvSpPr>
          <p:cNvPr id="135" name="Google Shape;135;p10"/>
          <p:cNvSpPr/>
          <p:nvPr/>
        </p:nvSpPr>
        <p:spPr>
          <a:xfrm>
            <a:off x="762000" y="1524000"/>
            <a:ext cx="5048400" cy="4381500"/>
          </a:xfrm>
          <a:prstGeom prst="roundRect">
            <a:avLst>
              <a:gd fmla="val 1739" name="adj"/>
            </a:avLst>
          </a:prstGeom>
          <a:solidFill>
            <a:srgbClr val="03152B"/>
          </a:solidFill>
          <a:ln cap="flat" cmpd="sng" w="14300">
            <a:solidFill>
              <a:srgbClr val="00D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0"/>
          <p:cNvSpPr txBox="1"/>
          <p:nvPr/>
        </p:nvSpPr>
        <p:spPr>
          <a:xfrm>
            <a:off x="1047750" y="1809750"/>
            <a:ext cx="4476900" cy="38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1. Intégration en Laboratoire</a:t>
            </a:r>
            <a:endParaRPr b="1" sz="28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Connexion Directe &amp; Automatisation</a:t>
            </a:r>
            <a:endParaRPr b="1" sz="22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875"/>
              </a:spcBef>
              <a:spcAft>
                <a:spcPts val="0"/>
              </a:spcAft>
              <a:buNone/>
            </a:pPr>
            <a:r>
              <a:rPr b="0" lang="en-US" sz="205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Déploiement de l'outil chez le praticien pour se connecter directement à sa base de données locale (un </a:t>
            </a:r>
            <a:r>
              <a:rPr b="1" lang="en-US" sz="205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Gold Standard</a:t>
            </a:r>
            <a:r>
              <a:rPr b="0" lang="en-US" sz="205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 interne composé de PDF de patients ou de protocoles).</a:t>
            </a:r>
            <a:endParaRPr b="0" sz="205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125"/>
              </a:spcBef>
              <a:spcAft>
                <a:spcPts val="0"/>
              </a:spcAft>
              <a:buNone/>
            </a:pPr>
            <a:r>
              <a:rPr b="0" lang="en-US" sz="205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Notre pipeline </a:t>
            </a:r>
            <a:r>
              <a:rPr b="1" lang="en-US" sz="205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NER</a:t>
            </a:r>
            <a:r>
              <a:rPr b="0" lang="en-US" sz="205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 automatisera l'extraction de ces données internes pour un traitement fluide et sécurisé.</a:t>
            </a:r>
            <a:endParaRPr b="0" sz="205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0"/>
          <p:cNvSpPr/>
          <p:nvPr/>
        </p:nvSpPr>
        <p:spPr>
          <a:xfrm>
            <a:off x="6188125" y="1524000"/>
            <a:ext cx="5048400" cy="4381500"/>
          </a:xfrm>
          <a:prstGeom prst="roundRect">
            <a:avLst>
              <a:gd fmla="val 1739" name="adj"/>
            </a:avLst>
          </a:prstGeom>
          <a:solidFill>
            <a:srgbClr val="03152B"/>
          </a:solidFill>
          <a:ln cap="flat" cmpd="sng" w="14300">
            <a:solidFill>
              <a:srgbClr val="00D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0"/>
          <p:cNvSpPr txBox="1"/>
          <p:nvPr/>
        </p:nvSpPr>
        <p:spPr>
          <a:xfrm>
            <a:off x="6473875" y="1630050"/>
            <a:ext cx="4476900" cy="39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1" lang="en-US" sz="25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2. Améliorations Techniques</a:t>
            </a:r>
            <a:endParaRPr b="1" sz="25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• Benchmark avec l’état de l’art </a:t>
            </a:r>
            <a:r>
              <a:rPr lang="en-US" sz="17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: quel est le standard actuel, peut-on faire mieux ?</a:t>
            </a:r>
            <a:endParaRPr sz="17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• Trade-off</a:t>
            </a:r>
            <a:r>
              <a:rPr lang="en-US" sz="17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 performance vs taille modèles à trouver</a:t>
            </a:r>
            <a:endParaRPr sz="17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• Auto-suppression Supabase :</a:t>
            </a:r>
            <a:r>
              <a:rPr lang="en-US" sz="17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 CRON/TTL pour purger les PDF temporaires et optimiser les coûts.</a:t>
            </a:r>
            <a:endParaRPr sz="17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• Scalabilité &amp; SLM :</a:t>
            </a:r>
            <a:r>
              <a:rPr b="0" lang="en-US" sz="17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7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Déploiement local sur les serveurs internes des hôpitaux/labos. Cela garantit la protection du secret industriel pour les protocoles non publiés, et assure que les données patients ne sortent jamais sur Internet</a:t>
            </a:r>
            <a:endParaRPr sz="17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15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g3f5ebb8600e_2_92"/>
          <p:cNvPicPr preferRelativeResize="0"/>
          <p:nvPr/>
        </p:nvPicPr>
        <p:blipFill rotWithShape="1">
          <a:blip r:embed="rId3">
            <a:alphaModFix/>
          </a:blip>
          <a:srcRect b="20" l="0" r="0" t="20"/>
          <a:stretch/>
        </p:blipFill>
        <p:spPr>
          <a:xfrm>
            <a:off x="3648701" y="1115488"/>
            <a:ext cx="4944900" cy="2802000"/>
          </a:xfrm>
          <a:prstGeom prst="roundRect">
            <a:avLst>
              <a:gd fmla="val 5228" name="adj"/>
            </a:avLst>
          </a:prstGeom>
          <a:noFill/>
          <a:ln>
            <a:noFill/>
          </a:ln>
        </p:spPr>
      </p:pic>
      <p:sp>
        <p:nvSpPr>
          <p:cNvPr id="144" name="Google Shape;144;g3f5ebb8600e_2_92"/>
          <p:cNvSpPr txBox="1"/>
          <p:nvPr/>
        </p:nvSpPr>
        <p:spPr>
          <a:xfrm>
            <a:off x="1783300" y="3990150"/>
            <a:ext cx="8675700" cy="1616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</a:pPr>
            <a:r>
              <a:rPr b="1" lang="en-US" sz="74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MERCI</a:t>
            </a:r>
            <a:endParaRPr b="1" sz="74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 toute </a:t>
            </a:r>
            <a:r>
              <a:rPr b="1"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l'équipe</a:t>
            </a:r>
            <a:r>
              <a:rPr b="1"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:</a:t>
            </a:r>
            <a:endParaRPr b="1" sz="1200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457200" lvl="0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    </a:t>
            </a:r>
            <a:r>
              <a:rPr b="0" lang="en-US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Patrick Mouliom • Christopher Gilleron • Jérémie Becker </a:t>
            </a:r>
            <a:r>
              <a:rPr lang="en-US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lang="en-US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Arnaud Hoarau • Karim Atebata</a:t>
            </a:r>
            <a:endParaRPr b="0">
              <a:solidFill>
                <a:srgbClr val="CBD5E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g3f5ebb8600e_2_92"/>
          <p:cNvSpPr txBox="1"/>
          <p:nvPr/>
        </p:nvSpPr>
        <p:spPr>
          <a:xfrm>
            <a:off x="3042100" y="627625"/>
            <a:ext cx="61581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200">
                <a:solidFill>
                  <a:srgbClr val="00D2FF"/>
                </a:solidFill>
              </a:rPr>
              <a:t>DEMO DAY | 03 AOÛT 2026 |</a:t>
            </a:r>
            <a:r>
              <a:rPr lang="en-US" sz="1200">
                <a:solidFill>
                  <a:schemeClr val="dk1"/>
                </a:solidFill>
              </a:rPr>
              <a:t> </a:t>
            </a:r>
            <a:r>
              <a:rPr b="1" lang="en-US" sz="1200">
                <a:solidFill>
                  <a:srgbClr val="00D2FF"/>
                </a:solidFill>
              </a:rPr>
              <a:t>AIFS01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>
    <mc:Choice Requires="p14">
      <p:transition spd="slow" p14:dur="2500">
        <p14:gallery dir="l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