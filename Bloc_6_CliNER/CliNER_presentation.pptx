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1675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ate"/>
      <p:regular r:id="rId20"/>
      <p:italic r:id="rId21"/>
    </p:embeddedFont>
    <p:embeddedFont>
      <p:font typeface="Montserrat"/>
      <p:bold r:id="rId22"/>
      <p:boldItalic r:id="rId23"/>
    </p:embeddedFont>
    <p:embeddedFont>
      <p:font typeface="Montserrat ExtraBold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6" roundtripDataSignature="AMtx7mi9qXIv1QJ2f1NCYKviN50K6o8N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874406-496D-439C-BDEF-28BF0047C382}">
  <a:tblStyle styleId="{5C874406-496D-439C-BDEF-28BF0047C38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te-regular.fntdata"/><Relationship Id="rId22" Type="http://schemas.openxmlformats.org/officeDocument/2006/relationships/font" Target="fonts/Montserrat-bold.fntdata"/><Relationship Id="rId21" Type="http://schemas.openxmlformats.org/officeDocument/2006/relationships/font" Target="fonts/Mate-italic.fntdata"/><Relationship Id="rId24" Type="http://schemas.openxmlformats.org/officeDocument/2006/relationships/font" Target="fonts/MontserratExtraBold-bold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customschemas.google.com/relationships/presentationmetadata" Target="metadata"/><Relationship Id="rId25" Type="http://schemas.openxmlformats.org/officeDocument/2006/relationships/font" Target="fonts/MontserratExtraBold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60f625aac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g3f60f625aac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13cbdbc11f14409a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h13cbdbc11f14409a_0_5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ebb8600e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f5ebb8600e_2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linical-protocols-standardization.onrender.com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drive.google.com/file/d/17VvWFkSVFY9oTJwOOuX9ZSb_iLslAbaQ/view" TargetMode="External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048375" y="1724025"/>
            <a:ext cx="5429400" cy="3219600"/>
          </a:xfrm>
          <a:prstGeom prst="roundRect">
            <a:avLst>
              <a:gd fmla="val 5917" name="adj"/>
            </a:avLst>
          </a:prstGeom>
          <a:solidFill>
            <a:srgbClr val="00152F"/>
          </a:solidFill>
          <a:ln cap="flat" cmpd="sng" w="1430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980" r="980" t="0"/>
          <a:stretch/>
        </p:blipFill>
        <p:spPr>
          <a:xfrm>
            <a:off x="6143625" y="1819275"/>
            <a:ext cx="5238900" cy="3029100"/>
          </a:xfrm>
          <a:prstGeom prst="roundRect">
            <a:avLst>
              <a:gd fmla="val 5031" name="adj"/>
            </a:avLst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762000" y="762000"/>
            <a:ext cx="4953000" cy="2889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CERTIFICATION CDSD • 8 OCTOBRE 2026</a:t>
            </a:r>
            <a:endParaRPr b="1" sz="1100">
              <a:solidFill>
                <a:srgbClr val="00D2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4748B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BLOC 6 — DIRECTION DE PROJET IA</a:t>
            </a:r>
            <a:endParaRPr b="0" sz="1100">
              <a:solidFill>
                <a:srgbClr val="64748B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rPr b="0" lang="en-US" sz="3800">
                <a:solidFill>
                  <a:srgbClr val="00D2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CliNER</a:t>
            </a:r>
            <a:endParaRPr b="0" sz="3800">
              <a:solidFill>
                <a:srgbClr val="00D2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Extraction d’Entités Médicales (NER) par LLM Fine-Tuné &amp; RAG Hybride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Présenté par :</a:t>
            </a:r>
            <a:endParaRPr b="0" sz="1100">
              <a:solidFill>
                <a:srgbClr val="94A3B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2D3EE"/>
                </a:solidFill>
                <a:latin typeface="Montserrat"/>
                <a:ea typeface="Montserrat"/>
                <a:cs typeface="Montserrat"/>
                <a:sym typeface="Montserrat"/>
              </a:rPr>
              <a:t>Christopher Gilleron</a:t>
            </a:r>
            <a:endParaRPr b="1" sz="1800">
              <a:solidFill>
                <a:srgbClr val="22D3E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762000" y="333375"/>
            <a:ext cx="106680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0D2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 Le Problème &amp; Le MVP</a:t>
            </a:r>
            <a:endParaRPr b="0" sz="2800">
              <a:solidFill>
                <a:srgbClr val="00D2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>
            <a:off x="762000" y="1047750"/>
            <a:ext cx="5143500" cy="5381700"/>
            <a:chOff x="0" y="0"/>
            <a:chExt cx="5143500" cy="5381700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5143500" cy="5381700"/>
            </a:xfrm>
            <a:prstGeom prst="roundRect">
              <a:avLst>
                <a:gd fmla="val 2962" name="adj"/>
              </a:avLst>
            </a:prstGeom>
            <a:solidFill>
              <a:srgbClr val="00152F"/>
            </a:solidFill>
            <a:ln cap="flat" cmpd="sng" w="14300">
              <a:solidFill>
                <a:srgbClr val="FF6B6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238125" y="238125"/>
              <a:ext cx="4667400" cy="490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6B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⚠️ Le Chaos Médical</a:t>
              </a:r>
              <a:endParaRPr b="1" sz="2000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FF6B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Objectif :</a:t>
              </a:r>
              <a:r>
                <a:rPr lang="en-US" sz="1200">
                  <a:solidFill>
                    <a:srgbClr val="F1F5F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Comparer efficacement des essais cliniques</a:t>
              </a:r>
              <a:endParaRPr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6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1F5F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Données officielles hétérogènes</a:t>
              </a:r>
              <a:endParaRPr b="1" sz="13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ClinicalTrials fournit des JSON incomplets et non structurés.</a:t>
              </a:r>
              <a:endParaRPr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1F5F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Information noyée</a:t>
              </a:r>
              <a:endParaRPr b="1" sz="13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L'information cruciale est enfouie dans des documents PDF de 100 à 200 pages.</a:t>
              </a:r>
              <a:endParaRPr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FF6B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Incomparabilité des essais</a:t>
              </a:r>
              <a:endParaRPr b="1" sz="1300">
                <a:solidFill>
                  <a:srgbClr val="FF6B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Impossible de vérifier si 2 essais sur un même médicament partagent des conditions comparables.</a:t>
              </a:r>
              <a:endParaRPr sz="110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95" name="Google Shape;95;p2"/>
          <p:cNvGrpSpPr/>
          <p:nvPr/>
        </p:nvGrpSpPr>
        <p:grpSpPr>
          <a:xfrm>
            <a:off x="6286500" y="1047750"/>
            <a:ext cx="5143500" cy="5381700"/>
            <a:chOff x="0" y="0"/>
            <a:chExt cx="5143500" cy="5381700"/>
          </a:xfrm>
        </p:grpSpPr>
        <p:sp>
          <p:nvSpPr>
            <p:cNvPr id="96" name="Google Shape;96;p2"/>
            <p:cNvSpPr/>
            <p:nvPr/>
          </p:nvSpPr>
          <p:spPr>
            <a:xfrm>
              <a:off x="0" y="0"/>
              <a:ext cx="5143500" cy="5381700"/>
            </a:xfrm>
            <a:prstGeom prst="roundRect">
              <a:avLst>
                <a:gd fmla="val 2962" name="adj"/>
              </a:avLst>
            </a:prstGeom>
            <a:solidFill>
              <a:srgbClr val="00152F"/>
            </a:solidFill>
            <a:ln cap="flat" cmpd="sng" w="14300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238125" y="238125"/>
              <a:ext cx="4667400" cy="35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D2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🚀 La Solution (MVP)</a:t>
              </a:r>
              <a:endParaRPr b="1" sz="20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2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NER (Qwen Fine-Tuné)</a:t>
              </a:r>
              <a:endParaRPr b="1" sz="12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1F5F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Extraction d'informations médicales standardisées &amp; filtres</a:t>
              </a:r>
              <a:endParaRPr sz="105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2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Recherche Augmentée (RAG BioBERT)</a:t>
              </a:r>
              <a:endParaRPr b="1" sz="12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F1F5F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Interrogation instantanée des protocoles cliniques en langage naturel</a:t>
              </a:r>
              <a:endParaRPr sz="105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2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Gold Standard (Chia Dataset)</a:t>
              </a:r>
              <a:endParaRPr b="1" sz="12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1 000 études annotées (144 avec PDF), réparties en Train &amp; Test sets</a:t>
              </a:r>
              <a:endParaRPr sz="10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0D2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Benchmark NER</a:t>
              </a:r>
              <a:endParaRPr b="1" sz="1200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CBD5E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BioBERT + Qwen vs. TF-IDF + segmentation + SBERT</a:t>
              </a:r>
              <a:endParaRPr sz="1050">
                <a:solidFill>
                  <a:srgbClr val="CBD5E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8" name="Google Shape;98;p2"/>
            <p:cNvGrpSpPr/>
            <p:nvPr/>
          </p:nvGrpSpPr>
          <p:grpSpPr>
            <a:xfrm>
              <a:off x="238125" y="3952875"/>
              <a:ext cx="4667400" cy="1190700"/>
              <a:chOff x="0" y="0"/>
              <a:chExt cx="4667400" cy="1190700"/>
            </a:xfrm>
          </p:grpSpPr>
          <p:sp>
            <p:nvSpPr>
              <p:cNvPr id="99" name="Google Shape;99;p2"/>
              <p:cNvSpPr/>
              <p:nvPr/>
            </p:nvSpPr>
            <p:spPr>
              <a:xfrm>
                <a:off x="0" y="0"/>
                <a:ext cx="4667400" cy="1190700"/>
              </a:xfrm>
              <a:prstGeom prst="roundRect">
                <a:avLst>
                  <a:gd fmla="val 8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00D2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00" name="Google Shape;100;p2"/>
              <p:cNvPicPr preferRelativeResize="0"/>
              <p:nvPr/>
            </p:nvPicPr>
            <p:blipFill rotWithShape="1">
              <a:blip r:embed="rId3">
                <a:alphaModFix/>
              </a:blip>
              <a:srcRect b="593" l="1958" r="3925" t="583"/>
              <a:stretch/>
            </p:blipFill>
            <p:spPr>
              <a:xfrm>
                <a:off x="47625" y="47625"/>
                <a:ext cx="4572000" cy="1095300"/>
              </a:xfrm>
              <a:prstGeom prst="roundRect">
                <a:avLst>
                  <a:gd fmla="val 5217" name="adj"/>
                </a:avLst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1500">
        <p:fade thruBlk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3"/>
          <p:cNvGrpSpPr/>
          <p:nvPr/>
        </p:nvGrpSpPr>
        <p:grpSpPr>
          <a:xfrm>
            <a:off x="762000" y="1524000"/>
            <a:ext cx="4762500" cy="1905150"/>
            <a:chOff x="762000" y="1524000"/>
            <a:chExt cx="4762500" cy="1905150"/>
          </a:xfrm>
        </p:grpSpPr>
        <p:sp>
          <p:nvSpPr>
            <p:cNvPr id="106" name="Google Shape;106;p3"/>
            <p:cNvSpPr txBox="1"/>
            <p:nvPr/>
          </p:nvSpPr>
          <p:spPr>
            <a:xfrm>
              <a:off x="762000" y="1524000"/>
              <a:ext cx="4762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1" lang="en-US" sz="4000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2 LA </a:t>
              </a:r>
              <a:r>
                <a:rPr b="1" i="0" lang="en-US" sz="4000" u="none" cap="none" strike="noStrike">
                  <a:solidFill>
                    <a:srgbClr val="00D2FF"/>
                  </a:solidFill>
                  <a:latin typeface="Calibri"/>
                  <a:ea typeface="Calibri"/>
                  <a:cs typeface="Calibri"/>
                  <a:sym typeface="Calibri"/>
                </a:rPr>
                <a:t>DÉMO EN DIRECT</a:t>
              </a:r>
              <a:endParaRPr b="1" i="0" sz="400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"/>
            <p:cNvSpPr txBox="1"/>
            <p:nvPr/>
          </p:nvSpPr>
          <p:spPr>
            <a:xfrm>
              <a:off x="762000" y="2381250"/>
              <a:ext cx="4762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1F5F9"/>
                  </a:solidFill>
                  <a:latin typeface="Calibri"/>
                  <a:ea typeface="Calibri"/>
                  <a:cs typeface="Calibri"/>
                  <a:sym typeface="Calibri"/>
                </a:rPr>
                <a:t>Découvrez le moteur CliNER en action</a:t>
              </a:r>
              <a:endParaRPr b="1" i="0" sz="1800" u="none" cap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75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94A3B8"/>
                  </a:solidFill>
                  <a:latin typeface="Calibri"/>
                  <a:ea typeface="Calibri"/>
                  <a:cs typeface="Calibri"/>
                  <a:sym typeface="Calibri"/>
                </a:rPr>
                <a:t>Explorez l'interface interactive pour l'extraction d'entités cliniques (NER) et l'analyse de protocoles en temps réel.</a:t>
              </a:r>
              <a:endParaRPr b="0" i="0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3"/>
          <p:cNvGrpSpPr/>
          <p:nvPr/>
        </p:nvGrpSpPr>
        <p:grpSpPr>
          <a:xfrm>
            <a:off x="1428750" y="3714750"/>
            <a:ext cx="3429000" cy="571500"/>
            <a:chOff x="1428750" y="3714750"/>
            <a:chExt cx="3429000" cy="571500"/>
          </a:xfrm>
        </p:grpSpPr>
        <p:sp>
          <p:nvSpPr>
            <p:cNvPr id="109" name="Google Shape;109;p3"/>
            <p:cNvSpPr/>
            <p:nvPr/>
          </p:nvSpPr>
          <p:spPr>
            <a:xfrm>
              <a:off x="1428750" y="3714750"/>
              <a:ext cx="3429000" cy="571500"/>
            </a:xfrm>
            <a:prstGeom prst="roundRect">
              <a:avLst>
                <a:gd fmla="val 50000" name="adj"/>
              </a:avLst>
            </a:prstGeom>
            <a:solidFill>
              <a:srgbClr val="00D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1428750" y="3714750"/>
              <a:ext cx="3429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lang="en-US" sz="2000" u="sng">
                  <a:solidFill>
                    <a:schemeClr val="hlink"/>
                  </a:solidFill>
                  <a:latin typeface="Mate"/>
                  <a:ea typeface="Mate"/>
                  <a:cs typeface="Mate"/>
                  <a:sym typeface="Mate"/>
                  <a:hlinkClick r:id="rId3"/>
                </a:rPr>
                <a:t>Lancer l'Application Streamlit</a:t>
              </a:r>
              <a:endParaRPr b="1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3"/>
          <p:cNvGrpSpPr/>
          <p:nvPr/>
        </p:nvGrpSpPr>
        <p:grpSpPr>
          <a:xfrm>
            <a:off x="6284257" y="2004451"/>
            <a:ext cx="5135392" cy="2849088"/>
            <a:chOff x="5981700" y="1409700"/>
            <a:chExt cx="5562600" cy="3086100"/>
          </a:xfrm>
        </p:grpSpPr>
        <p:sp>
          <p:nvSpPr>
            <p:cNvPr id="112" name="Google Shape;112;p3"/>
            <p:cNvSpPr/>
            <p:nvPr/>
          </p:nvSpPr>
          <p:spPr>
            <a:xfrm>
              <a:off x="5981700" y="1409700"/>
              <a:ext cx="5562600" cy="3086100"/>
            </a:xfrm>
            <a:prstGeom prst="roundRect">
              <a:avLst>
                <a:gd fmla="val 4938" name="adj"/>
              </a:avLst>
            </a:prstGeom>
            <a:solidFill>
              <a:srgbClr val="00152F"/>
            </a:solidFill>
            <a:ln cap="flat" cmpd="sng" w="17575">
              <a:solidFill>
                <a:srgbClr val="00D2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3" name="Google Shape;113;p3"/>
            <p:cNvPicPr preferRelativeResize="0"/>
            <p:nvPr/>
          </p:nvPicPr>
          <p:blipFill rotWithShape="1">
            <a:blip r:embed="rId4">
              <a:alphaModFix/>
            </a:blip>
            <a:srcRect b="0" l="10951" r="10943" t="0"/>
            <a:stretch/>
          </p:blipFill>
          <p:spPr>
            <a:xfrm>
              <a:off x="6096000" y="1524000"/>
              <a:ext cx="5334000" cy="2857500"/>
            </a:xfrm>
            <a:prstGeom prst="roundRect">
              <a:avLst>
                <a:gd fmla="val 4000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0f625aac_2_0"/>
          <p:cNvSpPr txBox="1"/>
          <p:nvPr/>
        </p:nvSpPr>
        <p:spPr>
          <a:xfrm>
            <a:off x="2921550" y="111025"/>
            <a:ext cx="6158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00D2FF"/>
                </a:solidFill>
                <a:latin typeface="Arial"/>
                <a:ea typeface="Arial"/>
                <a:cs typeface="Arial"/>
                <a:sym typeface="Arial"/>
              </a:rPr>
              <a:t>VIDEO DE PRESENTATION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g3f60f625aac_2_0" title="CliNER — Clinical NER - Google Chrome 2026-07-31 14-53-48.m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9274" y="573162"/>
            <a:ext cx="10193124" cy="571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13cbdbc11f14409a_0_510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b="1" i="0" lang="en-US" sz="320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Architecture </a:t>
            </a:r>
            <a:r>
              <a:rPr b="1" lang="en-US" sz="32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logique</a:t>
            </a:r>
            <a:r>
              <a:rPr b="1" i="0" lang="en-US" sz="320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h13cbdbc11f14409a_0_5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038" y="1012435"/>
            <a:ext cx="11077575" cy="542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14:prism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b="1" i="0" lang="en-US" sz="3200" u="none" cap="none" strike="noStrike">
                <a:solidFill>
                  <a:srgbClr val="00D2FF"/>
                </a:solidFill>
                <a:latin typeface="Calibri"/>
                <a:ea typeface="Calibri"/>
                <a:cs typeface="Calibri"/>
                <a:sym typeface="Calibri"/>
              </a:rPr>
              <a:t>Circuit de la donnée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liner_s5_img3.jpg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9000" y="950760"/>
            <a:ext cx="7503267" cy="5602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14:prism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63025" y="63000"/>
            <a:ext cx="12191700" cy="6858000"/>
          </a:xfrm>
          <a:prstGeom prst="rect">
            <a:avLst/>
          </a:prstGeom>
          <a:solidFill>
            <a:srgbClr val="0A14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31520" y="365760"/>
            <a:ext cx="10515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2D3EE"/>
                </a:solidFill>
              </a:rPr>
              <a:t>4 </a:t>
            </a:r>
            <a:r>
              <a:rPr b="1" i="0" lang="en-US" sz="26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BENCHMARK DE PERFORMANCE NER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Évaluation comparative sur le Gold Standard CHIA (Dataset Médical d'Éligibilité)</a:t>
            </a:r>
            <a:endParaRPr/>
          </a:p>
        </p:txBody>
      </p:sp>
      <p:graphicFrame>
        <p:nvGraphicFramePr>
          <p:cNvPr id="138" name="Google Shape;138;p8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{5C874406-496D-439C-BDEF-28BF0047C382}</a:tableStyleId>
              </a:tblPr>
              <a:tblGrid>
                <a:gridCol w="3291850"/>
                <a:gridCol w="1645925"/>
                <a:gridCol w="1645925"/>
                <a:gridCol w="1645925"/>
                <a:gridCol w="246887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D3EE"/>
                          </a:solidFill>
                        </a:rPr>
                        <a:t>MODÈLE ÉVALUÉ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37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D3EE"/>
                          </a:solidFill>
                        </a:rPr>
                        <a:t>PRÉCISION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37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D3EE"/>
                          </a:solidFill>
                        </a:rPr>
                        <a:t>RAPPEL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37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D3EE"/>
                          </a:solidFill>
                        </a:rPr>
                        <a:t>SCORE F1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37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D3EE"/>
                          </a:solidFill>
                        </a:rPr>
                        <a:t>GAIN OPÉRATIONNEL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0375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8FAFC"/>
                          </a:solidFill>
                        </a:rPr>
                        <a:t>Dictionary Floor (Règles &amp; Lexique)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23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F8FAFC"/>
                          </a:solidFill>
                        </a:rPr>
                        <a:t>27,0 %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23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F8FAFC"/>
                          </a:solidFill>
                        </a:rPr>
                        <a:t>36,0 %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23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F8FAFC"/>
                          </a:solidFill>
                        </a:rPr>
                        <a:t>0,31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23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F8FAFC"/>
                          </a:solidFill>
                        </a:rPr>
                        <a:t>Baseline naïve (lexicale)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2334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8FAFC"/>
                          </a:solidFill>
                        </a:rPr>
                        <a:t>Qwen 2.5 8B (Zero-Shot natif)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2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F8FAFC"/>
                          </a:solidFill>
                        </a:rPr>
                        <a:t>44,0 %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2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F8FAFC"/>
                          </a:solidFill>
                        </a:rPr>
                        <a:t>52,0 %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2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F8FAFC"/>
                          </a:solidFill>
                        </a:rPr>
                        <a:t>0,48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2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F8FAFC"/>
                          </a:solidFill>
                        </a:rPr>
                        <a:t>LLM généraliste non spécialisé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22A3E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D3EE"/>
                          </a:solidFill>
                        </a:rPr>
                        <a:t>Qwen 2.5 7B + LoRA (Notre Modèle)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6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D399"/>
                          </a:solidFill>
                        </a:rPr>
                        <a:t>63,0 %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6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22D3EE"/>
                          </a:solidFill>
                        </a:rPr>
                        <a:t>54,0 %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6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D399"/>
                          </a:solidFill>
                        </a:rPr>
                        <a:t>0,58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6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34D399"/>
                          </a:solidFill>
                        </a:rPr>
                        <a:t>🏆 Champion (+10 pts F1 / +19 pts Préc.)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65F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8"/>
          <p:cNvSpPr/>
          <p:nvPr/>
        </p:nvSpPr>
        <p:spPr>
          <a:xfrm>
            <a:off x="731525" y="3749047"/>
            <a:ext cx="3383400" cy="1470600"/>
          </a:xfrm>
          <a:prstGeom prst="roundRect">
            <a:avLst>
              <a:gd fmla="val 16667" name="adj"/>
            </a:avLst>
          </a:prstGeom>
          <a:solidFill>
            <a:srgbClr val="0E2A3A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868675" y="3840476"/>
            <a:ext cx="31089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🎯 PRÉCISION MÉDICALE MAXIMISÉE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63,0 % (+19 pts)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Élimination des fausses détections : sur 100 entités extraites par le modèle LoRA, 63 sont strictement conformes au consensus médical (vs 44 pour Qwen brut).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4389125" y="3749047"/>
            <a:ext cx="3383400" cy="1470600"/>
          </a:xfrm>
          <a:prstGeom prst="roundRect">
            <a:avLst>
              <a:gd fmla="val 16667" name="adj"/>
            </a:avLst>
          </a:prstGeom>
          <a:solidFill>
            <a:srgbClr val="0E2A3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4526275" y="3840476"/>
            <a:ext cx="31089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⚡ LATENCE &amp; DÉBIT GPU (vLLM)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75 tokens / sec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Moteur d'inférence haute performance vLLM (PagedAttention) : temps moyen d'inférence &lt; 0,5s par paragraphe d'éligibilité sur carte L4.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8046725" y="3749047"/>
            <a:ext cx="3383400" cy="1470600"/>
          </a:xfrm>
          <a:prstGeom prst="roundRect">
            <a:avLst>
              <a:gd fmla="val 16667" name="adj"/>
            </a:avLst>
          </a:prstGeom>
          <a:solidFill>
            <a:srgbClr val="0E2A3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8183875" y="3840476"/>
            <a:ext cx="31089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💾 ARCHITECTURE FINOPS QLoRA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40 Mo d'Adaptateur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Poids LoRA ultra-légers (40 Mo au lieu de 14 Go) greffés à chaud sur le cerveau de base. Coût d'entraînement et de stockage divisé par plus de 50.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653875" y="5585400"/>
            <a:ext cx="110100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F1-Score de 58 % en Named Entity Recognition médical peut sembler modeste dans l'absolu, mais il s'agit en réalité d'une excellente performance : dans la littérature scientifique biomédicale (corpus NCBI Disease et BioNLP), l'accord inter-annotateurs entre médecins experts humains plafonne entre 60 % et 70 %.</a:t>
            </a:r>
            <a:endParaRPr sz="1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14:flip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/>
          <p:nvPr/>
        </p:nvSpPr>
        <p:spPr>
          <a:xfrm>
            <a:off x="0" y="0"/>
            <a:ext cx="12191675" cy="6858000"/>
          </a:xfrm>
          <a:prstGeom prst="rect">
            <a:avLst/>
          </a:prstGeom>
          <a:solidFill>
            <a:srgbClr val="0A142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0"/>
          <p:cNvSpPr txBox="1"/>
          <p:nvPr/>
        </p:nvSpPr>
        <p:spPr>
          <a:xfrm>
            <a:off x="731520" y="365760"/>
            <a:ext cx="105156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2D3EE"/>
                </a:solidFill>
              </a:rPr>
              <a:t>5 </a:t>
            </a:r>
            <a:r>
              <a:rPr b="1" i="0" lang="en-US" sz="260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PERSPECTIVES &amp; INDUSTRIALISATION MLOPS / LLMOPS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Trajectoire de Déploiement : CI/CD Automatisée, Observabilité du Drift &amp; FinOps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731520" y="146304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0E2A3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896112" y="1600200"/>
            <a:ext cx="3054000" cy="3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01 | INTÉGRATION CONTINUE (CI/CD)</a:t>
            </a:r>
            <a:endParaRPr b="1" i="0" sz="1350" u="none" cap="none" strike="noStrike">
              <a:solidFill>
                <a:srgbClr val="22D3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22D3E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Quality Gate &amp; Tests Automatisés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 Pipeline GitHub Actions &amp; PyTest</a:t>
            </a:r>
            <a:endParaRPr b="1" i="0" u="none" cap="none" strike="noStrike">
              <a:solidFill>
                <a:srgbClr val="22D3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2D3E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 Conteneurisation Multi-Stage</a:t>
            </a:r>
            <a:endParaRPr b="1" i="0" u="none" cap="none" strike="noStrike">
              <a:solidFill>
                <a:srgbClr val="22D3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2D3E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 Évaluation RAGAs en Intégration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10"/>
          <p:cNvSpPr/>
          <p:nvPr/>
        </p:nvSpPr>
        <p:spPr>
          <a:xfrm>
            <a:off x="4389120" y="146304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0E2A3A"/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0"/>
          <p:cNvSpPr txBox="1"/>
          <p:nvPr/>
        </p:nvSpPr>
        <p:spPr>
          <a:xfrm>
            <a:off x="4553712" y="1600200"/>
            <a:ext cx="3054000" cy="3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02 | CONTINUOUS TRAINING (CT) &amp; DRIFT</a:t>
            </a:r>
            <a:endParaRPr b="1" i="0" sz="1250" u="none" cap="none" strike="noStrike">
              <a:solidFill>
                <a:srgbClr val="22D3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rgbClr val="22D3E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Observabilité Sémantique &amp; Dérive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• Détection du Data Drift (Wasserstein)</a:t>
            </a:r>
            <a:endParaRPr b="1" i="0" sz="1300" u="none" cap="none" strike="noStrike">
              <a:solidFill>
                <a:srgbClr val="34D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4D3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• Réentraînement LoRA Déclenché</a:t>
            </a:r>
            <a:endParaRPr b="1" i="0" sz="1300" u="none" cap="none" strike="noStrike">
              <a:solidFill>
                <a:srgbClr val="34D3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4D39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• Télémétrie MLflow sur Cloud Run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6" name="Google Shape;156;p10"/>
          <p:cNvSpPr/>
          <p:nvPr/>
        </p:nvSpPr>
        <p:spPr>
          <a:xfrm>
            <a:off x="8046720" y="1463040"/>
            <a:ext cx="3383280" cy="4389120"/>
          </a:xfrm>
          <a:prstGeom prst="roundRect">
            <a:avLst>
              <a:gd fmla="val 16667" name="adj"/>
            </a:avLst>
          </a:prstGeom>
          <a:solidFill>
            <a:srgbClr val="0E2A3A"/>
          </a:solidFill>
          <a:ln cap="flat" cmpd="sng" w="12700">
            <a:solidFill>
              <a:srgbClr val="1632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8211437" y="1600200"/>
            <a:ext cx="30540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03 | FINOPS &amp; IA SOUVERAINE</a:t>
            </a:r>
            <a:endParaRPr b="1" i="0" sz="1350" u="none" cap="none" strike="noStrike">
              <a:solidFill>
                <a:srgbClr val="22D3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22D3E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Contrôle des Coûts, IaC &amp; Secret Médical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 Infrastructure as Code (Terraform)</a:t>
            </a:r>
            <a:endParaRPr b="1" i="0" u="none" cap="none" strike="noStrike">
              <a:solidFill>
                <a:srgbClr val="22D3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2D3E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 Auto-Kill AWS EC2 (Boto3 FinOps)</a:t>
            </a:r>
            <a:endParaRPr b="1" i="0" u="none" cap="none" strike="noStrike">
              <a:solidFill>
                <a:srgbClr val="22D3E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2D3E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2D3EE"/>
                </a:solidFill>
                <a:latin typeface="Arial"/>
                <a:ea typeface="Arial"/>
                <a:cs typeface="Arial"/>
                <a:sym typeface="Arial"/>
              </a:rPr>
              <a:t>• Déploiement On-Premise Sécurisé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mc:AlternateContent>
    <mc:Choice Requires="p14">
      <p:transition spd="slow" p14:dur="15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B18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f5ebb8600e_2_92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3648701" y="1115488"/>
            <a:ext cx="4944900" cy="2802000"/>
          </a:xfrm>
          <a:prstGeom prst="roundRect">
            <a:avLst>
              <a:gd fmla="val 5228" name="adj"/>
            </a:avLst>
          </a:prstGeom>
          <a:noFill/>
          <a:ln>
            <a:noFill/>
          </a:ln>
        </p:spPr>
      </p:pic>
      <p:sp>
        <p:nvSpPr>
          <p:cNvPr id="163" name="Google Shape;163;g3f5ebb8600e_2_92"/>
          <p:cNvSpPr txBox="1"/>
          <p:nvPr/>
        </p:nvSpPr>
        <p:spPr>
          <a:xfrm>
            <a:off x="1783300" y="3990150"/>
            <a:ext cx="8675700" cy="1616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</a:pPr>
            <a:r>
              <a:rPr b="1" i="0" lang="en-US" sz="4000" u="none" cap="none" strike="noStrike">
                <a:solidFill>
                  <a:srgbClr val="00D2FF"/>
                </a:solidFill>
                <a:latin typeface="Montserrat"/>
                <a:ea typeface="Montserrat"/>
                <a:cs typeface="Montserrat"/>
                <a:sym typeface="Montserrat"/>
              </a:rPr>
              <a:t>MERCI</a:t>
            </a:r>
            <a:endParaRPr b="1" i="0" sz="7400" u="none" cap="none" strike="noStrike">
              <a:solidFill>
                <a:srgbClr val="F1F5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Candidat : Christopher Gilleron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Certification Concepteur Développeur en Science des Données (CDSD)</a:t>
            </a:r>
            <a:endParaRPr/>
          </a:p>
        </p:txBody>
      </p:sp>
      <p:sp>
        <p:nvSpPr>
          <p:cNvPr id="164" name="Google Shape;164;g3f5ebb8600e_2_92"/>
          <p:cNvSpPr txBox="1"/>
          <p:nvPr/>
        </p:nvSpPr>
        <p:spPr>
          <a:xfrm>
            <a:off x="3042100" y="627625"/>
            <a:ext cx="61581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94A3B8"/>
                </a:solidFill>
                <a:latin typeface="Montserrat"/>
                <a:ea typeface="Montserrat"/>
                <a:cs typeface="Montserrat"/>
                <a:sym typeface="Montserrat"/>
              </a:rPr>
              <a:t>SOUTENANCE CDSD | 08 OCTOBRE 2026 | BLOC 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