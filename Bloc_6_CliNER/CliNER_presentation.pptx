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1675"/>
  <p:notesSz cx="6858000" cy="9144000"/>
  <p:embeddedFontLst>
    <p:embeddedFont>
      <p:font typeface="Montserrat SemiBold"/>
      <p:regular r:id="rId16"/>
      <p:bold r:id="rId17"/>
      <p:italic r:id="rId18"/>
      <p:boldItalic r:id="rId19"/>
    </p:embeddedFont>
    <p:embeddedFont>
      <p:font typeface="Mate"/>
      <p:regular r:id="rId20"/>
      <p:italic r:id="rId21"/>
    </p:embeddedFont>
    <p:embeddedFont>
      <p:font typeface="Montserrat"/>
      <p:regular r:id="rId22"/>
      <p:bold r:id="rId23"/>
      <p:italic r:id="rId24"/>
      <p:boldItalic r:id="rId25"/>
    </p:embeddedFont>
    <p:embeddedFont>
      <p:font typeface="Montserrat ExtraBold"/>
      <p:bold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8" roundtripDataSignature="AMtx7mgPHE0oKGkojFrEWVPzEjeAksMN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F4D1209-880B-4911-8CF3-B04CC21DB36C}">
  <a:tblStyle styleId="{5F4D1209-880B-4911-8CF3-B04CC21DB36C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913EC2CF-281C-4834-AAE7-510C893EDFA9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ate-regular.fntdata"/><Relationship Id="rId22" Type="http://schemas.openxmlformats.org/officeDocument/2006/relationships/font" Target="fonts/Montserrat-regular.fntdata"/><Relationship Id="rId21" Type="http://schemas.openxmlformats.org/officeDocument/2006/relationships/font" Target="fonts/Mate-italic.fntdata"/><Relationship Id="rId24" Type="http://schemas.openxmlformats.org/officeDocument/2006/relationships/font" Target="fonts/Montserrat-italic.fntdata"/><Relationship Id="rId23" Type="http://schemas.openxmlformats.org/officeDocument/2006/relationships/font" Target="fonts/Montserra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MontserratExtraBold-bold.fntdata"/><Relationship Id="rId25" Type="http://schemas.openxmlformats.org/officeDocument/2006/relationships/font" Target="fonts/Montserrat-boldItalic.fntdata"/><Relationship Id="rId28" Type="http://customschemas.google.com/relationships/presentationmetadata" Target="metadata"/><Relationship Id="rId27" Type="http://schemas.openxmlformats.org/officeDocument/2006/relationships/font" Target="fonts/MontserratExtra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MontserratSemiBold-bold.fntdata"/><Relationship Id="rId16" Type="http://schemas.openxmlformats.org/officeDocument/2006/relationships/font" Target="fonts/MontserratSemiBold-regular.fntdata"/><Relationship Id="rId19" Type="http://schemas.openxmlformats.org/officeDocument/2006/relationships/font" Target="fonts/MontserratSemiBold-boldItalic.fntdata"/><Relationship Id="rId18" Type="http://schemas.openxmlformats.org/officeDocument/2006/relationships/font" Target="fonts/MontserratSemiBold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60f625aac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6" name="Google Shape;116;g3f60f625aac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13cbdbc11f14409a_0_5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h13cbdbc11f14409a_0_5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5" name="Google Shape;145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5ebb8600e_2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7" name="Google Shape;157;g3f5ebb8600e_2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linical-protocols-standardization.onrender.com" TargetMode="External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drive.google.com/file/d/17VvWFkSVFY9oTJwOOuX9ZSb_iLslAbaQ/view" TargetMode="External"/><Relationship Id="rId4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6048375" y="1724025"/>
            <a:ext cx="5429400" cy="3219600"/>
          </a:xfrm>
          <a:prstGeom prst="roundRect">
            <a:avLst>
              <a:gd fmla="val 5917" name="adj"/>
            </a:avLst>
          </a:prstGeom>
          <a:solidFill>
            <a:srgbClr val="00152F"/>
          </a:solidFill>
          <a:ln cap="flat" cmpd="sng" w="14300">
            <a:solidFill>
              <a:srgbClr val="00D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" name="Google Shape;85;p1"/>
          <p:cNvPicPr preferRelativeResize="0"/>
          <p:nvPr/>
        </p:nvPicPr>
        <p:blipFill rotWithShape="1">
          <a:blip r:embed="rId3">
            <a:alphaModFix/>
          </a:blip>
          <a:srcRect b="0" l="980" r="980" t="0"/>
          <a:stretch/>
        </p:blipFill>
        <p:spPr>
          <a:xfrm>
            <a:off x="6143625" y="1819275"/>
            <a:ext cx="5238900" cy="3029100"/>
          </a:xfrm>
          <a:prstGeom prst="roundRect">
            <a:avLst>
              <a:gd fmla="val 5031" name="adj"/>
            </a:avLst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762000" y="762000"/>
            <a:ext cx="4953000" cy="5722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CERTIFICATION CDSD • 8 OCTOBRE 2026</a:t>
            </a:r>
            <a:endParaRPr b="1" i="0" sz="1100" u="none" cap="none" strike="noStrike">
              <a:solidFill>
                <a:srgbClr val="00D2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BLOC 6 — DIRECTION DE PROJET IA</a:t>
            </a:r>
            <a:endParaRPr b="0" i="0" sz="1100" u="none" cap="none" strike="noStrike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64748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0" i="0" lang="en-US" sz="4100" u="none" cap="none" strike="noStrike">
                <a:solidFill>
                  <a:srgbClr val="00D2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CliNER</a:t>
            </a:r>
            <a:endParaRPr b="0" i="0" sz="4100" u="none" cap="none" strike="noStrike">
              <a:solidFill>
                <a:srgbClr val="00D2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Extraction d’Entités Médicales (NER) par LLM Fine-Tuné &amp; RAG Hybride</a:t>
            </a:r>
            <a:endParaRPr b="1" i="0" sz="23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i="0" sz="20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1" i="0" sz="20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Présenté par :</a:t>
            </a:r>
            <a:endParaRPr b="0" i="0" sz="1100" u="none" cap="none" strike="noStrike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2D3EE"/>
                </a:solidFill>
                <a:latin typeface="Montserrat"/>
                <a:ea typeface="Montserrat"/>
                <a:cs typeface="Montserrat"/>
                <a:sym typeface="Montserrat"/>
              </a:rPr>
              <a:t>Christopher Gilleron</a:t>
            </a:r>
            <a:endParaRPr b="1" i="0" sz="1800" u="none" cap="none" strike="noStrike">
              <a:solidFill>
                <a:srgbClr val="22D3E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/>
        </p:nvSpPr>
        <p:spPr>
          <a:xfrm>
            <a:off x="762000" y="333375"/>
            <a:ext cx="10668000" cy="52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en-US" sz="2900" u="none" cap="none" strike="noStrike">
                <a:solidFill>
                  <a:srgbClr val="00D2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1. Le Problème &amp; Le MVP</a:t>
            </a:r>
            <a:endParaRPr b="0" i="0" sz="2900" u="none" cap="none" strike="noStrike">
              <a:solidFill>
                <a:srgbClr val="00D2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92" name="Google Shape;92;p2"/>
          <p:cNvGrpSpPr/>
          <p:nvPr/>
        </p:nvGrpSpPr>
        <p:grpSpPr>
          <a:xfrm>
            <a:off x="762000" y="1000125"/>
            <a:ext cx="3352800" cy="5429400"/>
            <a:chOff x="0" y="0"/>
            <a:chExt cx="3352800" cy="5429400"/>
          </a:xfrm>
        </p:grpSpPr>
        <p:sp>
          <p:nvSpPr>
            <p:cNvPr id="93" name="Google Shape;93;p2"/>
            <p:cNvSpPr/>
            <p:nvPr/>
          </p:nvSpPr>
          <p:spPr>
            <a:xfrm>
              <a:off x="0" y="0"/>
              <a:ext cx="3352800" cy="5429400"/>
            </a:xfrm>
            <a:prstGeom prst="roundRect">
              <a:avLst>
                <a:gd fmla="val 3977" name="adj"/>
              </a:avLst>
            </a:prstGeom>
            <a:solidFill>
              <a:srgbClr val="00152F">
                <a:alpha val="94902"/>
              </a:srgbClr>
            </a:solidFill>
            <a:ln cap="flat" cmpd="sng" w="14300">
              <a:solidFill>
                <a:srgbClr val="FF6B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t/>
              </a:r>
              <a:endParaRPr b="0" i="0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0" y="0"/>
              <a:ext cx="3352800" cy="5429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09550" lIns="209550" spcFirstLastPara="1" rIns="209550" wrap="square" tIns="2095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rPr b="1" i="0" lang="en-US" sz="2100" u="none" cap="none" strike="noStrike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⚠️ Le Chaos Médical</a:t>
              </a:r>
              <a:endParaRPr b="1" i="0" sz="2100" u="none" cap="none" strike="noStrike">
                <a:solidFill>
                  <a:srgbClr val="FF6B6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t/>
              </a:r>
              <a:endParaRPr b="1" i="0" sz="2100" u="none" cap="none" strike="noStrike">
                <a:solidFill>
                  <a:srgbClr val="FF6B6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Objectif :</a:t>
              </a:r>
              <a:r>
                <a:rPr b="0" i="0" lang="en-US" sz="1400" u="none" cap="none" strike="noStrike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Comparer efficacement des essais cliniques</a:t>
              </a:r>
              <a:endParaRPr b="0" i="0" sz="1400" u="none" cap="none" strike="noStrike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Données hétérogènes</a:t>
              </a:r>
              <a:endParaRPr b="1" i="0" sz="1600" u="none" cap="none" strike="noStrike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ClinicalTrials fournit des JSON incomplets et non structurés.</a:t>
              </a:r>
              <a:endParaRPr b="0" i="0" sz="140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Information noyée</a:t>
              </a:r>
              <a:endParaRPr b="1" i="0" sz="1600" u="none" cap="none" strike="noStrike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L'information cruciale est enfouie dans des documents PDF de 100 à 200 pages.</a:t>
              </a:r>
              <a:endParaRPr b="0" i="0" sz="140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FF6B6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Incomparabilité des essais</a:t>
              </a:r>
              <a:endParaRPr b="1" i="0" sz="1600" u="none" cap="none" strike="noStrike">
                <a:solidFill>
                  <a:srgbClr val="FF6B6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Impossible de vérifier si 2 essais sur un même médicament partagent des conditions comparables.</a:t>
              </a:r>
              <a:endParaRPr b="0" i="0" sz="140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5" name="Google Shape;95;p2"/>
          <p:cNvGrpSpPr/>
          <p:nvPr/>
        </p:nvGrpSpPr>
        <p:grpSpPr>
          <a:xfrm>
            <a:off x="4419600" y="1000125"/>
            <a:ext cx="3352800" cy="5429400"/>
            <a:chOff x="0" y="0"/>
            <a:chExt cx="3352800" cy="5429400"/>
          </a:xfrm>
        </p:grpSpPr>
        <p:sp>
          <p:nvSpPr>
            <p:cNvPr id="96" name="Google Shape;96;p2"/>
            <p:cNvSpPr/>
            <p:nvPr/>
          </p:nvSpPr>
          <p:spPr>
            <a:xfrm>
              <a:off x="0" y="0"/>
              <a:ext cx="3352800" cy="5429400"/>
            </a:xfrm>
            <a:prstGeom prst="roundRect">
              <a:avLst>
                <a:gd fmla="val 3977" name="adj"/>
              </a:avLst>
            </a:prstGeom>
            <a:solidFill>
              <a:srgbClr val="00152F">
                <a:alpha val="94902"/>
              </a:srgbClr>
            </a:solidFill>
            <a:ln cap="flat" cmpd="sng" w="14300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t/>
              </a:r>
              <a:endParaRPr b="0" i="0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0" y="0"/>
              <a:ext cx="3352800" cy="5429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09550" lIns="209550" spcFirstLastPara="1" rIns="209550" wrap="square" tIns="2095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rPr b="1" i="0" lang="en-US" sz="2100" u="none" cap="none" strike="noStrike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🚀 La Solution (MVP)</a:t>
              </a:r>
              <a:endParaRPr b="1" i="0" sz="21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NER (Qwen Fine-Tuné)</a:t>
              </a:r>
              <a:endParaRPr b="1" i="0" sz="16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1" i="0" sz="16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Extraction d'informations médicales standardisées &amp; filtres.</a:t>
              </a:r>
              <a:endParaRPr b="0" i="0" sz="1400" u="none" cap="none" strike="noStrike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Recherche Augmentée (RAG)</a:t>
              </a:r>
              <a:endParaRPr b="1" i="0" sz="16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F1F5F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Interrogation instantanée des protocoles BioBERT en langage naturel.</a:t>
              </a:r>
              <a:endParaRPr b="0" i="0" sz="1400" u="none" cap="none" strike="noStrike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Gold Standard (Chia)</a:t>
              </a:r>
              <a:endParaRPr b="1" i="0" sz="16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1 000 études annotées (144 avec PDF), réparties en Train &amp; Test sets.</a:t>
              </a:r>
              <a:endParaRPr b="0" i="0" sz="140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00D2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Benchmark NER</a:t>
              </a:r>
              <a:endParaRPr b="1" i="0" sz="16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Qwen-2.5-7B LoRA vs. Qwen Zero-Shot vs. Dictionary Floor.</a:t>
              </a:r>
              <a:endParaRPr b="0" i="0" sz="140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8" name="Google Shape;98;p2"/>
          <p:cNvGrpSpPr/>
          <p:nvPr/>
        </p:nvGrpSpPr>
        <p:grpSpPr>
          <a:xfrm>
            <a:off x="8077200" y="1000125"/>
            <a:ext cx="3352800" cy="5429400"/>
            <a:chOff x="0" y="0"/>
            <a:chExt cx="3352800" cy="5429400"/>
          </a:xfrm>
        </p:grpSpPr>
        <p:sp>
          <p:nvSpPr>
            <p:cNvPr id="99" name="Google Shape;99;p2"/>
            <p:cNvSpPr/>
            <p:nvPr/>
          </p:nvSpPr>
          <p:spPr>
            <a:xfrm>
              <a:off x="0" y="0"/>
              <a:ext cx="3352800" cy="5429400"/>
            </a:xfrm>
            <a:prstGeom prst="roundRect">
              <a:avLst>
                <a:gd fmla="val 3977" name="adj"/>
              </a:avLst>
            </a:prstGeom>
            <a:solidFill>
              <a:srgbClr val="00152F">
                <a:alpha val="94902"/>
              </a:srgbClr>
            </a:solidFill>
            <a:ln cap="flat" cmpd="sng" w="14300">
              <a:solidFill>
                <a:srgbClr val="38BDF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t/>
              </a:r>
              <a:endParaRPr b="0" i="0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2"/>
            <p:cNvSpPr txBox="1"/>
            <p:nvPr/>
          </p:nvSpPr>
          <p:spPr>
            <a:xfrm>
              <a:off x="0" y="0"/>
              <a:ext cx="3352800" cy="5429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09550" lIns="209550" spcFirstLastPara="1" rIns="209550" wrap="square" tIns="2095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rPr b="1" i="0" lang="en-US" sz="2100" u="none" cap="none" strike="noStrike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💼 Cadrage &amp; Déploiement</a:t>
              </a:r>
              <a:endParaRPr b="1" i="0" sz="2100" u="none" cap="none" strike="noStrike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RGPD / PHI-Free</a:t>
              </a:r>
              <a:endParaRPr b="1" i="0" sz="1600" u="none" cap="none" strike="noStrike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1" i="0" sz="1600" u="none" cap="none" strike="noStrike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Traitement exclusif d'essais publics sans aucune donnée patient (Privacy by Design).</a:t>
              </a:r>
              <a:endParaRPr b="0" i="0" sz="140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Souveraineté Hospitalière</a:t>
              </a:r>
              <a:endParaRPr b="1" i="0" sz="1600" u="none" cap="none" strike="noStrike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Architecture 100% local (on-premise) sans dépendance vers des API tierces.</a:t>
              </a:r>
              <a:endParaRPr b="0" i="0" sz="140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FinOps &amp; Budget</a:t>
              </a:r>
              <a:endParaRPr b="1" i="0" sz="1600" u="none" cap="none" strike="noStrike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Fine-tuning LoRA ~15$ sur GPU AWS A10G ; cache vectoriel (&lt; 1 200 €/an).</a:t>
              </a:r>
              <a:endParaRPr b="0" i="0" sz="140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rgbClr val="38BDF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Planning (6 mois)</a:t>
              </a:r>
              <a:endParaRPr b="1" i="0" sz="1600" u="none" cap="none" strike="noStrike">
                <a:solidFill>
                  <a:srgbClr val="38BDF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225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-US" sz="1350" u="none" cap="none" strike="noStrike">
                  <a:solidFill>
                    <a:srgbClr val="F1F5F9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M1-M2:</a:t>
              </a:r>
              <a:r>
                <a:rPr b="0" i="0" lang="en-US" sz="135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Scraping &amp; Gold Standard</a:t>
              </a:r>
              <a:br>
                <a:rPr b="0" i="0" lang="en-US" sz="135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0" i="0" lang="en-US" sz="1350" u="none" cap="none" strike="noStrike">
                  <a:solidFill>
                    <a:srgbClr val="F1F5F9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M3-M4:</a:t>
              </a:r>
              <a:r>
                <a:rPr b="0" i="0" lang="en-US" sz="135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Fine-tuning LoRA &amp; vLLM</a:t>
              </a:r>
              <a:br>
                <a:rPr b="0" i="0" lang="en-US" sz="135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b="0" i="0" lang="en-US" sz="1350" u="none" cap="none" strike="noStrike">
                  <a:solidFill>
                    <a:srgbClr val="F1F5F9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M5-M6:</a:t>
              </a:r>
              <a:r>
                <a:rPr b="0" i="0" lang="en-US" sz="1350" u="none" cap="none" strike="noStrike">
                  <a:solidFill>
                    <a:srgbClr val="CBD5E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MLflow &amp; Monitoring</a:t>
              </a:r>
              <a:endParaRPr b="0" i="0" sz="1350" u="none" cap="none" strike="noStrike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1500">
        <p:fade thruBlk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3"/>
          <p:cNvGrpSpPr/>
          <p:nvPr/>
        </p:nvGrpSpPr>
        <p:grpSpPr>
          <a:xfrm>
            <a:off x="762000" y="1524000"/>
            <a:ext cx="4762500" cy="1905150"/>
            <a:chOff x="762000" y="1524000"/>
            <a:chExt cx="4762500" cy="1905150"/>
          </a:xfrm>
        </p:grpSpPr>
        <p:sp>
          <p:nvSpPr>
            <p:cNvPr id="106" name="Google Shape;106;p3"/>
            <p:cNvSpPr txBox="1"/>
            <p:nvPr/>
          </p:nvSpPr>
          <p:spPr>
            <a:xfrm>
              <a:off x="762000" y="152400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1" i="0" lang="en-US" sz="4000" u="none" cap="none" strike="noStrike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2 LA DÉMO EN DIRECT</a:t>
              </a:r>
              <a:endParaRPr b="1" i="0" sz="40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3"/>
            <p:cNvSpPr txBox="1"/>
            <p:nvPr/>
          </p:nvSpPr>
          <p:spPr>
            <a:xfrm>
              <a:off x="762000" y="2381250"/>
              <a:ext cx="47625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F1F5F9"/>
                  </a:solidFill>
                  <a:latin typeface="Calibri"/>
                  <a:ea typeface="Calibri"/>
                  <a:cs typeface="Calibri"/>
                  <a:sym typeface="Calibri"/>
                </a:rPr>
                <a:t>Découvrez le moteur CliNER en action</a:t>
              </a:r>
              <a:endParaRPr b="1" i="0" sz="1800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Explorez l'interface interactive pour l'extraction d'entités cliniques (NER) et l'analyse de protocoles en temps réel.</a:t>
              </a:r>
              <a:endParaRPr b="0" i="0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" name="Google Shape;108;p3"/>
          <p:cNvGrpSpPr/>
          <p:nvPr/>
        </p:nvGrpSpPr>
        <p:grpSpPr>
          <a:xfrm>
            <a:off x="1428750" y="3714750"/>
            <a:ext cx="3429000" cy="571500"/>
            <a:chOff x="1428750" y="3714750"/>
            <a:chExt cx="3429000" cy="571500"/>
          </a:xfrm>
        </p:grpSpPr>
        <p:sp>
          <p:nvSpPr>
            <p:cNvPr id="109" name="Google Shape;109;p3"/>
            <p:cNvSpPr/>
            <p:nvPr/>
          </p:nvSpPr>
          <p:spPr>
            <a:xfrm>
              <a:off x="1428750" y="3714750"/>
              <a:ext cx="3429000" cy="571500"/>
            </a:xfrm>
            <a:prstGeom prst="roundRect">
              <a:avLst>
                <a:gd fmla="val 50000" name="adj"/>
              </a:avLst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3"/>
            <p:cNvSpPr txBox="1"/>
            <p:nvPr/>
          </p:nvSpPr>
          <p:spPr>
            <a:xfrm>
              <a:off x="1428750" y="37147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sng" cap="none" strike="noStrike">
                  <a:solidFill>
                    <a:schemeClr val="hlink"/>
                  </a:solidFill>
                  <a:latin typeface="Mate"/>
                  <a:ea typeface="Mate"/>
                  <a:cs typeface="Mate"/>
                  <a:sym typeface="Mate"/>
                  <a:hlinkClick r:id="rId3"/>
                </a:rPr>
                <a:t>Lancer l'Application Streamlit</a:t>
              </a:r>
              <a:endParaRPr b="1" i="0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3"/>
          <p:cNvGrpSpPr/>
          <p:nvPr/>
        </p:nvGrpSpPr>
        <p:grpSpPr>
          <a:xfrm>
            <a:off x="6284257" y="2004451"/>
            <a:ext cx="5135392" cy="2849088"/>
            <a:chOff x="5981700" y="1409700"/>
            <a:chExt cx="5562600" cy="3086100"/>
          </a:xfrm>
        </p:grpSpPr>
        <p:sp>
          <p:nvSpPr>
            <p:cNvPr id="112" name="Google Shape;112;p3"/>
            <p:cNvSpPr/>
            <p:nvPr/>
          </p:nvSpPr>
          <p:spPr>
            <a:xfrm>
              <a:off x="5981700" y="1409700"/>
              <a:ext cx="5562600" cy="3086100"/>
            </a:xfrm>
            <a:prstGeom prst="roundRect">
              <a:avLst>
                <a:gd fmla="val 4938" name="adj"/>
              </a:avLst>
            </a:prstGeom>
            <a:solidFill>
              <a:srgbClr val="00152F"/>
            </a:solidFill>
            <a:ln cap="flat" cmpd="sng" w="17575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3" name="Google Shape;113;p3"/>
            <p:cNvPicPr preferRelativeResize="0"/>
            <p:nvPr/>
          </p:nvPicPr>
          <p:blipFill rotWithShape="1">
            <a:blip r:embed="rId4">
              <a:alphaModFix/>
            </a:blip>
            <a:srcRect b="0" l="10951" r="10943" t="0"/>
            <a:stretch/>
          </p:blipFill>
          <p:spPr>
            <a:xfrm>
              <a:off x="6096000" y="1524000"/>
              <a:ext cx="5334000" cy="2857500"/>
            </a:xfrm>
            <a:prstGeom prst="roundRect">
              <a:avLst>
                <a:gd fmla="val 4000" name="adj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>
    <mc:Choice Requires="p14">
      <p:transition spd="slow" p14:dur="1500">
        <p:pus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60f625aac_2_0"/>
          <p:cNvSpPr txBox="1"/>
          <p:nvPr/>
        </p:nvSpPr>
        <p:spPr>
          <a:xfrm>
            <a:off x="2921550" y="1110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rgbClr val="00D2FF"/>
                </a:solidFill>
                <a:latin typeface="Arial"/>
                <a:ea typeface="Arial"/>
                <a:cs typeface="Arial"/>
                <a:sym typeface="Arial"/>
              </a:rPr>
              <a:t>VIDEO DE PRESENTATION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g3f60f625aac_2_0" title="CliNER — Clinical NER - Google Chrome 2026-07-31 14-53-48.mp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9274" y="573162"/>
            <a:ext cx="10193124" cy="571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13cbdbc11f14409a_0_51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3 Architecture logique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Google Shape;125;h13cbdbc11f14409a_0_5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7038" y="1012435"/>
            <a:ext cx="11077575" cy="542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prism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3 Circuit de la donnée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iner_s5_img3.jpg"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69000" y="950760"/>
            <a:ext cx="7503267" cy="5602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prism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 txBox="1"/>
          <p:nvPr/>
        </p:nvSpPr>
        <p:spPr>
          <a:xfrm>
            <a:off x="731520" y="365760"/>
            <a:ext cx="105156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4 BENCHMARK DE PERFORMANCE NER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Évaluation comparative sur le Gold Standard CHIA (Dataset Médical d'Éligibilité)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1068838" y="4231751"/>
            <a:ext cx="3108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🎯 PRÉCISION MÉDICALE MAXIMISÉE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63,0 % (+19 pts)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8" name="Google Shape;138;p8"/>
          <p:cNvGraphicFramePr/>
          <p:nvPr/>
        </p:nvGraphicFramePr>
        <p:xfrm>
          <a:off x="405945" y="11493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{5F4D1209-880B-4911-8CF3-B04CC21DB36C}</a:tableStyleId>
              </a:tblPr>
              <a:tblGrid>
                <a:gridCol w="1364550"/>
                <a:gridCol w="682250"/>
                <a:gridCol w="682250"/>
                <a:gridCol w="682250"/>
                <a:gridCol w="10233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MODÈLE ÉVALUÉ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PRÉCISION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RAPPEL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SCORE F1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GAIN OPÉRATIONNEL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0375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8FAFC"/>
                          </a:solidFill>
                        </a:rPr>
                        <a:t>Dictionary Floor (Règles &amp; Lexique)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27,0 %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36,0 %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0,31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Baseline naïve (lexicale)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0E2334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8FAFC"/>
                          </a:solidFill>
                        </a:rPr>
                        <a:t>Qwen 2.5 8B (Zero-Shot natif)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44,0 %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52,0 %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0,48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b="0" lang="en-US" sz="1050" u="none" cap="none" strike="noStrike">
                          <a:solidFill>
                            <a:srgbClr val="F8FAFC"/>
                          </a:solidFill>
                        </a:rPr>
                        <a:t>LLM généraliste non spécialisé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22A3E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Qwen 2.5 7B + LoRA (Notre Modèle)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63,0 %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2D3EE"/>
                          </a:solidFill>
                        </a:rPr>
                        <a:t>54,0 %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0,58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34D399"/>
                          </a:solidFill>
                        </a:rPr>
                        <a:t>🏆 Champion (+10 pts F1 / +19 pts Préc.)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16465F"/>
                    </a:solidFill>
                  </a:tcPr>
                </a:tc>
              </a:tr>
            </a:tbl>
          </a:graphicData>
        </a:graphic>
      </p:graphicFrame>
      <p:sp>
        <p:nvSpPr>
          <p:cNvPr id="139" name="Google Shape;139;p8"/>
          <p:cNvSpPr txBox="1"/>
          <p:nvPr/>
        </p:nvSpPr>
        <p:spPr>
          <a:xfrm>
            <a:off x="1000288" y="4966726"/>
            <a:ext cx="3246000" cy="7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💾 ARCHITECTURE FINOPS QLoRA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40 Mo d'Adaptateur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731525" y="6005600"/>
            <a:ext cx="11010000" cy="5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 F1-Score de 58 % en Named Entity Recognition médical peut sembler modeste dans l'absolu, mais il s'agit en réalité d'une excellente performance : dans la littérature scientifique biomédicale (corpus NCBI Disease et BioNLP), l'accord inter-annotateurs entre médecins experts humains plafonne entre 60 % et 70 %.</a:t>
            </a:r>
            <a:endParaRPr b="0" i="0" sz="13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1" name="Google Shape;141;p8"/>
          <p:cNvGraphicFramePr/>
          <p:nvPr/>
        </p:nvGraphicFramePr>
        <p:xfrm>
          <a:off x="6257113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{913EC2CF-281C-4834-AAE7-510C893EDFA9}</a:tableStyleId>
              </a:tblPr>
              <a:tblGrid>
                <a:gridCol w="2011675"/>
                <a:gridCol w="1005850"/>
                <a:gridCol w="1005850"/>
                <a:gridCol w="1005850"/>
              </a:tblGrid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22D3EE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CATÉGORIE CLINIQUE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22D3EE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PRÉCISION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22D3EE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RAPPEL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22D3EE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SCORE F1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Drug (Médicaments)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74,6 %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80,0 %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34D39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77,2 %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Condition (Pathologies)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75,0 %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69,2 %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34D39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72,0 %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Device (Dispositifs)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90,9 %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900" u="none" cap="none" strike="noStrike">
                          <a:solidFill>
                            <a:srgbClr val="F8FAFC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58,8 %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 u="none" cap="none" strike="noStrike">
                          <a:solidFill>
                            <a:srgbClr val="34D39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71,4 %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Procedure (Interventions)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63,9 %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54,8 %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59,0 %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Measurement (Examens)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40,9 %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54,5 %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46,8 %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Value (Valeurs/Seuils)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54,5 %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17,1 %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26,1 %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Temporal (Temporalités)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36,4 %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12,9 %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19,0 %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Person (Démographie)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22,2 %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12,5 %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16,0 %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98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Observation (Symptômes)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20,0 %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3,8 %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50" u="none" cap="none" strike="noStrike">
                          <a:solidFill>
                            <a:srgbClr val="E2E8F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6,5 %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42" name="Google Shape;14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00389" y="1096850"/>
            <a:ext cx="6892084" cy="48177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flip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A14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0"/>
          <p:cNvSpPr txBox="1"/>
          <p:nvPr/>
        </p:nvSpPr>
        <p:spPr>
          <a:xfrm>
            <a:off x="731520" y="365760"/>
            <a:ext cx="105156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5 PERSPECTIVES &amp; INDUSTRIALISATION MLOPS / LLMOPS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Trajectoire de Déploiement : CI/CD Automatisée, Observabilité du Drift &amp; FinOps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0"/>
          <p:cNvSpPr/>
          <p:nvPr/>
        </p:nvSpPr>
        <p:spPr>
          <a:xfrm>
            <a:off x="7315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0"/>
          <p:cNvSpPr txBox="1"/>
          <p:nvPr/>
        </p:nvSpPr>
        <p:spPr>
          <a:xfrm>
            <a:off x="896112" y="1600200"/>
            <a:ext cx="3054000" cy="3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01 | INTÉGRATION CONTINUE (CI/CD)</a:t>
            </a:r>
            <a:endParaRPr b="1" i="0" sz="13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1" i="0" sz="13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Quality Gate &amp; Tests Automatisés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Pipeline GitHub Actions &amp; PyTest</a:t>
            </a:r>
            <a:endParaRPr b="1" i="0" sz="140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Conteneurisation Multi-Stage</a:t>
            </a:r>
            <a:endParaRPr b="1" i="0" sz="140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Évaluation RAGAs en Intégration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0"/>
          <p:cNvSpPr/>
          <p:nvPr/>
        </p:nvSpPr>
        <p:spPr>
          <a:xfrm>
            <a:off x="43891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905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0"/>
          <p:cNvSpPr txBox="1"/>
          <p:nvPr/>
        </p:nvSpPr>
        <p:spPr>
          <a:xfrm>
            <a:off x="4553712" y="1600200"/>
            <a:ext cx="3054000" cy="3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02 | CONTINUOUS TRAINING (CT) &amp; DRIFT</a:t>
            </a:r>
            <a:endParaRPr b="1" i="0" sz="12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t/>
            </a:r>
            <a:endParaRPr b="1" i="0" sz="12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Observabilité Sémantique &amp; Dérive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Détection du Data Drift (Wasserstein)</a:t>
            </a:r>
            <a:endParaRPr b="1" i="0" sz="1300" u="none" cap="none" strike="noStrike">
              <a:solidFill>
                <a:srgbClr val="34D39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1" i="0" sz="1300" u="none" cap="none" strike="noStrike">
              <a:solidFill>
                <a:srgbClr val="34D39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Réentraînement LoRA Déclenché</a:t>
            </a:r>
            <a:endParaRPr b="1" i="0" sz="1300" u="none" cap="none" strike="noStrike">
              <a:solidFill>
                <a:srgbClr val="34D39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1" i="0" sz="1300" u="none" cap="none" strike="noStrike">
              <a:solidFill>
                <a:srgbClr val="34D39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rPr>
              <a:t>• Télémétrie MLflow sur Cloud Run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0"/>
          <p:cNvSpPr/>
          <p:nvPr/>
        </p:nvSpPr>
        <p:spPr>
          <a:xfrm>
            <a:off x="8046720" y="1463040"/>
            <a:ext cx="3383280" cy="4389120"/>
          </a:xfrm>
          <a:prstGeom prst="roundRect">
            <a:avLst>
              <a:gd fmla="val 16667" name="adj"/>
            </a:avLst>
          </a:prstGeom>
          <a:solidFill>
            <a:srgbClr val="0E2A3A"/>
          </a:solidFill>
          <a:ln cap="flat" cmpd="sng" w="12700">
            <a:solidFill>
              <a:srgbClr val="1632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0"/>
          <p:cNvSpPr txBox="1"/>
          <p:nvPr/>
        </p:nvSpPr>
        <p:spPr>
          <a:xfrm>
            <a:off x="8211437" y="1600200"/>
            <a:ext cx="30540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03 | FINOPS &amp; IA SOUVERAINE</a:t>
            </a:r>
            <a:endParaRPr b="1" i="0" sz="13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1" i="0" sz="135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8FAFC"/>
                </a:solidFill>
                <a:latin typeface="Arial"/>
                <a:ea typeface="Arial"/>
                <a:cs typeface="Arial"/>
                <a:sym typeface="Arial"/>
              </a:rPr>
              <a:t>Contrôle des Coûts, IaC &amp; Secret Médical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Infrastructure as Code (Terraform)</a:t>
            </a:r>
            <a:endParaRPr b="1" i="0" sz="140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Auto-Kill AWS EC2 (Boto3 FinOps)</a:t>
            </a:r>
            <a:endParaRPr b="1" i="0" sz="140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22D3E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Arial"/>
                <a:ea typeface="Arial"/>
                <a:cs typeface="Arial"/>
                <a:sym typeface="Arial"/>
              </a:rPr>
              <a:t>• Déploiement On-Premise Sécurisé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g3f5ebb8600e_2_92"/>
          <p:cNvPicPr preferRelativeResize="0"/>
          <p:nvPr/>
        </p:nvPicPr>
        <p:blipFill rotWithShape="1">
          <a:blip r:embed="rId3">
            <a:alphaModFix/>
          </a:blip>
          <a:srcRect b="20" l="0" r="0" t="20"/>
          <a:stretch/>
        </p:blipFill>
        <p:spPr>
          <a:xfrm>
            <a:off x="3648701" y="1115488"/>
            <a:ext cx="4944900" cy="2802000"/>
          </a:xfrm>
          <a:prstGeom prst="roundRect">
            <a:avLst>
              <a:gd fmla="val 5228" name="adj"/>
            </a:avLst>
          </a:prstGeom>
          <a:noFill/>
          <a:ln>
            <a:noFill/>
          </a:ln>
        </p:spPr>
      </p:pic>
      <p:sp>
        <p:nvSpPr>
          <p:cNvPr id="160" name="Google Shape;160;g3f5ebb8600e_2_92"/>
          <p:cNvSpPr txBox="1"/>
          <p:nvPr/>
        </p:nvSpPr>
        <p:spPr>
          <a:xfrm>
            <a:off x="1783300" y="3990150"/>
            <a:ext cx="86757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</a:pPr>
            <a:r>
              <a:rPr b="1" i="0" lang="en-US" sz="4000" u="none" cap="none" strike="noStrike">
                <a:solidFill>
                  <a:srgbClr val="00D2FF"/>
                </a:solidFill>
                <a:latin typeface="Montserrat"/>
                <a:ea typeface="Montserrat"/>
                <a:cs typeface="Montserrat"/>
                <a:sym typeface="Montserrat"/>
              </a:rPr>
              <a:t>MERCI</a:t>
            </a:r>
            <a:endParaRPr b="1" i="0" sz="7400" u="none" cap="none" strike="noStrike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g3f5ebb8600e_2_92"/>
          <p:cNvSpPr txBox="1"/>
          <p:nvPr/>
        </p:nvSpPr>
        <p:spPr>
          <a:xfrm>
            <a:off x="3042100" y="6276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SOUTENANCE CDSD | 08 OCTOBRE 2026 | BLOC 6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