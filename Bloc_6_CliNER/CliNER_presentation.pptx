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5" roundtripDataSignature="AMtx7mid+clDDkNrFtibLV6SL/Qfin8c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6A1C287-B342-465F-B4A4-0F307ADDF34E}">
  <a:tblStyle styleId="{56A1C287-B342-465F-B4A4-0F307ADDF34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f60f625aac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f60f625aac_2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5ebb8600e_2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f5ebb8600e_2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linical-protocols-standardization.onrender.com" TargetMode="External"/><Relationship Id="rId4" Type="http://schemas.openxmlformats.org/officeDocument/2006/relationships/hyperlink" Target="https://clinical-protocols-standardization.onrender.com" TargetMode="External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drive.google.com/file/d/17VvWFkSVFY9oTJwOOuX9ZSb_iLslAbaQ/view" TargetMode="External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20" l="0" r="0" t="20"/>
          <a:stretch/>
        </p:blipFill>
        <p:spPr>
          <a:xfrm>
            <a:off x="5759300" y="1883000"/>
            <a:ext cx="5143500" cy="2914800"/>
          </a:xfrm>
          <a:prstGeom prst="roundRect">
            <a:avLst>
              <a:gd fmla="val 5228" name="adj"/>
            </a:avLst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762000" y="1524000"/>
            <a:ext cx="4953000" cy="369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D2FF"/>
                </a:solidFill>
              </a:rPr>
              <a:t>DEMO DAY • 03 AOÛT 2026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AIFS01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</a:pPr>
            <a:r>
              <a:rPr b="1" lang="en-US" sz="34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CliNER : extraction d’entitées médicales à partir de protocoles cliniques</a:t>
            </a:r>
            <a:endParaRPr b="1" sz="34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Présenté par :</a:t>
            </a:r>
            <a:endParaRPr b="1" sz="12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Patrick Mouliom • Christopher Gilleron • Jérémie Becker</a:t>
            </a:r>
            <a:b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Arnaud Hoarau • Karim Atebata</a:t>
            </a:r>
            <a:endParaRPr b="0">
              <a:solidFill>
                <a:srgbClr val="CBD5E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731520" y="1714500"/>
            <a:ext cx="4572000" cy="438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Le Chaos Médical</a:t>
            </a:r>
            <a:endParaRPr b="1" sz="26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But : comparer des essais cliniques</a:t>
            </a:r>
            <a:b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Challenge : </a:t>
            </a: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La source officielle (ClinicalTrials)  = JSON, hétérogènes, incompl</a:t>
            </a: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ets</a:t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⇒L'information cruciale est cachée dans des PDF de 100 voir 200 pages</a:t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⇒ impossible de </a:t>
            </a:r>
            <a:r>
              <a:rPr lang="en-US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vérifier si 2 essais cliniques sur un même médicament ont été réalisés dans des conditions comparables</a:t>
            </a:r>
            <a:endParaRPr sz="18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1. Le Problème &amp; Le MVP</a:t>
            </a:r>
            <a:endParaRPr/>
          </a:p>
        </p:txBody>
      </p:sp>
      <p:sp>
        <p:nvSpPr>
          <p:cNvPr id="92" name="Google Shape;92;p2"/>
          <p:cNvSpPr txBox="1"/>
          <p:nvPr/>
        </p:nvSpPr>
        <p:spPr>
          <a:xfrm>
            <a:off x="5227675" y="1633275"/>
            <a:ext cx="6400200" cy="438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Notre Solution (MVP)</a:t>
            </a:r>
            <a:endParaRPr b="1" sz="26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Named Entities R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ecognition 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(Qwen Fine-Tuné)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extraction d’informations médicales standardisées + filtres</a:t>
            </a:r>
            <a:endParaRPr b="1" sz="17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Recherche Augmentée (RAG Biobert) :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 Interrogation instantanée des protocoles cliniques en langage naturel.</a:t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Gold standard : 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Chia, 1000 études cliniques annotées, 144 avec protocoles pdf, divisés en train (fine tuning) et test sets</a:t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Benchmark NER :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 Biobert + Qwen fine-tuné </a:t>
            </a:r>
            <a:r>
              <a:rPr b="1" lang="en-US" sz="17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VS</a:t>
            </a:r>
            <a:r>
              <a:rPr lang="en-US" sz="17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 TF-IDF + segmentation Qwen + récupération entitées candidates (SBert)</a:t>
            </a:r>
            <a:endParaRPr sz="17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" name="Google Shape;9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15425" y="5414724"/>
            <a:ext cx="4978649" cy="113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:fade thruBlk="1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3"/>
          <p:cNvGrpSpPr/>
          <p:nvPr/>
        </p:nvGrpSpPr>
        <p:grpSpPr>
          <a:xfrm>
            <a:off x="762000" y="1524000"/>
            <a:ext cx="4762500" cy="1905150"/>
            <a:chOff x="762000" y="1524000"/>
            <a:chExt cx="4762500" cy="1905150"/>
          </a:xfrm>
        </p:grpSpPr>
        <p:sp>
          <p:nvSpPr>
            <p:cNvPr id="99" name="Google Shape;99;p3"/>
            <p:cNvSpPr txBox="1"/>
            <p:nvPr/>
          </p:nvSpPr>
          <p:spPr>
            <a:xfrm>
              <a:off x="762000" y="1524000"/>
              <a:ext cx="4762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DÉMO EN DIRECT</a:t>
              </a:r>
              <a:endParaRPr b="1" sz="40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3"/>
            <p:cNvSpPr txBox="1"/>
            <p:nvPr/>
          </p:nvSpPr>
          <p:spPr>
            <a:xfrm>
              <a:off x="762000" y="2381250"/>
              <a:ext cx="47625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1F5F9"/>
                  </a:solidFill>
                  <a:latin typeface="Calibri"/>
                  <a:ea typeface="Calibri"/>
                  <a:cs typeface="Calibri"/>
                  <a:sym typeface="Calibri"/>
                </a:rPr>
                <a:t>Découvrez le moteur CliNER en action</a:t>
              </a:r>
              <a:endParaRPr b="1" sz="18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ctr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94A3B8"/>
                  </a:solidFill>
                  <a:latin typeface="Calibri"/>
                  <a:ea typeface="Calibri"/>
                  <a:cs typeface="Calibri"/>
                  <a:sym typeface="Calibri"/>
                </a:rPr>
                <a:t>Explorez l'interface interactive pour l'extraction d'entités cliniques (NER) et l'analyse de protocoles en temps réel.</a:t>
              </a:r>
              <a:endParaRPr b="0" sz="14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3"/>
          <p:cNvGrpSpPr/>
          <p:nvPr/>
        </p:nvGrpSpPr>
        <p:grpSpPr>
          <a:xfrm>
            <a:off x="1428750" y="3714750"/>
            <a:ext cx="3429000" cy="571500"/>
            <a:chOff x="1428750" y="3714750"/>
            <a:chExt cx="3429000" cy="571500"/>
          </a:xfrm>
        </p:grpSpPr>
        <p:sp>
          <p:nvSpPr>
            <p:cNvPr id="102" name="Google Shape;102;p3"/>
            <p:cNvSpPr/>
            <p:nvPr/>
          </p:nvSpPr>
          <p:spPr>
            <a:xfrm>
              <a:off x="1428750" y="3714750"/>
              <a:ext cx="3429000" cy="571500"/>
            </a:xfrm>
            <a:prstGeom prst="roundRect">
              <a:avLst>
                <a:gd fmla="val 50000" name="adj"/>
              </a:avLst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3"/>
            <p:cNvSpPr txBox="1"/>
            <p:nvPr/>
          </p:nvSpPr>
          <p:spPr>
            <a:xfrm>
              <a:off x="1428750" y="3714750"/>
              <a:ext cx="342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000B18"/>
                  </a:solidFill>
                  <a:uFill>
                    <a:noFill/>
                  </a:uFill>
                  <a:latin typeface="Material Icons"/>
                  <a:ea typeface="Material Icons"/>
                  <a:cs typeface="Material Icons"/>
                  <a:sym typeface="Material Icons"/>
                  <a:hlinkClick r:id="rId3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rocket_launch</a:t>
              </a:r>
              <a:r>
                <a:rPr b="1" lang="en-US" sz="1600">
                  <a:solidFill>
                    <a:srgbClr val="000B18"/>
                  </a:solidFill>
                  <a:uFill>
                    <a:noFill/>
                  </a:uFill>
                  <a:latin typeface="Calibri"/>
                  <a:ea typeface="Calibri"/>
                  <a:cs typeface="Calibri"/>
                  <a:sym typeface="Calibri"/>
                  <a:hlinkClick r:id="rId4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 Lancer l'Application Streamlit</a:t>
              </a:r>
              <a:endParaRPr b="1" sz="16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" name="Google Shape;104;p3"/>
          <p:cNvGrpSpPr/>
          <p:nvPr/>
        </p:nvGrpSpPr>
        <p:grpSpPr>
          <a:xfrm>
            <a:off x="5626582" y="1705951"/>
            <a:ext cx="5135392" cy="2849088"/>
            <a:chOff x="5981700" y="1409700"/>
            <a:chExt cx="5562600" cy="3086100"/>
          </a:xfrm>
        </p:grpSpPr>
        <p:sp>
          <p:nvSpPr>
            <p:cNvPr id="105" name="Google Shape;105;p3"/>
            <p:cNvSpPr/>
            <p:nvPr/>
          </p:nvSpPr>
          <p:spPr>
            <a:xfrm>
              <a:off x="5981700" y="1409700"/>
              <a:ext cx="5562600" cy="3086100"/>
            </a:xfrm>
            <a:prstGeom prst="roundRect">
              <a:avLst>
                <a:gd fmla="val 4938" name="adj"/>
              </a:avLst>
            </a:prstGeom>
            <a:solidFill>
              <a:srgbClr val="00152F"/>
            </a:solidFill>
            <a:ln cap="flat" cmpd="sng" w="17575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06" name="Google Shape;106;p3"/>
            <p:cNvPicPr preferRelativeResize="0"/>
            <p:nvPr/>
          </p:nvPicPr>
          <p:blipFill rotWithShape="1">
            <a:blip r:embed="rId5">
              <a:alphaModFix/>
            </a:blip>
            <a:srcRect b="0" l="10951" r="10943" t="0"/>
            <a:stretch/>
          </p:blipFill>
          <p:spPr>
            <a:xfrm>
              <a:off x="6096000" y="1524000"/>
              <a:ext cx="5334000" cy="2857500"/>
            </a:xfrm>
            <a:prstGeom prst="roundRect">
              <a:avLst>
                <a:gd fmla="val 4000" name="adj"/>
              </a:avLst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>
    <mc:Choice Requires="p14">
      <p:transition spd="slow" p14:dur="1500">
        <p:pus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60f625aac_2_0"/>
          <p:cNvSpPr txBox="1"/>
          <p:nvPr/>
        </p:nvSpPr>
        <p:spPr>
          <a:xfrm>
            <a:off x="2921550" y="1110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rgbClr val="00D2FF"/>
                </a:solidFill>
              </a:rPr>
              <a:t>VIDEO DE PRESENTATION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12" name="Google Shape;112;g3f60f625aac_2_0" title="CliNER — Clinical NER - Google Chrome 2026-07-31 14-53-48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9274" y="573162"/>
            <a:ext cx="10193124" cy="571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Architecture et Circuit de la </a:t>
            </a: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donnée</a:t>
            </a:r>
            <a:r>
              <a:rPr b="1" lang="en-US" sz="32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</p:txBody>
      </p:sp>
      <p:pic>
        <p:nvPicPr>
          <p:cNvPr id="118" name="Google Shape;118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69000" y="950760"/>
            <a:ext cx="7503267" cy="5602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1500">
        <p14:prism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22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D3EE"/>
                </a:solidFill>
              </a:defRPr>
            </a:pPr>
            <a:r>
              <a:t>BENCHMARK DE PERFORMANCE NER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</a:defRPr>
            </a:pPr>
            <a:r>
              <a:t>Évaluation comparative sur le Gold Standard CHIA (Dataset Médical d'Éligibilité)</a:t>
            </a:r>
          </a:p>
        </p:txBody>
      </p:sp>
      <p:graphicFrame>
        <p:nvGraphicFramePr>
          <p:cNvPr id="125" name="Table 124"/>
          <p:cNvGraphicFramePr>
            <a:graphicFrameLocks noGrp="1"/>
          </p:cNvGraphicFramePr>
          <p:nvPr/>
        </p:nvGraphicFramePr>
        <p:xfrm>
          <a:off x="731520" y="13716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  <a:gridCol w="1645920"/>
                <a:gridCol w="246888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MODÈLE ÉVALUÉ</a:t>
                      </a:r>
                    </a:p>
                  </a:txBody>
                  <a:tcPr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PRÉCISION</a:t>
                      </a:r>
                    </a:p>
                  </a:txBody>
                  <a:tcPr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RAPPEL</a:t>
                      </a:r>
                    </a:p>
                  </a:txBody>
                  <a:tcPr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SCORE F1</a:t>
                      </a:r>
                    </a:p>
                  </a:txBody>
                  <a:tcPr>
                    <a:solidFill>
                      <a:srgbClr val="1037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22D3EE"/>
                          </a:solidFill>
                        </a:defRPr>
                      </a:pPr>
                      <a:r>
                        <a:t>GAIN OPÉRATIONNEL</a:t>
                      </a:r>
                    </a:p>
                  </a:txBody>
                  <a:tcPr>
                    <a:solidFill>
                      <a:srgbClr val="10375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Dictionary Floor (Règles &amp; Lexique)</a:t>
                      </a:r>
                    </a:p>
                  </a:txBody>
                  <a:tcPr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27,0 %</a:t>
                      </a:r>
                    </a:p>
                  </a:txBody>
                  <a:tcPr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36,0 %</a:t>
                      </a:r>
                    </a:p>
                  </a:txBody>
                  <a:tcPr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0,31</a:t>
                      </a:r>
                    </a:p>
                  </a:txBody>
                  <a:tcPr>
                    <a:solidFill>
                      <a:srgbClr val="0E233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Baseline naïve (lexicale)</a:t>
                      </a:r>
                    </a:p>
                  </a:txBody>
                  <a:tcPr>
                    <a:solidFill>
                      <a:srgbClr val="0E23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Qwen 2.5 8B (Zero-Shot natif)</a:t>
                      </a:r>
                    </a:p>
                  </a:txBody>
                  <a:tcPr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44,0 %</a:t>
                      </a:r>
                    </a:p>
                  </a:txBody>
                  <a:tcPr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52,0 %</a:t>
                      </a:r>
                    </a:p>
                  </a:txBody>
                  <a:tcPr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0,48</a:t>
                      </a:r>
                    </a:p>
                  </a:txBody>
                  <a:tcPr>
                    <a:solidFill>
                      <a:srgbClr val="12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0">
                          <a:solidFill>
                            <a:srgbClr val="F8FAFC"/>
                          </a:solidFill>
                        </a:defRPr>
                      </a:pPr>
                      <a:r>
                        <a:t>LLM généraliste non spécialisé</a:t>
                      </a:r>
                    </a:p>
                  </a:txBody>
                  <a:tcPr>
                    <a:solidFill>
                      <a:srgbClr val="122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2D3EE"/>
                          </a:solidFill>
                        </a:defRPr>
                      </a:pPr>
                      <a:r>
                        <a:t>Qwen 2.5 7B + LoRA (Notre Modèle)</a:t>
                      </a:r>
                    </a:p>
                  </a:txBody>
                  <a:tcPr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63,0 %</a:t>
                      </a:r>
                    </a:p>
                  </a:txBody>
                  <a:tcPr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2D3EE"/>
                          </a:solidFill>
                        </a:defRPr>
                      </a:pPr>
                      <a:r>
                        <a:t>54,0 %</a:t>
                      </a:r>
                    </a:p>
                  </a:txBody>
                  <a:tcPr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0,58</a:t>
                      </a:r>
                    </a:p>
                  </a:txBody>
                  <a:tcPr>
                    <a:solidFill>
                      <a:srgbClr val="16465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4D399"/>
                          </a:solidFill>
                        </a:defRPr>
                      </a:pPr>
                      <a:r>
                        <a:t>🏆 Champion (+10 pts F1 / +19 pts Préc.)</a:t>
                      </a:r>
                    </a:p>
                  </a:txBody>
                  <a:tcPr>
                    <a:solidFill>
                      <a:srgbClr val="16465F"/>
                    </a:solidFill>
                  </a:tcPr>
                </a:tc>
              </a:tr>
            </a:tbl>
          </a:graphicData>
        </a:graphic>
      </p:graphicFrame>
      <p:sp>
        <p:nvSpPr>
          <p:cNvPr id="126" name="Rounded Rectangle 125"/>
          <p:cNvSpPr/>
          <p:nvPr/>
        </p:nvSpPr>
        <p:spPr>
          <a:xfrm>
            <a:off x="731520" y="3749039"/>
            <a:ext cx="3383280" cy="2011680"/>
          </a:xfrm>
          <a:prstGeom prst="roundRect">
            <a:avLst/>
          </a:prstGeom>
          <a:solidFill>
            <a:srgbClr val="0E2A3A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68680" y="3840479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2D3EE"/>
                </a:solidFill>
              </a:defRPr>
            </a:pPr>
            <a:r>
              <a:t>🎯 PRÉCISION MÉDICALE MAXIMISÉE</a:t>
            </a:r>
          </a:p>
          <a:p>
            <a:pPr>
              <a:spcBef>
                <a:spcPts val="300"/>
              </a:spcBef>
              <a:defRPr sz="1500" b="1">
                <a:solidFill>
                  <a:srgbClr val="34D399"/>
                </a:solidFill>
              </a:defRPr>
            </a:pPr>
            <a:r>
              <a:t>63,0 % (+19 pts)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Élimination des fausses détections : sur 100 entités extraites par le modèle LoRA, 63 sont strictement conformes au consensus médical (vs 44 pour Qwen brut).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389120" y="3749039"/>
            <a:ext cx="3383280" cy="2011680"/>
          </a:xfrm>
          <a:prstGeom prst="roundRect">
            <a:avLst/>
          </a:prstGeom>
          <a:solidFill>
            <a:srgbClr val="0E2A3A"/>
          </a:solidFill>
          <a:ln w="12700">
            <a:solidFill>
              <a:srgbClr val="16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26280" y="3840479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2D3EE"/>
                </a:solidFill>
              </a:defRPr>
            </a:pPr>
            <a:r>
              <a:t>⚡ LATENCE &amp; DÉBIT GPU (vLLM)</a:t>
            </a:r>
          </a:p>
          <a:p>
            <a:pPr>
              <a:spcBef>
                <a:spcPts val="300"/>
              </a:spcBef>
              <a:defRPr sz="1500" b="1">
                <a:solidFill>
                  <a:srgbClr val="F8FAFC"/>
                </a:solidFill>
              </a:defRPr>
            </a:pPr>
            <a:r>
              <a:t>75 tokens / sec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Moteur d'inférence haute performance vLLM (PagedAttention) : temps moyen d'inférence &lt; 0,5s par paragraphe d'éligibilité sur carte L4.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046720" y="3749039"/>
            <a:ext cx="3383280" cy="2011680"/>
          </a:xfrm>
          <a:prstGeom prst="roundRect">
            <a:avLst/>
          </a:prstGeom>
          <a:solidFill>
            <a:srgbClr val="0E2A3A"/>
          </a:solidFill>
          <a:ln w="12700">
            <a:solidFill>
              <a:srgbClr val="16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183880" y="3840479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2D3EE"/>
                </a:solidFill>
              </a:defRPr>
            </a:pPr>
            <a:r>
              <a:t>💾 ARCHITECTURE FINOPS QLoRA</a:t>
            </a:r>
          </a:p>
          <a:p>
            <a:pPr>
              <a:spcBef>
                <a:spcPts val="300"/>
              </a:spcBef>
              <a:defRPr sz="1500" b="1">
                <a:solidFill>
                  <a:srgbClr val="F8FAFC"/>
                </a:solidFill>
              </a:defRPr>
            </a:pPr>
            <a:r>
              <a:t>40 Mo d'Adaptateur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</a:defRPr>
            </a:pPr>
            <a:r>
              <a:t>Poids LoRA ultra-légers (40 Mo au lieu de 14 Go) greffés à chaud sur le cerveau de base. Coût d'entraînement et de stockage divisé par plus de 50.</a:t>
            </a:r>
          </a:p>
        </p:txBody>
      </p:sp>
    </p:spTree>
  </p:cSld>
  <p:clrMapOvr>
    <a:masterClrMapping/>
  </p:clrMapOvr>
  <mc:AlternateContent>
    <mc:Choice Requires="p14">
      <p:transition spd="slow" p14:dur="1500">
        <p14:flip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33"/>
          <p:cNvSpPr/>
          <p:nvPr/>
        </p:nvSpPr>
        <p:spPr>
          <a:xfrm>
            <a:off x="0" y="0"/>
            <a:ext cx="12191675" cy="685800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2D3EE"/>
                </a:solidFill>
              </a:defRPr>
            </a:pPr>
            <a:r>
              <a:t>PERSPECTIVES &amp; INDUSTRIALISATION MLOPS</a:t>
            </a:r>
          </a:p>
          <a:p>
            <a:pPr>
              <a:spcBef>
                <a:spcPts val="300"/>
              </a:spcBef>
              <a:defRPr sz="1300">
                <a:solidFill>
                  <a:srgbClr val="94A3B8"/>
                </a:solidFill>
              </a:defRPr>
            </a:pPr>
            <a:r>
              <a:t>Trajectoire de Déploiement : CI/CD Automatisée, Observabilité du Drift &amp; FinOps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31520" y="1463040"/>
            <a:ext cx="3383280" cy="4389120"/>
          </a:xfrm>
          <a:prstGeom prst="roundRect">
            <a:avLst/>
          </a:prstGeom>
          <a:solidFill>
            <a:srgbClr val="0E2A3A"/>
          </a:solidFill>
          <a:ln w="12700">
            <a:solidFill>
              <a:srgbClr val="16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96112" y="16002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2D3EE"/>
                </a:solidFill>
              </a:defRPr>
            </a:pPr>
            <a:r>
              <a:t>01 | INTÉGRATION CONTINUE (CI/CD)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Quality Gate &amp; Tests Automatisés</a:t>
            </a:r>
          </a:p>
          <a:p>
            <a:pPr>
              <a:spcBef>
                <a:spcPts val="400"/>
              </a:spcBef>
              <a:defRPr sz="1000" b="1">
                <a:solidFill>
                  <a:srgbClr val="22D3EE"/>
                </a:solidFill>
              </a:defRPr>
            </a:pPr>
            <a:r>
              <a:t>• Pipeline GitHub Actions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Déclenchement automatique des contrôles qualité à chaque commit ou Pull Request.</a:t>
            </a:r>
          </a:p>
          <a:p>
            <a:pPr>
              <a:spcBef>
                <a:spcPts val="400"/>
              </a:spcBef>
              <a:defRPr sz="1000" b="1">
                <a:solidFill>
                  <a:srgbClr val="22D3EE"/>
                </a:solidFill>
              </a:defRPr>
            </a:pPr>
            <a:r>
              <a:t>• Suite PyTest Validée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9 tests unitaires et d'intégration validant le scraping, le parsing JSON et la robustesse de l'API.</a:t>
            </a:r>
          </a:p>
          <a:p>
            <a:pPr>
              <a:spcBef>
                <a:spcPts val="400"/>
              </a:spcBef>
              <a:defRPr sz="1000" b="1">
                <a:solidFill>
                  <a:srgbClr val="22D3EE"/>
                </a:solidFill>
              </a:defRPr>
            </a:pPr>
            <a:r>
              <a:t>• Conteneurisation Multi-Stage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Images Docker ultra-légères (&lt; 500 Mo) séparant le frontend Streamlit des dépendances lourdes GPU.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389120" y="1463040"/>
            <a:ext cx="3383280" cy="4389120"/>
          </a:xfrm>
          <a:prstGeom prst="roundRect">
            <a:avLst/>
          </a:prstGeom>
          <a:solidFill>
            <a:srgbClr val="0E2A3A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553712" y="16002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2D3EE"/>
                </a:solidFill>
              </a:defRPr>
            </a:pPr>
            <a:r>
              <a:t>02 | CONTINUOUS TRAINING (CT)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Observabilité Pure &amp; Dérive Sémantique</a:t>
            </a:r>
          </a:p>
          <a:p>
            <a:pPr>
              <a:spcBef>
                <a:spcPts val="400"/>
              </a:spcBef>
              <a:defRPr sz="1000" b="1">
                <a:solidFill>
                  <a:srgbClr val="34D399"/>
                </a:solidFill>
              </a:defRPr>
            </a:pPr>
            <a:r>
              <a:t>• Détection du Drift (Wasserstein)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Calcul continu de la distance statistique sur les embeddings vectoriels avec seuil d'alerte strict fixé à 0.08.</a:t>
            </a:r>
          </a:p>
          <a:p>
            <a:pPr>
              <a:spcBef>
                <a:spcPts val="400"/>
              </a:spcBef>
              <a:defRPr sz="1000" b="1">
                <a:solidFill>
                  <a:srgbClr val="34D399"/>
                </a:solidFill>
              </a:defRPr>
            </a:pPr>
            <a:r>
              <a:t>• Réentraînement LoRA Déclenché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Réentraînement automatique sur instance GPU dès qu'une dérive sémantique significative est identifiée.</a:t>
            </a:r>
          </a:p>
          <a:p>
            <a:pPr>
              <a:spcBef>
                <a:spcPts val="400"/>
              </a:spcBef>
              <a:defRPr sz="1000" b="1">
                <a:solidFill>
                  <a:srgbClr val="34D399"/>
                </a:solidFill>
              </a:defRPr>
            </a:pPr>
            <a:r>
              <a:t>• Télémétrie MLflow Cloud Run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Tracking temps réel des métriques (latence, F1, cache-hits) hébergé 24h/24 sans stockage de données patient (Privacy by Design).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046720" y="1463040"/>
            <a:ext cx="3383280" cy="4389120"/>
          </a:xfrm>
          <a:prstGeom prst="roundRect">
            <a:avLst/>
          </a:prstGeom>
          <a:solidFill>
            <a:srgbClr val="0E2A3A"/>
          </a:solidFill>
          <a:ln w="12700">
            <a:solidFill>
              <a:srgbClr val="163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211312" y="1600200"/>
            <a:ext cx="305409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2D3EE"/>
                </a:solidFill>
              </a:defRPr>
            </a:pPr>
            <a:r>
              <a:t>03 | FINOPS &amp; SOUVERAINETÉ</a:t>
            </a:r>
          </a:p>
          <a:p>
            <a:pPr>
              <a:spcBef>
                <a:spcPts val="300"/>
              </a:spcBef>
              <a:spcAft>
                <a:spcPts val="800"/>
              </a:spcAft>
              <a:defRPr sz="1300" b="1">
                <a:solidFill>
                  <a:srgbClr val="F8FAFC"/>
                </a:solidFill>
              </a:defRPr>
            </a:pPr>
            <a:r>
              <a:t>Contrôle des Coûts &amp; Secret Industriel</a:t>
            </a:r>
          </a:p>
          <a:p>
            <a:pPr>
              <a:spcBef>
                <a:spcPts val="400"/>
              </a:spcBef>
              <a:defRPr sz="1000" b="1">
                <a:solidFill>
                  <a:srgbClr val="22D3EE"/>
                </a:solidFill>
              </a:defRPr>
            </a:pPr>
            <a:r>
              <a:t>• Auto-Kill AWS EC2 (Boto3)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Arrêt programmable de la machine GPU physique dès l'inactivité pour éliminer tout gaspillage budgétaire.</a:t>
            </a:r>
          </a:p>
          <a:p>
            <a:pPr>
              <a:spcBef>
                <a:spcPts val="400"/>
              </a:spcBef>
              <a:defRPr sz="1000" b="1">
                <a:solidFill>
                  <a:srgbClr val="22D3EE"/>
                </a:solidFill>
              </a:defRPr>
            </a:pPr>
            <a:r>
              <a:t>• Déploiement Sur-Site (On-Premise)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Possibilité de serving local sur serveurs hospitaliers : aucune donnée médicale sensible ne quitte le réseau interne.</a:t>
            </a:r>
          </a:p>
          <a:p>
            <a:pPr>
              <a:spcBef>
                <a:spcPts val="400"/>
              </a:spcBef>
              <a:defRPr sz="1000" b="1">
                <a:solidFill>
                  <a:srgbClr val="22D3EE"/>
                </a:solidFill>
              </a:defRPr>
            </a:pPr>
            <a:r>
              <a:t>• Cache Persistant Supabase</a:t>
            </a:r>
          </a:p>
          <a:p>
            <a:pPr>
              <a:spcBef>
                <a:spcPts val="100"/>
              </a:spcBef>
              <a:defRPr sz="880">
                <a:solidFill>
                  <a:srgbClr val="94A3B8"/>
                </a:solidFill>
              </a:defRPr>
            </a:pPr>
            <a:r>
              <a:t>40% des requêtes répétées servies en 0,2s à coût GPU nul grâce à la table clinical_ner_cache.</a:t>
            </a:r>
          </a:p>
        </p:txBody>
      </p:sp>
    </p:spTree>
  </p:cSld>
  <p:clrMapOvr>
    <a:masterClrMapping/>
  </p:clrMapOvr>
  <mc:AlternateContent>
    <mc:Choice Requires="p14">
      <p:transition spd="slow" p14:dur="15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B18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g3f5ebb8600e_2_92"/>
          <p:cNvPicPr preferRelativeResize="0"/>
          <p:nvPr/>
        </p:nvPicPr>
        <p:blipFill rotWithShape="1">
          <a:blip r:embed="rId3">
            <a:alphaModFix/>
          </a:blip>
          <a:srcRect b="20" l="0" r="0" t="20"/>
          <a:stretch/>
        </p:blipFill>
        <p:spPr>
          <a:xfrm>
            <a:off x="3648701" y="1115488"/>
            <a:ext cx="4944900" cy="2802000"/>
          </a:xfrm>
          <a:prstGeom prst="roundRect">
            <a:avLst>
              <a:gd fmla="val 5228" name="adj"/>
            </a:avLst>
          </a:prstGeom>
          <a:noFill/>
          <a:ln>
            <a:noFill/>
          </a:ln>
        </p:spPr>
      </p:pic>
      <p:sp>
        <p:nvSpPr>
          <p:cNvPr id="144" name="Google Shape;144;g3f5ebb8600e_2_92"/>
          <p:cNvSpPr txBox="1"/>
          <p:nvPr/>
        </p:nvSpPr>
        <p:spPr>
          <a:xfrm>
            <a:off x="1783300" y="3990150"/>
            <a:ext cx="8675700" cy="1616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</a:pPr>
            <a:r>
              <a:rPr b="1" lang="en-US" sz="7400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MERCI</a:t>
            </a:r>
            <a:endParaRPr b="1" sz="7400">
              <a:solidFill>
                <a:srgbClr val="F1F5F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toute </a:t>
            </a: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l'équipe</a:t>
            </a:r>
            <a:r>
              <a:rPr b="1"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b="1" sz="12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457200" lvl="0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Patrick Mouliom • Christopher Gilleron • Jérémie Becker </a:t>
            </a:r>
            <a:r>
              <a:rPr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b="0" lang="en-US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Arnaud Hoarau • Karim Atebata</a:t>
            </a:r>
            <a:endParaRPr b="0">
              <a:solidFill>
                <a:srgbClr val="CBD5E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f5ebb8600e_2_92"/>
          <p:cNvSpPr txBox="1"/>
          <p:nvPr/>
        </p:nvSpPr>
        <p:spPr>
          <a:xfrm>
            <a:off x="3042100" y="627625"/>
            <a:ext cx="6158100" cy="7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200">
                <a:solidFill>
                  <a:srgbClr val="00D2FF"/>
                </a:solidFill>
              </a:rPr>
              <a:t>DEMO DAY | 03 AOÛT 2026 |</a:t>
            </a:r>
            <a:r>
              <a:rPr lang="en-US" sz="1200">
                <a:solidFill>
                  <a:schemeClr val="dk1"/>
                </a:solidFill>
              </a:rPr>
              <a:t> </a:t>
            </a:r>
            <a:r>
              <a:rPr b="1" lang="en-US" sz="1200">
                <a:solidFill>
                  <a:srgbClr val="00D2FF"/>
                </a:solidFill>
              </a:rPr>
              <a:t>AIFS01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2500">
        <p14:gallery dir="l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