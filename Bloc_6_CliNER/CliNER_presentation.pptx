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B1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3790" y="2011680"/>
            <a:ext cx="2743200" cy="15550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493776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1F5F9"/>
                </a:solidFill>
                <a:latin typeface="Calibri"/>
              </a:rPr>
              <a:t>Un moteur NER (Named Entity Recognition) au service du médical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L'ÉQUIPE JEDHA AIFS01
Patrick Mouliom • Christopher Gilleron • Jérémie Becker • Arnaud Hoarau • Karim Atebata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0D2FF"/>
                </a:solidFill>
                <a:latin typeface="Calibri"/>
              </a:rPr>
              <a:t>1. Le Problème &amp; Le MVP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F1F5F9"/>
                </a:solidFill>
                <a:latin typeface="Calibri"/>
              </a:rPr>
              <a:t>Le Chaos Médical
Source officielle inexploitable (JSON ultra-complexes, énormes PDF).
Des JSON massifs, hétérogènes et non structurés.
L'information cruciale est cachée dans d'énormes PDF.
 Notre Solution (MVP)
Double Moteur IA : Extracteur d'entités (Qwen Fine-Tuné) + Assistant conversationnel (Chatbot RAG Hybride BioBERT / TF-IDF).
Validation NER : Évaluation stricte de notre modèle d'extraction face au Dataset CHIA (132 essais cliniques annotés par des humains).
Preuve par la donnée : Précision à 63% (F1 Score: 58.3%) sur l'extraction d'entités médicales complexes.
Recherche Augmentée (RAG) : Interrogation instantanée des protocoles cliniques en langage naturel.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0D2FF"/>
                </a:solidFill>
                <a:latin typeface="Calibri"/>
              </a:rPr>
              <a:t>DÉMO EN DIRECT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9417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F1F5F9"/>
                </a:solidFill>
                <a:latin typeface="Calibri"/>
              </a:rPr>
              <a:t>DÉMO EN DIRECT
Découvrez le moteur CliNER en action
 Lancer l'Application Streamlit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0D2FF"/>
                </a:solidFill>
                <a:latin typeface="Calibri"/>
              </a:rPr>
              <a:t>2. Architecture Globale (Physique &amp; Logique)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F1F5F9"/>
                </a:solidFill>
                <a:latin typeface="Calibri"/>
              </a:rPr>
              <a:t>flowchart TD
    %% Couleurs
    classDef frontend fill:#3b82f6,stroke:#1d4ed8,color:#fff,stroke-width:2px;
    classDef backend fill:#10b981,stroke:#047857,color:#fff,stroke-width:2px;
    classDef database fill:#f59e0b,stroke:#b45309,color:#fff,stroke-width:2px;
    classDef ai fill:#8b5cf6,stroke:#5b21b6,color:#fff,stroke-width:2px;
    classDef infra fill:#ef4444,stroke:#b91c1c,color:#fff,stroke-width:2px;
    User(("Utilisateur"))
    subgraph INFRA [Déploiement Automatisé : Terraform (IaC)]
        direction TB
        subgraph CLOUD1 [Interface : Render]
            UI["🖥️ Streamlit (Frontend)"]:::frontend
        end
        subgraph CLOUD2 [Stockage : Supabase]
            DB["🗄️ PostgreSQL + pgvector"]:::database
            S3["📦 S3 Bucket (PDFs/Textes)"]:::database
        end
        subgraph GPU [Calcul : Lightning AI (GPU L4) - Docker]
            API["⚙️ FastAPI (Orchestrateur)"]:::backend
            subgraph IA [Moteurs IA (vLLM)]
                direction LR
                Retriever["🧠 BioBERT (Retriever RAG)"]:::ai
                NER["🤖 Qwen 7B Fine-Tuné (Extracteur NER)"]:::ai
                Gen["🗣️ Qwen 7B Base (Générateur RAG)"]:::ai
            end
            Tracker["📈 MLflow (Observabilité)"]:::infra
        end
    end
    User &lt;--&gt;|Recherche / Chat| UI
    UI &lt;--&gt;|API REST| API
    API &lt;--&gt;|JSON / Vecteurs| DB
    API &lt;--&gt;|Fichiers Bruts| S3
    API -.-&gt;|Tracking| Tracker
    API --&gt;|1. Trouver page| Retriever
    Retriever -.-&gt;|Requêtes Vectorielles| DB
    API --&gt;|2. Extraire (JSON)| NER
    API --&gt;|3. Répondre (Chat)| Gen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0D2FF"/>
                </a:solidFill>
                <a:latin typeface="Calibri"/>
              </a:rPr>
              <a:t>3. Circuit de la donnée</a:t>
            </a:r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5303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0D2FF"/>
                </a:solidFill>
                <a:latin typeface="Calibri"/>
              </a:rPr>
              <a:t>4. L'Architecture ETL (Ingestion)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F1F5F9"/>
                </a:solidFill>
                <a:latin typeface="Calibri"/>
              </a:rPr>
              <a:t>Acquisition &amp; Préparation (ETL)
API ClinicalTrials : Requêtes structurées (ex: Cardiologie).
Acquisition des Protocoles : Téléchargement automatisé des critères d'éligibilité.
 Haute Disponibilité
                        La connexion directe à l'API via notre orchestrateur FastAPI garantit une extraction rapide, structurée et sans échec (finis les liens morts ou les robots capricieux).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0D2FF"/>
                </a:solidFill>
                <a:latin typeface="Calibri"/>
              </a:rPr>
              <a:t>5. Le Moteur IA (RAG &amp; LLM)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F1F5F9"/>
                </a:solidFill>
                <a:latin typeface="Calibri"/>
              </a:rPr>
              <a:t>IA &amp; Traitement
BioBERT (L'Expert) : Modèle "off-the-shelf" biomédical. Il vectorise le corpus (critères d'éligibilité) pour construire un contexte pertinent (Recherche Sémantique).
Qwen2.5-7B Fine-Tuné + vLLM : Ingère les chunks de texte ciblés et en extrait les entités nommées (NER) sous un format strict JSON.
 Inférence GPU Lightning AI : 75 tokens/s (quelques secondes par essai).
Stockage &amp; Rendu
Supabase (PostgreSQL / pgvector) : Sécurise le stockage des métadonnées des essais et maintient l'index vectoriel des chunks pour la recherche RAG.
Streamlit : Dashboard interactif et temps-réel.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0D2FF"/>
                </a:solidFill>
                <a:latin typeface="Calibri"/>
              </a:rPr>
              <a:t>Pipeline d'Extraction NER : IA x Algorithmique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F1F5F9"/>
                </a:solidFill>
                <a:latin typeface="Calibri"/>
              </a:rPr>
              <a:t>flowchart TD
    %% Couleurs et Styles
    classDef input fill:#f8f9fa,stroke:#ced4da,stroke-width:2px,color:#212529;
    classDef biobert fill:#d1e7dd,stroke:#0f5132,stroke-width:2px,color:#0f5132;
    classDef qwen fill:#fff3cd,stroke:#856404,stroke-width:2px,color:#856404;
    classDef tfidf fill:#f2dede,stroke:#a94442,stroke-width:2px,color:#a94442;
    classDef output fill:#cff4fc,stroke:#055160,stroke-width:2px,color:#055160;
    classDef script fill:#e2e3e5,stroke:#383d41,stroke-width:2px,color:#383d41;
    %% Source
    A["📄 Document Protocole Clinique(Fichier PDF bruité)"]:::input
    %% Pipeline Séquentiel
    T["📐 Filtre TF-IDF (Retriever)Localisation de la page pertinente"]:::tfidf
    C["🧠 Qwen 7B (Generator)Extraction NER (Few-Shot k=5)"]:::qwen
    D["⚙️ remap_offsets.py(Script Python)"]:::script
    E["📋 Évaluation BRAT (.ann)Score F1 Strict : 49.2%"]:::output
    F["✨ Interface Streamlit / APIJSON Consolidé Patient"]:::output
    %% Flux Séquentiel
    A -- "Texte Brut Complet(ex: 80 pages)" --&gt; T
    T --&gt;|"1 page isolée"| C
    C --&gt;|"Entités (JSON)"| D
    D --&gt; E
    D --&gt;|"Données MLOps"| F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CBD5E1"/>
                </a:solidFill>
                <a:latin typeface="Calibri"/>
              </a:rPr>
              <a:t>Pipeline Hybride Séquentiel : L'algorithme TF-IDF filtre le bruit du PDF et isole la page pertinente, qui est ensuite envoyée à l'IA (Qwen Few-Shot) pour une extraction chirurgicale NER très performante.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0D2FF"/>
                </a:solidFill>
                <a:latin typeface="Calibri"/>
              </a:rPr>
              <a:t>6. MLOps &amp; Industrialisation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F1F5F9"/>
                </a:solidFill>
                <a:latin typeface="Calibri"/>
              </a:rPr>
              <a:t>Infrastructure as Code (Terraform) : Déploiement automatisé et versionné de notre architecture.
Pont Sécurisé (LocalTunnel) : Connecte l'interface gratuite (Render) au serveur GPU surpuissant (Lightning AI).
Conteneurisation (Docker) : Pipeline 100% agnostique et reproductible.
Observabilité (MLflow) :
Tracking de la latence API (FastAPI / Uvicorn).
Monitoring des paramètres du LLM (Température, Max Tokens).
FinOps (Coût Zéro) : Stack 100% hébergée sur des Tiers Gratuits (Render, Supabase, Lightning AI).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0D2FF"/>
                </a:solidFill>
                <a:latin typeface="Calibri"/>
              </a:rPr>
              <a:t>7. Perspectives &amp; Évolutions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F1F5F9"/>
                </a:solidFill>
                <a:latin typeface="Calibri"/>
              </a:rPr>
              <a:t>1. Déploiement Clinique
                            Déploiement de l'outil chez le praticien pour se connecter directement à sa base de données locale (un Gold Standard interne composé de PDF de patients ou de protocoles). Notre pipeline NER automatisera l'extraction de ces données internes.
 2. Évolutions Techniques
                            • Lutte contre le Drift : Ré-entraînement continu.
                            • Traitement Multi-modal (CNN/ViT) : Analyse directe des images/scanners dans les PDF.
                            • Déploiement local : Modèles ultra-légers pour protéger les données patient.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