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1675"/>
  <p:notesSz cx="6858000" cy="9144000"/>
  <p:embeddedFontLst>
    <p:embeddedFont>
      <p:font typeface="Inter SemiBold"/>
      <p:regular r:id="rId15"/>
      <p:bold r:id="rId16"/>
      <p:italic r:id="rId17"/>
      <p:boldItalic r:id="rId18"/>
    </p:embeddedFont>
    <p:embeddedFont>
      <p:font typeface="Inter"/>
      <p:bold r:id="rId19"/>
      <p:boldItalic r:id="rId20"/>
    </p:embeddedFont>
    <p:embeddedFont>
      <p:font typeface="Inter ExtraBold"/>
      <p:bold r:id="rId21"/>
      <p:boldItalic r:id="rId22"/>
    </p:embeddedFont>
    <p:embeddedFont>
      <p:font typeface="Inter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7" roundtripDataSignature="AMtx7miMMbPFH6XFrm62WKvT9a0uh4Wpz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D5D66AC-C896-45DC-8EC3-7AB9D3A98C3E}">
  <a:tblStyle styleId="{7D5D66AC-C896-45DC-8EC3-7AB9D3A98C3E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boldItalic.fntdata"/><Relationship Id="rId22" Type="http://schemas.openxmlformats.org/officeDocument/2006/relationships/font" Target="fonts/InterExtraBold-boldItalic.fntdata"/><Relationship Id="rId21" Type="http://schemas.openxmlformats.org/officeDocument/2006/relationships/font" Target="fonts/InterExtraBold-bold.fntdata"/><Relationship Id="rId24" Type="http://schemas.openxmlformats.org/officeDocument/2006/relationships/font" Target="fonts/InterMedium-bold.fntdata"/><Relationship Id="rId23" Type="http://schemas.openxmlformats.org/officeDocument/2006/relationships/font" Target="fonts/InterMedium-regular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Medium-boldItalic.fntdata"/><Relationship Id="rId25" Type="http://schemas.openxmlformats.org/officeDocument/2006/relationships/font" Target="fonts/InterMedium-italic.fntdata"/><Relationship Id="rId27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font" Target="fonts/InterSemiBold-regular.fntdata"/><Relationship Id="rId14" Type="http://schemas.openxmlformats.org/officeDocument/2006/relationships/slide" Target="slides/slide8.xml"/><Relationship Id="rId17" Type="http://schemas.openxmlformats.org/officeDocument/2006/relationships/font" Target="fonts/InterSemiBold-italic.fntdata"/><Relationship Id="rId16" Type="http://schemas.openxmlformats.org/officeDocument/2006/relationships/font" Target="fonts/InterSemiBold-bold.fntdata"/><Relationship Id="rId19" Type="http://schemas.openxmlformats.org/officeDocument/2006/relationships/font" Target="fonts/Inter-bold.fntdata"/><Relationship Id="rId18" Type="http://schemas.openxmlformats.org/officeDocument/2006/relationships/font" Target="fonts/InterSemiBold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52500" y="762000"/>
            <a:ext cx="85725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CHALLENGE MACHINE LEARNING SUPERVISÉ • CLASSIFICATION &amp; BUSINESS INSIGHTS</a:t>
            </a:r>
            <a:endParaRPr b="1" sz="1100">
              <a:solidFill>
                <a:srgbClr val="38BDF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952500" y="1238250"/>
            <a:ext cx="8572500" cy="142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4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Conversion Rate Challenge</a:t>
            </a:r>
            <a:endParaRPr b="0" sz="44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Prédiction des Abonnements Newsletter &amp; Optimisation des Leviers Métier</a:t>
            </a:r>
            <a:endParaRPr b="0" sz="18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6" name="Google Shape;86;p1"/>
          <p:cNvPicPr preferRelativeResize="0"/>
          <p:nvPr/>
        </p:nvPicPr>
        <p:blipFill rotWithShape="1">
          <a:blip r:embed="rId4">
            <a:alphaModFix/>
          </a:blip>
          <a:srcRect b="150" l="0" r="0" t="150"/>
          <a:stretch/>
        </p:blipFill>
        <p:spPr>
          <a:xfrm>
            <a:off x="10287000" y="714375"/>
            <a:ext cx="952500" cy="10002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7" name="Google Shape;87;p1"/>
          <p:cNvGrpSpPr/>
          <p:nvPr/>
        </p:nvGrpSpPr>
        <p:grpSpPr>
          <a:xfrm>
            <a:off x="952500" y="3429000"/>
            <a:ext cx="3238500" cy="1714500"/>
            <a:chOff x="0" y="0"/>
            <a:chExt cx="3238500" cy="1714500"/>
          </a:xfrm>
        </p:grpSpPr>
        <p:sp>
          <p:nvSpPr>
            <p:cNvPr id="88" name="Google Shape;88;p1"/>
            <p:cNvSpPr/>
            <p:nvPr/>
          </p:nvSpPr>
          <p:spPr>
            <a:xfrm>
              <a:off x="0" y="0"/>
              <a:ext cx="3238500" cy="1714500"/>
            </a:xfrm>
            <a:prstGeom prst="roundRect">
              <a:avLst>
                <a:gd fmla="val 8888" name="adj"/>
              </a:avLst>
            </a:prstGeom>
            <a:solidFill>
              <a:srgbClr val="111827"/>
            </a:solidFill>
            <a:ln cap="flat" cmpd="sng" w="14300">
              <a:solidFill>
                <a:srgbClr val="1F293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1"/>
            <p:cNvSpPr/>
            <p:nvPr/>
          </p:nvSpPr>
          <p:spPr>
            <a:xfrm>
              <a:off x="0" y="0"/>
              <a:ext cx="3238500" cy="381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228600" y="285750"/>
              <a:ext cx="2781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284 580</a:t>
              </a:r>
              <a:r>
                <a:rPr b="0" lang="en-US" sz="120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Sessions analysées</a:t>
              </a:r>
              <a:endParaRPr/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4476750" y="3429000"/>
            <a:ext cx="3238500" cy="1714500"/>
            <a:chOff x="0" y="0"/>
            <a:chExt cx="3238500" cy="1714500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38500" cy="1714500"/>
            </a:xfrm>
            <a:prstGeom prst="roundRect">
              <a:avLst>
                <a:gd fmla="val 8888" name="adj"/>
              </a:avLst>
            </a:prstGeom>
            <a:solidFill>
              <a:srgbClr val="111827"/>
            </a:solidFill>
            <a:ln cap="flat" cmpd="sng" w="14300">
              <a:solidFill>
                <a:srgbClr val="1F293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3" name="Google Shape;93;p1"/>
            <p:cNvSpPr/>
            <p:nvPr/>
          </p:nvSpPr>
          <p:spPr>
            <a:xfrm>
              <a:off x="0" y="0"/>
              <a:ext cx="3238500" cy="38100"/>
            </a:xfrm>
            <a:prstGeom prst="roundRect">
              <a:avLst>
                <a:gd fmla="val 50000" name="adj"/>
              </a:avLst>
            </a:prstGeom>
            <a:solidFill>
              <a:srgbClr val="10B98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1"/>
            <p:cNvSpPr txBox="1"/>
            <p:nvPr/>
          </p:nvSpPr>
          <p:spPr>
            <a:xfrm>
              <a:off x="228600" y="285750"/>
              <a:ext cx="2781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6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3,23 %</a:t>
              </a:r>
              <a:r>
                <a:rPr b="0" lang="en-US" sz="120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Taux de conversion</a:t>
              </a:r>
              <a:endParaRPr/>
            </a:p>
          </p:txBody>
        </p:sp>
      </p:grpSp>
      <p:grpSp>
        <p:nvGrpSpPr>
          <p:cNvPr id="95" name="Google Shape;95;p1"/>
          <p:cNvGrpSpPr/>
          <p:nvPr/>
        </p:nvGrpSpPr>
        <p:grpSpPr>
          <a:xfrm>
            <a:off x="8001000" y="3429000"/>
            <a:ext cx="3238500" cy="1714500"/>
            <a:chOff x="0" y="0"/>
            <a:chExt cx="3238500" cy="1714500"/>
          </a:xfrm>
        </p:grpSpPr>
        <p:sp>
          <p:nvSpPr>
            <p:cNvPr id="96" name="Google Shape;96;p1"/>
            <p:cNvSpPr/>
            <p:nvPr/>
          </p:nvSpPr>
          <p:spPr>
            <a:xfrm>
              <a:off x="0" y="0"/>
              <a:ext cx="3238500" cy="1714500"/>
            </a:xfrm>
            <a:prstGeom prst="roundRect">
              <a:avLst>
                <a:gd fmla="val 8888" name="adj"/>
              </a:avLst>
            </a:prstGeom>
            <a:solidFill>
              <a:srgbClr val="111827"/>
            </a:solidFill>
            <a:ln cap="flat" cmpd="sng" w="14300">
              <a:solidFill>
                <a:srgbClr val="1F293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"/>
            <p:cNvSpPr/>
            <p:nvPr/>
          </p:nvSpPr>
          <p:spPr>
            <a:xfrm>
              <a:off x="0" y="0"/>
              <a:ext cx="3238500" cy="38100"/>
            </a:xfrm>
            <a:prstGeom prst="roundRect">
              <a:avLst>
                <a:gd fmla="val 50000" name="adj"/>
              </a:avLst>
            </a:prstGeom>
            <a:solidFill>
              <a:srgbClr val="F59E0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1"/>
            <p:cNvSpPr txBox="1"/>
            <p:nvPr/>
          </p:nvSpPr>
          <p:spPr>
            <a:xfrm>
              <a:off x="228600" y="285750"/>
              <a:ext cx="2781300" cy="1143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32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F1 = 0,7762</a:t>
              </a:r>
              <a:r>
                <a:rPr b="0" lang="en-US" sz="1200">
                  <a:solidFill>
                    <a:srgbClr val="94A3B8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Score Champion (LogReg 0.45)</a:t>
              </a:r>
              <a:endParaRPr/>
            </a:p>
          </p:txBody>
        </p:sp>
      </p:grpSp>
      <p:sp>
        <p:nvSpPr>
          <p:cNvPr id="99" name="Google Shape;99;p1"/>
          <p:cNvSpPr txBox="1"/>
          <p:nvPr/>
        </p:nvSpPr>
        <p:spPr>
          <a:xfrm>
            <a:off x="952500" y="5715000"/>
            <a:ext cx="10287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1428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FFFF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Christopher Gilleron</a:t>
            </a:r>
            <a:r>
              <a:rPr lang="en-US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8 octobre 2026</a:t>
            </a:r>
            <a:r>
              <a:rPr b="0" lang="en-US" sz="1050">
                <a:solidFill>
                  <a:srgbClr val="3FDAD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Certification CDSD BLOC 3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01  |  CADRAGE DU PROJET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Contexte Métier &amp; Diagnostic des Données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Comprendre le comportement des visiteurs de Data Science Weekly et anticiper les inscriptions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2 / 8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731520" y="1645920"/>
            <a:ext cx="512064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914400" y="1783080"/>
            <a:ext cx="4754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284 580  —  Sessions d'entraînement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5 variables explicatives disponibles (pays, âge, statut visiteur, source, pages vues). Zéro valeur manquante.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731520" y="3108960"/>
            <a:ext cx="512064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914400" y="3246120"/>
            <a:ext cx="4754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3,23 %  —  Taux de conversion global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Classes fortement déséquilibrées (9 180 convertis vs 275 400 non-convertis). L'Accuracy est inopérante.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731520" y="4572000"/>
            <a:ext cx="5120640" cy="13258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" y="4709160"/>
            <a:ext cx="475488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F1-Score  —  Métrique cible officielle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Moyenne harmonique entre Précision et Rappel pour pénaliser les erreurs sur la classe minoritaire.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6217920" y="1645920"/>
            <a:ext cx="5242255" cy="4434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6492240" y="1828800"/>
            <a:ext cx="4693615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🎯 Objectifs &amp; Contraintes du Client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Capacité Prédictive : Identifier en temps réel les visiteurs à forte probabilité de conversion pour déclencher des actions ciblées.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Interprétabilité Stratégique : Expliquer clairement les déterminants de l'inscription pour orienter les investissements produit et marketing.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Piège de l'Accuracy à 96,8 % : Un modèle trivial prédisant 0 tout le temps atteindrait 96,8 % d'accuracy mais raterait 100 % des conversions. Le F1-score s'impose.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1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Qualité des Données &amp; Outliers : Détection de 2 sessions avec un âge de 123 ans. Données conservées car l'impact est infime sur 284k lignes, mais remontée faite à l'équipe data.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02  |  EXPLORATION DES DONNÉES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Analyse Univariée : Géographie &amp; Profil Visiteur</a:t>
            </a:r>
            <a:endParaRPr/>
          </a:p>
        </p:txBody>
      </p:sp>
      <p:sp>
        <p:nvSpPr>
          <p:cNvPr id="123" name="Google Shape;123;p3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Des disparités géographiques majeures et un effet de fidélité très marqué</a:t>
            </a:r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3 / 8</a:t>
            </a:r>
            <a:endParaRPr/>
          </a:p>
        </p:txBody>
      </p:sp>
      <p:pic>
        <p:nvPicPr>
          <p:cNvPr descr="01_conversion_rate_by_country.png" id="126" name="Google Shape;126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645920"/>
            <a:ext cx="5120640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02_conversion_rate_by_source_and_user.png" id="127" name="Google Shape;127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7920" y="1645920"/>
            <a:ext cx="5242255" cy="329184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"/>
          <p:cNvSpPr/>
          <p:nvPr/>
        </p:nvSpPr>
        <p:spPr>
          <a:xfrm>
            <a:off x="731520" y="5074920"/>
            <a:ext cx="10728655" cy="105156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12700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914400" y="5166360"/>
            <a:ext cx="10362895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💡 INSIGHTS MAJEURS DE L'EDA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1. Marché Chinois (0,13 %) vs Allemagne (6,25 %) : Un écart x48 suggérant un blocage technique/UX (traduction, latence, formulaires).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2. Visiteurs Récurrents (7,20 %) vs Nouveaux (1,40 %) : Les utilisateurs réguliers convertissent 5x plus que les primo-arrivants.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03  |  COMPORTEMENT UTILISATEUR</a:t>
            </a:r>
            <a:endParaRPr/>
          </a:p>
        </p:txBody>
      </p:sp>
      <p:sp>
        <p:nvSpPr>
          <p:cNvPr id="135" name="Google Shape;135;p4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Pages Visitées &amp; Âge : Le Signal Roi de l'Engagement</a:t>
            </a:r>
            <a:endParaRPr/>
          </a:p>
        </p:txBody>
      </p:sp>
      <p:sp>
        <p:nvSpPr>
          <p:cNvPr id="136" name="Google Shape;136;p4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Le nombre de pages vues sépare quasi-parfaitement les deux populations</a:t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4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4 / 8</a:t>
            </a:r>
            <a:endParaRPr/>
          </a:p>
        </p:txBody>
      </p:sp>
      <p:pic>
        <p:nvPicPr>
          <p:cNvPr descr="03_pages_visited_and_age_distribution.png" id="139" name="Google Shape;139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645920"/>
            <a:ext cx="6400800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4"/>
          <p:cNvSpPr/>
          <p:nvPr/>
        </p:nvSpPr>
        <p:spPr>
          <a:xfrm>
            <a:off x="7406640" y="1645920"/>
            <a:ext cx="4053535" cy="4389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 txBox="1"/>
          <p:nvPr/>
        </p:nvSpPr>
        <p:spPr>
          <a:xfrm>
            <a:off x="7589520" y="1828800"/>
            <a:ext cx="3687775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📈 Déterminants Comportementaux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Pages Vues (Médiane 14 vs 4) : Les distributions se chevauchent à peine. Au-delà de 10 pages, la probabilité de conversion devient supérieure à 50 %.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Âge (Médiane 25 vs 30 ans) : Les convertis sont significativement plus jeunes, mais l'effet reste secondaire comparé à l'engagement de session.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Nature de total_pages_visited : Attention : ce n'est pas une fuite de données, mais une variable contemporaine de la visite. Elle est parfaite pour scorer en direct, mais exige de travailler l'UX multi-pages.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04  |  PIPELINE DE MODÉLISATION</a:t>
            </a:r>
            <a:endParaRPr/>
          </a:p>
        </p:txBody>
      </p:sp>
      <p:sp>
        <p:nvSpPr>
          <p:cNvPr id="147" name="Google Shape;147;p5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Architecture du Pipeline &amp; Modèle de Référence</a:t>
            </a:r>
            <a:endParaRPr/>
          </a:p>
        </p:txBody>
      </p:sp>
      <p:sp>
        <p:nvSpPr>
          <p:cNvPr id="148" name="Google Shape;148;p5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Zéro fuite d'information grâce au ColumnTransformer et split stratifié 80/20</a:t>
            </a:r>
            <a:endParaRPr/>
          </a:p>
        </p:txBody>
      </p:sp>
      <p:sp>
        <p:nvSpPr>
          <p:cNvPr id="149" name="Google Shape;149;p5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5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5 / 8</a:t>
            </a:r>
            <a:endParaRPr/>
          </a:p>
        </p:txBody>
      </p:sp>
      <p:sp>
        <p:nvSpPr>
          <p:cNvPr id="151" name="Google Shape;151;p5"/>
          <p:cNvSpPr/>
          <p:nvPr/>
        </p:nvSpPr>
        <p:spPr>
          <a:xfrm>
            <a:off x="731520" y="1645920"/>
            <a:ext cx="2560320" cy="2011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5"/>
          <p:cNvSpPr txBox="1"/>
          <p:nvPr/>
        </p:nvSpPr>
        <p:spPr>
          <a:xfrm>
            <a:off x="868680" y="1783080"/>
            <a:ext cx="2286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1. Split Stratifié 80/20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227 664 lignes d'entraînement</a:t>
            </a:r>
            <a:b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56 916 de validation</a:t>
            </a:r>
            <a:b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stratify=y préserve 3,23 %.</a:t>
            </a:r>
            <a:endParaRPr/>
          </a:p>
        </p:txBody>
      </p:sp>
      <p:sp>
        <p:nvSpPr>
          <p:cNvPr id="153" name="Google Shape;153;p5"/>
          <p:cNvSpPr/>
          <p:nvPr/>
        </p:nvSpPr>
        <p:spPr>
          <a:xfrm>
            <a:off x="3456432" y="1645920"/>
            <a:ext cx="2560320" cy="2011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5"/>
          <p:cNvSpPr txBox="1"/>
          <p:nvPr/>
        </p:nvSpPr>
        <p:spPr>
          <a:xfrm>
            <a:off x="3593592" y="1783080"/>
            <a:ext cx="2286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2. StandardScaler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Appliqué sur les variables numériques :</a:t>
            </a:r>
            <a:b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age, total_pages_visited, new_user.</a:t>
            </a:r>
            <a:endParaRPr/>
          </a:p>
        </p:txBody>
      </p:sp>
      <p:sp>
        <p:nvSpPr>
          <p:cNvPr id="155" name="Google Shape;155;p5"/>
          <p:cNvSpPr/>
          <p:nvPr/>
        </p:nvSpPr>
        <p:spPr>
          <a:xfrm>
            <a:off x="6181344" y="1645920"/>
            <a:ext cx="2560320" cy="2011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5"/>
          <p:cNvSpPr txBox="1"/>
          <p:nvPr/>
        </p:nvSpPr>
        <p:spPr>
          <a:xfrm>
            <a:off x="6318504" y="1783080"/>
            <a:ext cx="2286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3. OneHotEncoder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Sur country et source avec drop='first' et handle_unknown='ignore'.</a:t>
            </a:r>
            <a:endParaRPr/>
          </a:p>
        </p:txBody>
      </p:sp>
      <p:sp>
        <p:nvSpPr>
          <p:cNvPr id="157" name="Google Shape;157;p5"/>
          <p:cNvSpPr/>
          <p:nvPr/>
        </p:nvSpPr>
        <p:spPr>
          <a:xfrm>
            <a:off x="8906256" y="1645920"/>
            <a:ext cx="2560320" cy="20116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 txBox="1"/>
          <p:nvPr/>
        </p:nvSpPr>
        <p:spPr>
          <a:xfrm>
            <a:off x="9043416" y="1783080"/>
            <a:ext cx="228600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4. Pipeline Scikit-Learn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Intègre préprocesseur + estimateur : aucune fuite de données.</a:t>
            </a:r>
            <a:endParaRPr/>
          </a:p>
        </p:txBody>
      </p:sp>
      <p:sp>
        <p:nvSpPr>
          <p:cNvPr id="159" name="Google Shape;159;p5"/>
          <p:cNvSpPr/>
          <p:nvPr/>
        </p:nvSpPr>
        <p:spPr>
          <a:xfrm>
            <a:off x="731520" y="3886200"/>
            <a:ext cx="5212080" cy="224028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5"/>
          <p:cNvSpPr txBox="1"/>
          <p:nvPr/>
        </p:nvSpPr>
        <p:spPr>
          <a:xfrm>
            <a:off x="914400" y="4023360"/>
            <a:ext cx="4846320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Modèle 0 : Baseline 1 Variable (Pages vues)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F1-Score : 0,7055  |  Rappel : 61,06 %  |  Précision : 83,53 %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Prouve immédiatement que la variable pages vues porte l'essentiel du signal.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Sert de repère minimal imposé par le template du challenge.</a:t>
            </a:r>
            <a:endParaRPr/>
          </a:p>
        </p:txBody>
      </p:sp>
      <p:sp>
        <p:nvSpPr>
          <p:cNvPr id="161" name="Google Shape;161;p5"/>
          <p:cNvSpPr/>
          <p:nvPr/>
        </p:nvSpPr>
        <p:spPr>
          <a:xfrm>
            <a:off x="6217920" y="3886200"/>
            <a:ext cx="5242255" cy="2240280"/>
          </a:xfrm>
          <a:prstGeom prst="roundRect">
            <a:avLst>
              <a:gd fmla="val 16667" name="adj"/>
            </a:avLst>
          </a:prstGeom>
          <a:solidFill>
            <a:srgbClr val="EFF6FF"/>
          </a:solidFill>
          <a:ln cap="flat" cmpd="sng" w="12700">
            <a:solidFill>
              <a:srgbClr val="BFDBFE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 txBox="1"/>
          <p:nvPr/>
        </p:nvSpPr>
        <p:spPr>
          <a:xfrm>
            <a:off x="6400800" y="4023360"/>
            <a:ext cx="4876495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Modèle 1 : LogReg Complète (Seuil standard 0,50)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F1-Score : 0,7675 (+6,2 pts)  |  Rappel : 68,95 %  |  Précision : 86,53 %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ROC-AUC : 0,9869  |  Accuracy : 98,65 % (Trompeuse)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L'intégration du pays, de la source et du profil utilisateur améliore nettement le rappel.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6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05  |  OPTIMISATION MÉTIER</a:t>
            </a:r>
            <a:endParaRPr/>
          </a:p>
        </p:txBody>
      </p:sp>
      <p:sp>
        <p:nvSpPr>
          <p:cNvPr id="168" name="Google Shape;168;p6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Arbitrage Précision / Rappel &amp; Seuil Optimal</a:t>
            </a:r>
            <a:endParaRPr/>
          </a:p>
        </p:txBody>
      </p:sp>
      <p:sp>
        <p:nvSpPr>
          <p:cNvPr id="169" name="Google Shape;169;p6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Ajuster le seuil de décision à 0,45 pour maximiser les vraies conversions captées</a:t>
            </a:r>
            <a:endParaRPr/>
          </a:p>
        </p:txBody>
      </p:sp>
      <p:sp>
        <p:nvSpPr>
          <p:cNvPr id="170" name="Google Shape;170;p6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6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6 / 8</a:t>
            </a:r>
            <a:endParaRPr/>
          </a:p>
        </p:txBody>
      </p:sp>
      <p:pic>
        <p:nvPicPr>
          <p:cNvPr descr="05_threshold_optimization_curve.png" id="172" name="Google Shape;17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645920"/>
            <a:ext cx="5486400" cy="3291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04_confusion_matrix_logreg.png" id="173" name="Google Shape;173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92240" y="1645920"/>
            <a:ext cx="4967935" cy="329184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6"/>
          <p:cNvSpPr/>
          <p:nvPr/>
        </p:nvSpPr>
        <p:spPr>
          <a:xfrm>
            <a:off x="731520" y="5074920"/>
            <a:ext cx="10728655" cy="1051560"/>
          </a:xfrm>
          <a:prstGeom prst="roundRect">
            <a:avLst>
              <a:gd fmla="val 16667" name="adj"/>
            </a:avLst>
          </a:prstGeom>
          <a:solidFill>
            <a:srgbClr val="ECFDF5"/>
          </a:solidFill>
          <a:ln cap="flat" cmpd="sng" w="12700">
            <a:solidFill>
              <a:srgbClr val="A7F3D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6"/>
          <p:cNvSpPr txBox="1"/>
          <p:nvPr/>
        </p:nvSpPr>
        <p:spPr>
          <a:xfrm>
            <a:off x="914400" y="5166360"/>
            <a:ext cx="10362895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🎯 SEUIL OPTIMAL RETENU : 0,45  —  F1-SCORE = 0,7762 (MODÈLE CHAMPION)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Bilan Matrice (Validation) : 1 318 Vrais Positifs (Rappel : 71,79 %) et seulement 242 Faux Positifs (Précision : 84,49 %).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• Pourquoi le seuil plutôt que SMOTE ? Préserve des probabilités calibrées, transparentes et ajustables selon les coûts métier.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06  |  BENCHMARK &amp; INTERPRÉTABILITÉ</a:t>
            </a:r>
            <a:endParaRPr/>
          </a:p>
        </p:txBody>
      </p:sp>
      <p:sp>
        <p:nvSpPr>
          <p:cNvPr id="181" name="Google Shape;181;p7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Comparaison des Modèles &amp; Analyse des Coefficients</a:t>
            </a:r>
            <a:endParaRPr/>
          </a:p>
        </p:txBody>
      </p:sp>
      <p:sp>
        <p:nvSpPr>
          <p:cNvPr id="182" name="Google Shape;182;p7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La Régression Logistique surclasse les modèles non-linéaires en précision et explicabilité</a:t>
            </a:r>
            <a:endParaRPr/>
          </a:p>
        </p:txBody>
      </p:sp>
      <p:sp>
        <p:nvSpPr>
          <p:cNvPr id="183" name="Google Shape;183;p7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7 / 8</a:t>
            </a:r>
            <a:endParaRPr/>
          </a:p>
        </p:txBody>
      </p:sp>
      <p:pic>
        <p:nvPicPr>
          <p:cNvPr descr="08_logreg_coefficients_odds_ratios.png" id="185" name="Google Shape;18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1520" y="1645920"/>
            <a:ext cx="5486400" cy="438912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7"/>
          <p:cNvSpPr/>
          <p:nvPr/>
        </p:nvSpPr>
        <p:spPr>
          <a:xfrm>
            <a:off x="6492240" y="1645920"/>
            <a:ext cx="4967935" cy="438912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7" name="Google Shape;187;p7"/>
          <p:cNvGraphicFramePr/>
          <p:nvPr/>
        </p:nvGraphicFramePr>
        <p:xfrm>
          <a:off x="6675120" y="178308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{7D5D66AC-C896-45DC-8EC3-7AB9D3A98C3E}</a:tableStyleId>
              </a:tblPr>
              <a:tblGrid>
                <a:gridCol w="2011675"/>
                <a:gridCol w="822950"/>
                <a:gridCol w="822950"/>
                <a:gridCol w="9445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Modèle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F1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Rappel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 u="none" cap="none" strike="noStrike">
                          <a:solidFill>
                            <a:srgbClr val="FFFFFF"/>
                          </a:solidFill>
                        </a:rPr>
                        <a:t>ROC-AUC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0F172A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Baseline LogReg (1 var)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0,7055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61,06 %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0,9764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LogReg Complète (0.50)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0,7675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68,95 %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0,9869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059669"/>
                          </a:solidFill>
                        </a:rPr>
                        <a:t>LogReg Optimisée (0.45) 🏆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059669"/>
                          </a:solidFill>
                        </a:rPr>
                        <a:t>0,7762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059669"/>
                          </a:solidFill>
                        </a:rPr>
                        <a:t>71,79 %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059669"/>
                          </a:solidFill>
                        </a:rPr>
                        <a:t>0,9869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CFDF5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Random Forest (Tuned)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0,7611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75,49 %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0,9844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XGBoost Classifier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0,7763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73,80 %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 u="none" cap="none" strike="noStrike">
                          <a:solidFill>
                            <a:srgbClr val="0F172A"/>
                          </a:solidFill>
                        </a:rPr>
                        <a:t>0,9858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8" name="Google Shape;188;p7"/>
          <p:cNvSpPr txBox="1"/>
          <p:nvPr/>
        </p:nvSpPr>
        <p:spPr>
          <a:xfrm>
            <a:off x="6675120" y="3840480"/>
            <a:ext cx="4602175" cy="2011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💡 Lecture des Odds Ratios (exp(β)) :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Pays (Réf: Chine) : Allemagne OR = 35,4  |  UK OR = 29,9  |  US OR = 21,3. Résider en Allemagne multiplie par 35 la cote de conversion vs Chine.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Pages Vues (OR = 12,5) : Chaque augmentation de 1 écart-type (+3,3 pages) multiplie les chances de conversion par 12,5.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Nouveau Visiteur (OR = 0,46) : Divise par plus de 2 les chances d'inscription immédiate.</a:t>
            </a:r>
            <a:endParaRPr/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Arbitrage LogReg vs XGBoost : XGBoost atteint un F1 équivalent (0,7763) mais constitue une boîte noire. LogReg est retenue pour son explicabilité directe.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8"/>
          <p:cNvSpPr txBox="1"/>
          <p:nvPr/>
        </p:nvSpPr>
        <p:spPr>
          <a:xfrm>
            <a:off x="731520" y="41148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ÉTAPE 07  |  PLAN D'ACTION &amp; CLÔTURE</a:t>
            </a:r>
            <a:endParaRPr/>
          </a:p>
        </p:txBody>
      </p:sp>
      <p:sp>
        <p:nvSpPr>
          <p:cNvPr id="194" name="Google Shape;194;p8"/>
          <p:cNvSpPr txBox="1"/>
          <p:nvPr/>
        </p:nvSpPr>
        <p:spPr>
          <a:xfrm>
            <a:off x="731520" y="685800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Recommandations Stratégiques &amp; Limites du Modèle</a:t>
            </a:r>
            <a:endParaRPr/>
          </a:p>
        </p:txBody>
      </p:sp>
      <p:sp>
        <p:nvSpPr>
          <p:cNvPr id="195" name="Google Shape;195;p8"/>
          <p:cNvSpPr txBox="1"/>
          <p:nvPr/>
        </p:nvSpPr>
        <p:spPr>
          <a:xfrm>
            <a:off x="731520" y="12344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Trois chantiers opérationnels prioritaires pour maximiser les souscriptions</a:t>
            </a:r>
            <a:endParaRPr/>
          </a:p>
        </p:txBody>
      </p:sp>
      <p:sp>
        <p:nvSpPr>
          <p:cNvPr id="196" name="Google Shape;196;p8"/>
          <p:cNvSpPr/>
          <p:nvPr/>
        </p:nvSpPr>
        <p:spPr>
          <a:xfrm>
            <a:off x="731520" y="6400800"/>
            <a:ext cx="10728655" cy="18288"/>
          </a:xfrm>
          <a:prstGeom prst="rect">
            <a:avLst/>
          </a:prstGeom>
          <a:solidFill>
            <a:srgbClr val="E2E8F0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 txBox="1"/>
          <p:nvPr/>
        </p:nvSpPr>
        <p:spPr>
          <a:xfrm>
            <a:off x="731520" y="6446520"/>
            <a:ext cx="10728655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Certification CDSD — Bloc 3 : Machine Learning Supervisé  |  Projet Conversion Rate  |  Chris Gilleron</a:t>
            </a:r>
            <a:endParaRPr/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5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8 / 8</a:t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731520" y="1645920"/>
            <a:ext cx="3456432" cy="3108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 txBox="1"/>
          <p:nvPr/>
        </p:nvSpPr>
        <p:spPr>
          <a:xfrm>
            <a:off x="868680" y="1783080"/>
            <a:ext cx="3182112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PRIORITÉ 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Auditer le Marché Chinois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Taux de 0,13 % contre 6,25 % en Allemagne : anomalie technique probable.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Actions : Tester le temps de chargement (Great Firewall), traduire l'interface et vérifier l'accès aux serveurs de newsletter.</a:t>
            </a:r>
            <a:endParaRPr/>
          </a:p>
        </p:txBody>
      </p:sp>
      <p:sp>
        <p:nvSpPr>
          <p:cNvPr id="200" name="Google Shape;200;p8"/>
          <p:cNvSpPr/>
          <p:nvPr/>
        </p:nvSpPr>
        <p:spPr>
          <a:xfrm>
            <a:off x="4370832" y="1645920"/>
            <a:ext cx="3456432" cy="3108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 txBox="1"/>
          <p:nvPr/>
        </p:nvSpPr>
        <p:spPr>
          <a:xfrm>
            <a:off x="4507992" y="1783080"/>
            <a:ext cx="3182112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563EB"/>
                </a:solidFill>
                <a:latin typeface="Calibri"/>
                <a:ea typeface="Calibri"/>
                <a:cs typeface="Calibri"/>
                <a:sym typeface="Calibri"/>
              </a:rPr>
              <a:t>PRIORITÉ 2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Architecture Multi-Pages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Chaque page vue augmente exponentiellement la probabilité d'inscription.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Actions : Maillage interne d'articles 'Read Next', sommaires interactifs et formulaires d'inscription répétés au fil de la lecture.</a:t>
            </a:r>
            <a:endParaRPr/>
          </a:p>
        </p:txBody>
      </p:sp>
      <p:sp>
        <p:nvSpPr>
          <p:cNvPr id="202" name="Google Shape;202;p8"/>
          <p:cNvSpPr/>
          <p:nvPr/>
        </p:nvSpPr>
        <p:spPr>
          <a:xfrm>
            <a:off x="8010144" y="1645920"/>
            <a:ext cx="3456432" cy="31089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 txBox="1"/>
          <p:nvPr/>
        </p:nvSpPr>
        <p:spPr>
          <a:xfrm>
            <a:off x="8147304" y="1783080"/>
            <a:ext cx="3182112" cy="2834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059669"/>
                </a:solidFill>
                <a:latin typeface="Calibri"/>
                <a:ea typeface="Calibri"/>
                <a:cs typeface="Calibri"/>
                <a:sym typeface="Calibri"/>
              </a:rPr>
              <a:t>PRIORITÉ 3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Rétention Primo-Visiteurs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Les visiteurs récurrents convertissent 5x plus que les nouveaux arrivants.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• Actions : Déclencher un pop-in ciblé d'invitation lors de la 2e visite plutôt que d'agresser l'utilisateur dès la première seconde.</a:t>
            </a:r>
            <a:endParaRPr/>
          </a:p>
        </p:txBody>
      </p:sp>
      <p:sp>
        <p:nvSpPr>
          <p:cNvPr id="204" name="Google Shape;204;p8"/>
          <p:cNvSpPr/>
          <p:nvPr/>
        </p:nvSpPr>
        <p:spPr>
          <a:xfrm>
            <a:off x="731520" y="4892040"/>
            <a:ext cx="10728655" cy="1234440"/>
          </a:xfrm>
          <a:prstGeom prst="roundRect">
            <a:avLst>
              <a:gd fmla="val 16667" name="adj"/>
            </a:avLst>
          </a:prstGeom>
          <a:solidFill>
            <a:srgbClr val="F8FAFC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 txBox="1"/>
          <p:nvPr/>
        </p:nvSpPr>
        <p:spPr>
          <a:xfrm>
            <a:off x="914400" y="4983480"/>
            <a:ext cx="10362895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F172A"/>
                </a:solidFill>
                <a:latin typeface="Calibri"/>
                <a:ea typeface="Calibri"/>
                <a:cs typeface="Calibri"/>
                <a:sym typeface="Calibri"/>
              </a:rPr>
              <a:t>⚠️ LIMITES DU MODÈLE &amp; PROCHAINES ÉTAPES (PASSAGE EN PRODUCTION)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1. Corrélation vs Causalité : Les coefficients mesurent des associations statistiques. Toute modification de l'UX doit être validée par un A/B Test.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rPr>
              <a:t>2. Déploiement : Sérialisation du pipeline complet via Joblib dans une API FastAPI pour du scoring temps réel et suivi du data drift.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