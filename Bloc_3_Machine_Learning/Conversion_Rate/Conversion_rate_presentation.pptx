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1675"/>
  <p:notesSz cx="6858000" cy="9144000"/>
  <p:embeddedFontLst>
    <p:embeddedFont>
      <p:font typeface="Inter SemiBold"/>
      <p:regular r:id="rId14"/>
      <p:bold r:id="rId15"/>
      <p:italic r:id="rId16"/>
      <p:boldItalic r:id="rId17"/>
    </p:embeddedFont>
    <p:embeddedFont>
      <p:font typeface="Inter"/>
      <p:regular r:id="rId18"/>
      <p:bold r:id="rId19"/>
      <p:italic r:id="rId20"/>
      <p:boldItalic r:id="rId21"/>
    </p:embeddedFont>
    <p:embeddedFont>
      <p:font typeface="Inter ExtraBold"/>
      <p:bold r:id="rId22"/>
      <p:boldItalic r:id="rId23"/>
    </p:embeddedFont>
    <p:embeddedFont>
      <p:font typeface="Inter Medium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8" roundtripDataSignature="AMtx7mhS4pq3C0AHajIwKW3GlxC9a90Vh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italic.fntdata"/><Relationship Id="rId22" Type="http://schemas.openxmlformats.org/officeDocument/2006/relationships/font" Target="fonts/InterExtraBold-bold.fntdata"/><Relationship Id="rId21" Type="http://schemas.openxmlformats.org/officeDocument/2006/relationships/font" Target="fonts/Inter-boldItalic.fntdata"/><Relationship Id="rId24" Type="http://schemas.openxmlformats.org/officeDocument/2006/relationships/font" Target="fonts/InterMedium-regular.fntdata"/><Relationship Id="rId23" Type="http://schemas.openxmlformats.org/officeDocument/2006/relationships/font" Target="fonts/InterExtraBold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Medium-italic.fntdata"/><Relationship Id="rId25" Type="http://schemas.openxmlformats.org/officeDocument/2006/relationships/font" Target="fonts/InterMedium-bold.fntdata"/><Relationship Id="rId28" Type="http://customschemas.google.com/relationships/presentationmetadata" Target="metadata"/><Relationship Id="rId27" Type="http://schemas.openxmlformats.org/officeDocument/2006/relationships/font" Target="fonts/InterMedium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font" Target="fonts/InterSemiBold-bold.fntdata"/><Relationship Id="rId14" Type="http://schemas.openxmlformats.org/officeDocument/2006/relationships/font" Target="fonts/InterSemiBold-regular.fntdata"/><Relationship Id="rId17" Type="http://schemas.openxmlformats.org/officeDocument/2006/relationships/font" Target="fonts/InterSemiBold-boldItalic.fntdata"/><Relationship Id="rId16" Type="http://schemas.openxmlformats.org/officeDocument/2006/relationships/font" Target="fonts/InterSemiBold-italic.fntdata"/><Relationship Id="rId19" Type="http://schemas.openxmlformats.org/officeDocument/2006/relationships/font" Target="fonts/Inter-bold.fntdata"/><Relationship Id="rId18" Type="http://schemas.openxmlformats.org/officeDocument/2006/relationships/font" Target="fonts/Inter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2" name="Google Shape;10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2" name="Google Shape;13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4" name="Google Shape;144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5" name="Google Shape;16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8" name="Google Shape;17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8" name="Google Shape;18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52500" y="762000"/>
            <a:ext cx="8572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5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CHALLENGE MACHINE LEARNING SUPERVISÉ • CLASSIFICATION &amp; BUSINESS INSIGHTS</a:t>
            </a:r>
            <a:endParaRPr b="1" i="0" sz="1500" u="none" cap="none" strike="noStrike">
              <a:solidFill>
                <a:srgbClr val="38BDF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952500" y="1238250"/>
            <a:ext cx="85725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n-US" sz="44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Conversion Rate Challenge</a:t>
            </a:r>
            <a:endParaRPr b="0" i="0" sz="4400" u="none" cap="none" strike="noStrike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Prédiction des Abonnements Newsletter &amp; Optimisation des Leviers Métier</a:t>
            </a:r>
            <a:endParaRPr b="0" i="0" sz="1800" u="none" cap="none" strike="noStrike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6" name="Google Shape;86;p1"/>
          <p:cNvPicPr preferRelativeResize="0"/>
          <p:nvPr/>
        </p:nvPicPr>
        <p:blipFill rotWithShape="1">
          <a:blip r:embed="rId4">
            <a:alphaModFix/>
          </a:blip>
          <a:srcRect b="150" l="0" r="0" t="150"/>
          <a:stretch/>
        </p:blipFill>
        <p:spPr>
          <a:xfrm>
            <a:off x="10287000" y="714375"/>
            <a:ext cx="952500" cy="1000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" name="Google Shape;87;p1"/>
          <p:cNvGrpSpPr/>
          <p:nvPr/>
        </p:nvGrpSpPr>
        <p:grpSpPr>
          <a:xfrm>
            <a:off x="952500" y="3429000"/>
            <a:ext cx="3238500" cy="1714500"/>
            <a:chOff x="0" y="0"/>
            <a:chExt cx="3238500" cy="1714500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3238500" cy="1714500"/>
            </a:xfrm>
            <a:prstGeom prst="roundRect">
              <a:avLst>
                <a:gd fmla="val 8888" name="adj"/>
              </a:avLst>
            </a:prstGeom>
            <a:solidFill>
              <a:srgbClr val="111827"/>
            </a:solidFill>
            <a:ln cap="flat" cmpd="sng" w="14300">
              <a:solidFill>
                <a:srgbClr val="1F293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1"/>
            <p:cNvSpPr/>
            <p:nvPr/>
          </p:nvSpPr>
          <p:spPr>
            <a:xfrm>
              <a:off x="0" y="0"/>
              <a:ext cx="3238500" cy="381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228600" y="285750"/>
              <a:ext cx="2781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600"/>
                <a:buFont typeface="Arial"/>
                <a:buNone/>
              </a:pPr>
              <a:r>
                <a:rPr b="0" i="0" lang="en-US" sz="36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284 580</a:t>
              </a:r>
              <a:endParaRPr b="0" i="0" sz="36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600"/>
                <a:buFont typeface="Arial"/>
                <a:buNone/>
              </a:pPr>
              <a:r>
                <a:rPr b="0" i="0" lang="en-US" sz="1200" u="none" cap="none" strike="noStrike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Sessions analysées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4476750" y="3429000"/>
            <a:ext cx="3238500" cy="1714500"/>
            <a:chOff x="0" y="0"/>
            <a:chExt cx="3238500" cy="1714500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38500" cy="1714500"/>
            </a:xfrm>
            <a:prstGeom prst="roundRect">
              <a:avLst>
                <a:gd fmla="val 8888" name="adj"/>
              </a:avLst>
            </a:prstGeom>
            <a:solidFill>
              <a:srgbClr val="111827"/>
            </a:solidFill>
            <a:ln cap="flat" cmpd="sng" w="14300">
              <a:solidFill>
                <a:srgbClr val="1F293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0" y="0"/>
              <a:ext cx="3238500" cy="38100"/>
            </a:xfrm>
            <a:prstGeom prst="roundRect">
              <a:avLst>
                <a:gd fmla="val 50000" name="adj"/>
              </a:avLst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1"/>
            <p:cNvSpPr txBox="1"/>
            <p:nvPr/>
          </p:nvSpPr>
          <p:spPr>
            <a:xfrm>
              <a:off x="228600" y="285750"/>
              <a:ext cx="2781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600"/>
                <a:buFont typeface="Arial"/>
                <a:buNone/>
              </a:pPr>
              <a:r>
                <a:rPr b="0" i="0" lang="en-US" sz="36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3,23 %</a:t>
              </a:r>
              <a:endParaRPr b="0" i="0" sz="36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600"/>
                <a:buFont typeface="Arial"/>
                <a:buNone/>
              </a:pPr>
              <a:r>
                <a:rPr b="0" i="0" lang="en-US" sz="1200" u="none" cap="none" strike="noStrike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Taux de conversion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5" name="Google Shape;95;p1"/>
          <p:cNvGrpSpPr/>
          <p:nvPr/>
        </p:nvGrpSpPr>
        <p:grpSpPr>
          <a:xfrm>
            <a:off x="8001000" y="3429000"/>
            <a:ext cx="3595383" cy="1714500"/>
            <a:chOff x="0" y="0"/>
            <a:chExt cx="3238500" cy="1714500"/>
          </a:xfrm>
        </p:grpSpPr>
        <p:sp>
          <p:nvSpPr>
            <p:cNvPr id="96" name="Google Shape;96;p1"/>
            <p:cNvSpPr/>
            <p:nvPr/>
          </p:nvSpPr>
          <p:spPr>
            <a:xfrm>
              <a:off x="0" y="0"/>
              <a:ext cx="3238500" cy="1714500"/>
            </a:xfrm>
            <a:prstGeom prst="roundRect">
              <a:avLst>
                <a:gd fmla="val 8888" name="adj"/>
              </a:avLst>
            </a:prstGeom>
            <a:solidFill>
              <a:srgbClr val="111827"/>
            </a:solidFill>
            <a:ln cap="flat" cmpd="sng" w="14300">
              <a:solidFill>
                <a:srgbClr val="1F293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0" y="0"/>
              <a:ext cx="3238500" cy="38100"/>
            </a:xfrm>
            <a:prstGeom prst="roundRect">
              <a:avLst>
                <a:gd fmla="val 50000" name="adj"/>
              </a:avLst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1"/>
            <p:cNvSpPr txBox="1"/>
            <p:nvPr/>
          </p:nvSpPr>
          <p:spPr>
            <a:xfrm>
              <a:off x="228607" y="285750"/>
              <a:ext cx="276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Arial"/>
                <a:buNone/>
              </a:pPr>
              <a:r>
                <a:rPr b="0" i="0" lang="en-US" sz="32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F1 = 0,7772</a:t>
              </a:r>
              <a:endParaRPr b="0" i="0" sz="32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Arial"/>
                <a:buNone/>
              </a:pPr>
              <a:r>
                <a:rPr b="0" i="0" lang="en-US" sz="1200" u="none" cap="none" strike="noStrike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Score Champion (LogReg 0.45)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9" name="Google Shape;99;p1"/>
          <p:cNvSpPr txBox="1"/>
          <p:nvPr/>
        </p:nvSpPr>
        <p:spPr>
          <a:xfrm>
            <a:off x="952500" y="5715000"/>
            <a:ext cx="10287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1428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Christopher Gilleron			 </a:t>
            </a: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8 octobre 2026			</a:t>
            </a:r>
            <a:r>
              <a:rPr b="1" i="0" lang="en-US" sz="1050" u="none" cap="none" strike="noStrike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Certification CDSD BLOC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/>
          <p:nvPr/>
        </p:nvSpPr>
        <p:spPr>
          <a:xfrm>
            <a:off x="731520" y="411480"/>
            <a:ext cx="106986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01  |  CADRAGE DU PROJET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Contexte Métier &amp; Diagnostic des Données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Comprendre le comportement des visiteurs de Data Science Weekly et anticiper les inscriptions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2 /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731520" y="1645920"/>
            <a:ext cx="5120640" cy="1325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914400" y="1783080"/>
            <a:ext cx="47550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21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284 580  —  Sessions d'entraînement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7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5 variables explicatives disponibles (pays, âge, statut visiteur, source, pages vues). Zéro valeur manquante</a:t>
            </a: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731520" y="3108960"/>
            <a:ext cx="5120640" cy="1325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914400" y="3246120"/>
            <a:ext cx="4755000" cy="9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21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3,23 %  —  Taux de conversion global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7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Classes fortement déséquilibrées (9 180 convertis vs 275 400 non-convertis). L'Accuracy est inopérante.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731520" y="4572000"/>
            <a:ext cx="5120640" cy="1325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" y="4709160"/>
            <a:ext cx="4755000" cy="9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21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F1-Score  —  Métrique cible officielle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7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Moyenne harmonique entre Précision et Rappel pour pénaliser les erreurs sur la classe minoritaire.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6217920" y="1645920"/>
            <a:ext cx="5242255" cy="44348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6492240" y="1828800"/>
            <a:ext cx="4693500" cy="41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🎯 Objectifs &amp; Contraintes du Client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Capacité Prédictive : Identifier en temps réel les visiteurs à forte probabilité de conversion pour déclencher des actions ciblées.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Interprétabilité Stratégique : Expliquer clairement les déterminants de l'inscription pour orienter les investissements produit et marketing.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Piège de l'Accuracy à 96,8 % : Un modèle trivial prédisant 0 tout le temps atteindrait 96,8 % d'accuracy mais raterait 100 % des conversions. Le F1-score s'impose.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Qualité des Données &amp; Outliers : Détection de 2 sessions avec un âge de 123 ans. Données conservées car l'impact est infime sur 284k lignes, mais remontée faite à l'équipe data.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 txBox="1"/>
          <p:nvPr/>
        </p:nvSpPr>
        <p:spPr>
          <a:xfrm>
            <a:off x="731520" y="411480"/>
            <a:ext cx="10698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8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02  |  EXPLORATION DES DONNÉES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Analyse Univariée : Géographie &amp; Profil Visiteur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731520" y="1234440"/>
            <a:ext cx="10698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Des disparités géographiques majeures et un effet de fidélité très marqué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3 /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_conversion_rate_by_country.png" id="126" name="Google Shape;12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5" y="1645925"/>
            <a:ext cx="4026352" cy="329182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02_conversion_rate_by_source_and_user.png" id="127" name="Google Shape;12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7875" y="1645925"/>
            <a:ext cx="6702298" cy="329182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"/>
          <p:cNvSpPr/>
          <p:nvPr/>
        </p:nvSpPr>
        <p:spPr>
          <a:xfrm>
            <a:off x="731520" y="5074920"/>
            <a:ext cx="10728655" cy="105156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12700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914400" y="5166360"/>
            <a:ext cx="10362900" cy="10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💡 INSIGHTS MAJEURS DE L'EDA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1. Marché Chinois (0,13 %) vs Allemagne (6,25 %) : Un écart x48 suggérant un blocage technique/UX (traduction, latence, formulaires).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2. Visiteurs Récurrents (7,20 %) vs Nouveaux (1,40 %) : Les utilisateurs réguliers convertissent 5x plus que les primo-arrivants.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"/>
          <p:cNvSpPr txBox="1"/>
          <p:nvPr/>
        </p:nvSpPr>
        <p:spPr>
          <a:xfrm>
            <a:off x="731520" y="411480"/>
            <a:ext cx="10698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9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03  |  COMPORTEMENT UTILISATEUR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Pages Visitées &amp; Âge : Le Signal Roi de l'Engagement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731520" y="1234440"/>
            <a:ext cx="10698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Le nombre de pages vues sépare quasi-parfaitement les deux populations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4 /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3_pages_visited_and_age_distribution.png" id="139" name="Google Shape;13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0825" y="2070525"/>
            <a:ext cx="5734652" cy="344847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4"/>
          <p:cNvSpPr/>
          <p:nvPr/>
        </p:nvSpPr>
        <p:spPr>
          <a:xfrm>
            <a:off x="7406640" y="1645920"/>
            <a:ext cx="4053535" cy="4389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7589520" y="1828800"/>
            <a:ext cx="36879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9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📈 Déterminants Comportementaux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Pages Vues (Médiane 14 vs 4) : Les distributions se chevauchent à peine. Au-delà de 10 pages, la probabilité de conversion devient supérieure à 50 %.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Âge (Médiane 25 vs 30 ans) : Les convertis sont significativement plus jeunes, mais l'effet reste secondaire comparé à l'engagement de session.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Nature de total_pages_visited : Attention : ce n'est pas une fuite de données, mais une variable contemporaine de la visite. Elle est parfaite pour scorer en direct, mais exige de travailler l'UX multi-pages.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"/>
          <p:cNvSpPr txBox="1"/>
          <p:nvPr/>
        </p:nvSpPr>
        <p:spPr>
          <a:xfrm>
            <a:off x="731520" y="381000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ÉTAPE 04 | PIPELINE DE MODÉLISATION</a:t>
            </a:r>
            <a:endParaRPr b="1" sz="1700">
              <a:solidFill>
                <a:srgbClr val="2563E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731520" y="647700"/>
            <a:ext cx="10698600" cy="384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0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Architecture du Pipeline &amp; Modèle de Référence</a:t>
            </a:r>
            <a:endParaRPr b="0" sz="2500">
              <a:solidFill>
                <a:srgbClr val="0F172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48" name="Google Shape;148;p5"/>
          <p:cNvSpPr txBox="1"/>
          <p:nvPr/>
        </p:nvSpPr>
        <p:spPr>
          <a:xfrm>
            <a:off x="731520" y="1047750"/>
            <a:ext cx="106986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Zéro fuite d'information grâce au ColumnTransformer et split stratifié 80/20</a:t>
            </a:r>
            <a:endParaRPr b="0" sz="18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731520" y="6400800"/>
            <a:ext cx="10728600" cy="18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 txBox="1"/>
          <p:nvPr/>
        </p:nvSpPr>
        <p:spPr>
          <a:xfrm>
            <a:off x="731520" y="6446520"/>
            <a:ext cx="107286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12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5 / 8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731520" y="1476375"/>
            <a:ext cx="2495700" cy="1857300"/>
          </a:xfrm>
          <a:prstGeom prst="roundRect">
            <a:avLst>
              <a:gd fmla="val 6153" name="adj"/>
            </a:avLst>
          </a:prstGeom>
          <a:solidFill>
            <a:srgbClr val="F8FAFC"/>
          </a:solidFill>
          <a:ln cap="flat" cmpd="sng" w="143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</p:txBody>
      </p:sp>
      <p:sp>
        <p:nvSpPr>
          <p:cNvPr id="152" name="Google Shape;152;p5"/>
          <p:cNvSpPr txBox="1"/>
          <p:nvPr/>
        </p:nvSpPr>
        <p:spPr>
          <a:xfrm>
            <a:off x="857250" y="1590675"/>
            <a:ext cx="2238300" cy="1362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2563EB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01. Split Stratifié 80/20</a:t>
            </a:r>
            <a:endParaRPr b="0">
              <a:solidFill>
                <a:srgbClr val="2563EB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• 227 664</a:t>
            </a:r>
            <a:r>
              <a:rPr lang="en-US" sz="16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lignes d'entraînement</a:t>
            </a:r>
            <a:endParaRPr sz="16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• 56 916</a:t>
            </a:r>
            <a:r>
              <a:rPr lang="en-US" sz="16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de validation</a:t>
            </a:r>
            <a:endParaRPr sz="16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1" lang="en-US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stratify=y préserve 3,23 %</a:t>
            </a:r>
            <a:endParaRPr i="1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3467100" y="1476375"/>
            <a:ext cx="2495700" cy="1857300"/>
          </a:xfrm>
          <a:prstGeom prst="roundRect">
            <a:avLst>
              <a:gd fmla="val 6153" name="adj"/>
            </a:avLst>
          </a:prstGeom>
          <a:solidFill>
            <a:srgbClr val="FFFFFF"/>
          </a:solidFill>
          <a:ln cap="flat" cmpd="sng" w="143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</p:txBody>
      </p:sp>
      <p:sp>
        <p:nvSpPr>
          <p:cNvPr id="154" name="Google Shape;154;p5"/>
          <p:cNvSpPr txBox="1"/>
          <p:nvPr/>
        </p:nvSpPr>
        <p:spPr>
          <a:xfrm>
            <a:off x="3590925" y="1590675"/>
            <a:ext cx="2238300" cy="1227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47556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02. StandardScaler</a:t>
            </a:r>
            <a:endParaRPr b="0">
              <a:solidFill>
                <a:srgbClr val="47556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Variables numériques :</a:t>
            </a:r>
            <a:endParaRPr sz="15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F172A"/>
                </a:solidFill>
                <a:latin typeface="Consolas"/>
                <a:ea typeface="Consolas"/>
                <a:cs typeface="Consolas"/>
                <a:sym typeface="Consolas"/>
              </a:rPr>
              <a:t>age,</a:t>
            </a:r>
            <a:br>
              <a:rPr lang="en-US">
                <a:solidFill>
                  <a:srgbClr val="0F172A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>
                <a:solidFill>
                  <a:srgbClr val="0F172A"/>
                </a:solidFill>
                <a:latin typeface="Consolas"/>
                <a:ea typeface="Consolas"/>
                <a:cs typeface="Consolas"/>
                <a:sym typeface="Consolas"/>
              </a:rPr>
              <a:t>total_pages_visited,</a:t>
            </a:r>
            <a:br>
              <a:rPr lang="en-US">
                <a:solidFill>
                  <a:srgbClr val="0F172A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>
                <a:solidFill>
                  <a:srgbClr val="0F172A"/>
                </a:solidFill>
                <a:latin typeface="Consolas"/>
                <a:ea typeface="Consolas"/>
                <a:cs typeface="Consolas"/>
                <a:sym typeface="Consolas"/>
              </a:rPr>
              <a:t>new_user</a:t>
            </a:r>
            <a:endParaRPr>
              <a:solidFill>
                <a:srgbClr val="0F172A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6200775" y="1476375"/>
            <a:ext cx="2495700" cy="1857300"/>
          </a:xfrm>
          <a:prstGeom prst="roundRect">
            <a:avLst>
              <a:gd fmla="val 6153" name="adj"/>
            </a:avLst>
          </a:prstGeom>
          <a:solidFill>
            <a:srgbClr val="FFFFFF"/>
          </a:solidFill>
          <a:ln cap="flat" cmpd="sng" w="143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</p:txBody>
      </p:sp>
      <p:sp>
        <p:nvSpPr>
          <p:cNvPr id="156" name="Google Shape;156;p5"/>
          <p:cNvSpPr txBox="1"/>
          <p:nvPr/>
        </p:nvSpPr>
        <p:spPr>
          <a:xfrm>
            <a:off x="6324600" y="1590675"/>
            <a:ext cx="2238300" cy="1012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47556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03. OneHotEncoder</a:t>
            </a:r>
            <a:endParaRPr b="0">
              <a:solidFill>
                <a:srgbClr val="47556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Variables catégorielles :</a:t>
            </a:r>
            <a:endParaRPr sz="15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F172A"/>
                </a:solidFill>
                <a:latin typeface="Consolas"/>
                <a:ea typeface="Consolas"/>
                <a:cs typeface="Consolas"/>
                <a:sym typeface="Consolas"/>
              </a:rPr>
              <a:t>country &amp;</a:t>
            </a:r>
            <a:br>
              <a:rPr lang="en-US">
                <a:solidFill>
                  <a:srgbClr val="0F172A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>
                <a:solidFill>
                  <a:srgbClr val="0F172A"/>
                </a:solidFill>
                <a:latin typeface="Consolas"/>
                <a:ea typeface="Consolas"/>
                <a:cs typeface="Consolas"/>
                <a:sym typeface="Consolas"/>
              </a:rPr>
              <a:t>source</a:t>
            </a:r>
            <a:endParaRPr>
              <a:solidFill>
                <a:srgbClr val="0F172A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8934450" y="1476375"/>
            <a:ext cx="2495700" cy="1857300"/>
          </a:xfrm>
          <a:prstGeom prst="roundRect">
            <a:avLst>
              <a:gd fmla="val 6153" name="adj"/>
            </a:avLst>
          </a:prstGeom>
          <a:solidFill>
            <a:srgbClr val="ECFDF5"/>
          </a:solidFill>
          <a:ln cap="flat" cmpd="sng" w="1905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</p:txBody>
      </p:sp>
      <p:sp>
        <p:nvSpPr>
          <p:cNvPr id="158" name="Google Shape;158;p5"/>
          <p:cNvSpPr txBox="1"/>
          <p:nvPr/>
        </p:nvSpPr>
        <p:spPr>
          <a:xfrm>
            <a:off x="9058275" y="1590675"/>
            <a:ext cx="2238300" cy="1312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05966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04. Pipeline Scikit-Learn</a:t>
            </a:r>
            <a:endParaRPr b="0">
              <a:solidFill>
                <a:srgbClr val="05966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• Intègre préprocesseur + estimateur</a:t>
            </a:r>
            <a:endParaRPr sz="1500">
              <a:solidFill>
                <a:srgbClr val="065F4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✓ Aucune fuite de données</a:t>
            </a:r>
            <a:endParaRPr b="1" sz="1500">
              <a:solidFill>
                <a:srgbClr val="04785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731520" y="3524250"/>
            <a:ext cx="5219700" cy="2667000"/>
          </a:xfrm>
          <a:prstGeom prst="roundRect">
            <a:avLst>
              <a:gd fmla="val 5714" name="adj"/>
            </a:avLst>
          </a:prstGeom>
          <a:solidFill>
            <a:srgbClr val="F8FAFC"/>
          </a:solidFill>
          <a:ln cap="flat" cmpd="sng" w="143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</p:txBody>
      </p:sp>
      <p:sp>
        <p:nvSpPr>
          <p:cNvPr id="160" name="Google Shape;160;p5"/>
          <p:cNvSpPr txBox="1"/>
          <p:nvPr/>
        </p:nvSpPr>
        <p:spPr>
          <a:xfrm>
            <a:off x="914400" y="3695700"/>
            <a:ext cx="4848300" cy="219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Modèle 0 : Baseline 1 Variable (Pages vues)</a:t>
            </a:r>
            <a:endParaRPr b="1" sz="19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F1-Score: 0,7055</a:t>
            </a:r>
            <a:r>
              <a:rPr lang="en-US" sz="1700"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Rappel: 61,06 %</a:t>
            </a:r>
            <a:r>
              <a:rPr lang="en-US" sz="1700"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Précision: 83,53 %</a:t>
            </a:r>
            <a:endParaRPr sz="1700"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 Prouve immédiatement que la variable pages vues porte l'essentiel du signal.</a:t>
            </a:r>
            <a:endParaRPr sz="16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 Sert de repère minimal imposé par le template du challenge.</a:t>
            </a:r>
            <a:endParaRPr sz="16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200775" y="3524250"/>
            <a:ext cx="5248200" cy="2667000"/>
          </a:xfrm>
          <a:prstGeom prst="roundRect">
            <a:avLst>
              <a:gd fmla="val 5714" name="adj"/>
            </a:avLst>
          </a:prstGeom>
          <a:solidFill>
            <a:srgbClr val="EFF6FF"/>
          </a:solidFill>
          <a:ln cap="flat" cmpd="sng" w="1905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</p:txBody>
      </p:sp>
      <p:sp>
        <p:nvSpPr>
          <p:cNvPr id="162" name="Google Shape;162;p5"/>
          <p:cNvSpPr txBox="1"/>
          <p:nvPr/>
        </p:nvSpPr>
        <p:spPr>
          <a:xfrm>
            <a:off x="6381750" y="3695700"/>
            <a:ext cx="4876800" cy="2085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00">
                <a:solidFill>
                  <a:srgbClr val="1D4ED8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Modèle 1 : LogReg Complète (Seuil standard 0,50)</a:t>
            </a:r>
            <a:endParaRPr b="0" sz="1900">
              <a:solidFill>
                <a:srgbClr val="1D4ED8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b="0" lang="en-US" sz="1500">
                <a:solidFill>
                  <a:srgbClr val="00FF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F1-Score: 0,767</a:t>
            </a:r>
            <a:r>
              <a:rPr lang="en-US" sz="1500">
                <a:solidFill>
                  <a:srgbClr val="00FF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8</a:t>
            </a:r>
            <a:r>
              <a:rPr b="0" lang="en-US" sz="1500">
                <a:solidFill>
                  <a:srgbClr val="00FF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 (+6,2 pts)</a:t>
            </a:r>
            <a:r>
              <a:rPr lang="en-US" sz="1500">
                <a:solidFill>
                  <a:srgbClr val="00FF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lang="en-US" sz="1500">
                <a:solidFill>
                  <a:srgbClr val="1E40A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Rappel: 68,95 %</a:t>
            </a:r>
            <a:r>
              <a:rPr lang="en-US" sz="1500"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lang="en-US" sz="1500">
                <a:solidFill>
                  <a:srgbClr val="1E40A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Précision: 86,53 %</a:t>
            </a:r>
            <a:endParaRPr sz="1500"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b="1" lang="en-US" sz="15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ROC-AUC :</a:t>
            </a:r>
            <a:r>
              <a:rPr lang="en-US" sz="15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 0,9869 </a:t>
            </a:r>
            <a:endParaRPr sz="1500"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• L'intégration du pays, de la source et du profil utilisateur améliore nettement le rappel.</a:t>
            </a:r>
            <a:endParaRPr sz="1500">
              <a:solidFill>
                <a:srgbClr val="1E3A8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6"/>
          <p:cNvSpPr txBox="1"/>
          <p:nvPr/>
        </p:nvSpPr>
        <p:spPr>
          <a:xfrm>
            <a:off x="731520" y="411480"/>
            <a:ext cx="10698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8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05  |  OPTIMISATION MÉTIER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6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Arbitrage Précision / Rappel &amp; Seuil Optimal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6"/>
          <p:cNvSpPr txBox="1"/>
          <p:nvPr/>
        </p:nvSpPr>
        <p:spPr>
          <a:xfrm>
            <a:off x="731457" y="1109740"/>
            <a:ext cx="10698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Ajuster le seuil de décision à 0,45 pour maximiser les vraies conversions captées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6 /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731520" y="5074920"/>
            <a:ext cx="10728655" cy="105156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 cap="flat" cmpd="sng" w="12700">
            <a:solidFill>
              <a:srgbClr val="A7F3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 txBox="1"/>
          <p:nvPr/>
        </p:nvSpPr>
        <p:spPr>
          <a:xfrm>
            <a:off x="914400" y="5166360"/>
            <a:ext cx="103629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6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🎯 SEUIL OPTIMAL RETENU : 0,45  —  F1-SCORE = 0,7772 (MODÈLE CHAMPION)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Bilan Matrice (Validation) : 1 320 Vrais Positifs (Rappel : 71,90 %) et seulement 241 Faux Positifs (Précision : 84,56 %).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Pourquoi le seuil plutôt que SMOTE ? Préserve des probabilités calibrées, transparentes et ajustables selon les coûts métier.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4" name="Google Shape;17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8575" y="1524000"/>
            <a:ext cx="6048126" cy="311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51824" y="1524005"/>
            <a:ext cx="3871893" cy="3215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"/>
          <p:cNvSpPr txBox="1"/>
          <p:nvPr/>
        </p:nvSpPr>
        <p:spPr>
          <a:xfrm>
            <a:off x="731520" y="411480"/>
            <a:ext cx="106986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06  |  BENCHMARK &amp; INTERPRÉTABILITÉ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7"/>
          <p:cNvSpPr txBox="1"/>
          <p:nvPr/>
        </p:nvSpPr>
        <p:spPr>
          <a:xfrm>
            <a:off x="731520" y="685800"/>
            <a:ext cx="10698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Comparaison des Modèles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7"/>
          <p:cNvSpPr txBox="1"/>
          <p:nvPr/>
        </p:nvSpPr>
        <p:spPr>
          <a:xfrm>
            <a:off x="731520" y="1234440"/>
            <a:ext cx="10698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 Régression Logistique surclasse les modèles non-linéaires en précision et explicabilité</a:t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7 /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5" name="Google Shape;185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3838" y="1661475"/>
            <a:ext cx="9604000" cy="463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"/>
          <p:cNvSpPr txBox="1"/>
          <p:nvPr/>
        </p:nvSpPr>
        <p:spPr>
          <a:xfrm>
            <a:off x="731520" y="411480"/>
            <a:ext cx="106986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07  |  PLAN D'ACTION &amp; CLÔTURE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8"/>
          <p:cNvSpPr txBox="1"/>
          <p:nvPr/>
        </p:nvSpPr>
        <p:spPr>
          <a:xfrm>
            <a:off x="731520" y="685800"/>
            <a:ext cx="1069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Recommandations Stratégiques &amp; Limites du Modèle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8"/>
          <p:cNvSpPr txBox="1"/>
          <p:nvPr/>
        </p:nvSpPr>
        <p:spPr>
          <a:xfrm>
            <a:off x="731520" y="1234440"/>
            <a:ext cx="106986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Trois chantiers opérationnels prioritaires pour maximiser les souscriptions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8 /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731520" y="1645920"/>
            <a:ext cx="3456432" cy="3108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 txBox="1"/>
          <p:nvPr/>
        </p:nvSpPr>
        <p:spPr>
          <a:xfrm>
            <a:off x="868680" y="1783080"/>
            <a:ext cx="3182100" cy="24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PRIORITÉ 1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9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Auditer le Marché Chinois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Taux de 0,13 % contre 6,25 % en Allemagne : anomalie technique probable.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Actions : Tester le temps de chargement (Great Firewall), traduire l'interface et vérifier l'accès aux serveurs de newsletter.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4370832" y="1645920"/>
            <a:ext cx="3456432" cy="3108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 txBox="1"/>
          <p:nvPr/>
        </p:nvSpPr>
        <p:spPr>
          <a:xfrm>
            <a:off x="4507992" y="1783080"/>
            <a:ext cx="3182100" cy="24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PRIORITÉ 2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9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Architecture Multi-Pages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Chaque page vue augmente exponentiellement la probabilité d'inscription.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Actions : Maillage interne d'articles 'Read Next', sommaires interactifs et formulaires d'inscription répétés au fil de la lecture.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8010144" y="1645920"/>
            <a:ext cx="3456432" cy="3108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8147304" y="1783080"/>
            <a:ext cx="3182100" cy="24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5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PRIORITÉ 3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9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Rétention Primo-Visiteurs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Les visiteurs récurrents convertissent 5x plus que les nouveaux arrivants.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Actions : Déclencher un pop-in ciblé d'invitation lors de la 2e visite plutôt que d'agresser l'utilisateur dès la première seconde.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731525" y="4892050"/>
            <a:ext cx="11034900" cy="10590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 txBox="1"/>
          <p:nvPr/>
        </p:nvSpPr>
        <p:spPr>
          <a:xfrm>
            <a:off x="914400" y="4983475"/>
            <a:ext cx="108519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⚠️ LIMITES DU MODÈLE &amp; PROCHAINES ÉTAPES (PASSAGE EN PRODUCTION)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4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1. Corrélation vs Causalité : Les coefficients mesurent des associations statistiques. Toute modification de l'UX doit être validée par un A/B Test.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4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2. Déploiement : Sérialisation du pipeline complet via Joblib dans une API FastAPI pour du scoring temps réel et suivi du data drift.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