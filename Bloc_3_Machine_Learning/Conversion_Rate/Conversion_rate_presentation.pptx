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1675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Inter ExtraBold"/>
      <p:bold r:id="rId23"/>
      <p:boldItalic r:id="rId24"/>
    </p:embeddedFont>
    <p:embeddedFont>
      <p:font typeface="Inter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jIVTh6aeTglY0SduX9jd7eHytV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317BC0-B064-43F5-9045-13844AA80701}">
  <a:tblStyle styleId="{2F317BC0-B064-43F5-9045-13844AA8070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InterExtraBold-boldItalic.fntdata"/><Relationship Id="rId23" Type="http://schemas.openxmlformats.org/officeDocument/2006/relationships/font" Target="fonts/Inter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Medium-bold.fntdata"/><Relationship Id="rId25" Type="http://schemas.openxmlformats.org/officeDocument/2006/relationships/font" Target="fonts/InterMedium-regular.fntdata"/><Relationship Id="rId28" Type="http://schemas.openxmlformats.org/officeDocument/2006/relationships/font" Target="fonts/InterMedium-boldItalic.fntdata"/><Relationship Id="rId27" Type="http://schemas.openxmlformats.org/officeDocument/2006/relationships/font" Target="fonts/Inter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8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Inter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952500" y="762000"/>
            <a:ext cx="857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CHALLENGE MACHINE LEARNING SUPERVISÉ • CLASSIFICATION &amp; BUSINESS INSIGHTS</a:t>
            </a:r>
            <a:endParaRPr b="1" i="0" sz="1100" u="none" cap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52500" y="1238250"/>
            <a:ext cx="85725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Conversion Rate Challenge</a:t>
            </a:r>
            <a:endParaRPr b="0" i="0" sz="4400" u="none" cap="none" strike="noStrike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Prédiction des Abonnements Newsletter &amp; Optimisation des Leviers Métier</a:t>
            </a:r>
            <a:endParaRPr b="0" i="0" sz="18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 b="150" l="0" r="0" t="150"/>
          <a:stretch/>
        </p:blipFill>
        <p:spPr>
          <a:xfrm>
            <a:off x="10287000" y="714375"/>
            <a:ext cx="952500" cy="100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"/>
          <p:cNvGrpSpPr/>
          <p:nvPr/>
        </p:nvGrpSpPr>
        <p:grpSpPr>
          <a:xfrm>
            <a:off x="952500" y="3429000"/>
            <a:ext cx="3238500" cy="1714500"/>
            <a:chOff x="0" y="0"/>
            <a:chExt cx="3238500" cy="1714500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3238500" cy="1714500"/>
            </a:xfrm>
            <a:prstGeom prst="roundRect">
              <a:avLst>
                <a:gd fmla="val 8888" name="adj"/>
              </a:avLst>
            </a:prstGeom>
            <a:solidFill>
              <a:srgbClr val="111827"/>
            </a:solidFill>
            <a:ln cap="flat" cmpd="sng" w="14300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0" y="0"/>
              <a:ext cx="32385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228600" y="285750"/>
              <a:ext cx="2781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284 580</a:t>
              </a:r>
              <a:r>
                <a:rPr b="0" i="0" lang="en-US" sz="1200" u="none" cap="none" strike="noStrike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Sessions analysées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4476750" y="3429000"/>
            <a:ext cx="3238500" cy="1714500"/>
            <a:chOff x="0" y="0"/>
            <a:chExt cx="3238500" cy="1714500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38500" cy="1714500"/>
            </a:xfrm>
            <a:prstGeom prst="roundRect">
              <a:avLst>
                <a:gd fmla="val 8888" name="adj"/>
              </a:avLst>
            </a:prstGeom>
            <a:solidFill>
              <a:srgbClr val="111827"/>
            </a:solidFill>
            <a:ln cap="flat" cmpd="sng" w="14300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0" y="0"/>
              <a:ext cx="32385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228600" y="285750"/>
              <a:ext cx="2781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3,23 %</a:t>
              </a:r>
              <a:r>
                <a:rPr b="0" i="0" lang="en-US" sz="1200" u="none" cap="none" strike="noStrike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Taux de conversion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8001000" y="3429000"/>
            <a:ext cx="3238500" cy="1714500"/>
            <a:chOff x="0" y="0"/>
            <a:chExt cx="3238500" cy="1714500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3238500" cy="1714500"/>
            </a:xfrm>
            <a:prstGeom prst="roundRect">
              <a:avLst>
                <a:gd fmla="val 8888" name="adj"/>
              </a:avLst>
            </a:prstGeom>
            <a:solidFill>
              <a:srgbClr val="111827"/>
            </a:solidFill>
            <a:ln cap="flat" cmpd="sng" w="14300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0" y="0"/>
              <a:ext cx="3238500" cy="381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228600" y="285750"/>
              <a:ext cx="2781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F1 = 0,7762</a:t>
              </a:r>
              <a:r>
                <a:rPr b="0" i="0" lang="en-US" sz="1200" u="none" cap="none" strike="noStrike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Score Champion (LogReg 0.45)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1"/>
          <p:cNvSpPr txBox="1"/>
          <p:nvPr/>
        </p:nvSpPr>
        <p:spPr>
          <a:xfrm>
            <a:off x="952500" y="5715000"/>
            <a:ext cx="10287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4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Christopher Gilleron</a:t>
            </a: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8 octobre 2026</a:t>
            </a:r>
            <a:r>
              <a:rPr b="0" i="0" lang="en-US" sz="1050" u="none" cap="none" strike="noStrike">
                <a:solidFill>
                  <a:srgbClr val="3FDAD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Certification CDSD BLOC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ÉTAPE 01  |  CADRAGE DU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Contexte Métier &amp; Diagnostic des Données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Comprendre le comportement des visiteurs de Data Science Weekly et anticiper les inscriptions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Certification CDSD — Bloc 3 : Machine Learning Supervisé  |  Projet Conversion Rate  |  Chris Gilleron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 /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731520" y="1645920"/>
            <a:ext cx="5120640" cy="13258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914400" y="1783080"/>
            <a:ext cx="4755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284 580  —  Sessions d'entraînement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5 variables explicatives disponibles (pays, âge, statut visiteur, source, pages vues). Zéro valeur manquante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731520" y="3108960"/>
            <a:ext cx="5120640" cy="13258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914400" y="3246120"/>
            <a:ext cx="4755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3,23 %  —  Taux de conversion global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Classes fortement déséquilibrées (9 180 convertis vs 275 400 non-convertis). L'Accuracy est inopérante.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731520" y="4572000"/>
            <a:ext cx="5120640" cy="13258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914400" y="4709160"/>
            <a:ext cx="4755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F1-Score  —  Métrique cible officielle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Moyenne harmonique entre Précision et Rappel pour pénaliser les erreurs sur la classe minoritaire.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217920" y="1645920"/>
            <a:ext cx="5242255" cy="4434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6492240" y="1828800"/>
            <a:ext cx="4693500" cy="41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🎯 Objectifs &amp; Contraintes du Client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5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Capacité Prédictive : Identifier en temps réel les visiteurs à forte probabilité de conversion pour déclencher des actions ciblées.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5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Interprétabilité Stratégique : Expliquer clairement les déterminants de l'inscription pour orienter les investissements produit et marketing.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5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Piège de l'Accuracy à 96,8 % : Un modèle trivial prédisant 0 tout le temps atteindrait 96,8 % d'accuracy mais raterait 100 % des conversions. Le F1-score s'impose.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5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Qualité des Données &amp; Outliers : Détection de 2 sessions avec un âge de 123 ans. Données conservées car l'impact est infime sur 284k lignes, mais remontée faite à l'équipe data.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ÉTAPE 02  |  EXPLORATION DES DONNÉES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Analyse Univariée : Géographie &amp; Profil Visiteur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731520" y="1234440"/>
            <a:ext cx="1069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 disparités géographiques majeures et un effet de fidélité très marqué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Certification CDSD — Bloc 3 : Machine Learning Supervisé  |  Projet Conversion Rate  |  Chris Gilleron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 /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1_conversion_rate_by_country.png" id="126" name="Google Shape;1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5" y="1645925"/>
            <a:ext cx="4026352" cy="3291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2_conversion_rate_by_source_and_user.png" id="127" name="Google Shape;12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7875" y="1645925"/>
            <a:ext cx="6702298" cy="329182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/>
          <p:nvPr/>
        </p:nvSpPr>
        <p:spPr>
          <a:xfrm>
            <a:off x="731520" y="5074920"/>
            <a:ext cx="10728655" cy="105156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914400" y="5166360"/>
            <a:ext cx="103629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💡 INSIGHTS MAJEURS DE L'EDA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1. Marché Chinois (0,13 %) vs Allemagne (6,25 %) : Un écart x48 suggérant un blocage technique/UX (traduction, latence, formulaires).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2. Visiteurs Récurrents (7,20 %) vs Nouveaux (1,40 %) : Les utilisateurs réguliers convertissent 5x plus que les primo-arrivants.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ÉTAPE 03  |  COMPORTEMENT UTILISATEUR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Pages Visitées &amp; Âge : Le Signal Roi de l'Engagement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nombre de pages vues sépare quasi-parfaitement les deux populations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Certification CDSD — Bloc 3 : Machine Learning Supervisé  |  Projet Conversion Rate  |  Chris Gilleron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4 /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3_pages_visited_and_age_distribution.png"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0825" y="2070525"/>
            <a:ext cx="5734652" cy="344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7406640" y="1645920"/>
            <a:ext cx="4053535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7589520" y="1828800"/>
            <a:ext cx="3687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📈 Déterminants Comportementaux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Pages Vues (Médiane 14 vs 4) : Les distributions se chevauchent à peine. Au-delà de 10 pages, la probabilité de conversion devient supérieure à 50 %.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Âge (Médiane 25 vs 30 ans) : Les convertis sont significativement plus jeunes, mais l'effet reste secondaire comparé à l'engagement de session.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Nature de total_pages_visited : Attention : ce n'est pas une fuite de données, mais une variable contemporaine de la visite. Elle est parfaite pour scorer en direct, mais exige de travailler l'UX multi-pages.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/>
          <p:nvPr/>
        </p:nvSpPr>
        <p:spPr>
          <a:xfrm>
            <a:off x="731520" y="411480"/>
            <a:ext cx="10698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ÉTAPE 04  |  PIPELINE DE MODÉLISATION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731520" y="685800"/>
            <a:ext cx="106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Architecture du Pipeline &amp; Modèle de Référence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731520" y="1234440"/>
            <a:ext cx="1069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Zéro fuite d'information grâce au ColumnTransformer et split stratifié 80/20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731520" y="6400800"/>
            <a:ext cx="10728600" cy="183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731520" y="6446520"/>
            <a:ext cx="10728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Certification CDSD — Bloc 3 : Machine Learning Supervisé  |  Projet Conversion Rate  |  Chris Gilleron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5 /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731520" y="1645920"/>
            <a:ext cx="2560200" cy="2011800"/>
          </a:xfrm>
          <a:prstGeom prst="roundRect">
            <a:avLst>
              <a:gd fmla="val 7575" name="adj"/>
            </a:avLst>
          </a:prstGeom>
          <a:solidFill>
            <a:srgbClr val="FFFFFF"/>
          </a:solidFill>
          <a:ln cap="flat" cmpd="sng" w="14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868680" y="1783080"/>
            <a:ext cx="2286000" cy="185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call_split</a:t>
            </a:r>
            <a:r>
              <a:rPr b="1" lang="en-US" sz="18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 1. Split Stratifié 80/20</a:t>
            </a:r>
            <a:endParaRPr b="1" sz="1800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5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5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227 664</a:t>
            </a:r>
            <a:r>
              <a:rPr b="0" lang="en-US" sz="15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lignes d'entraînement</a:t>
            </a:r>
            <a:endParaRPr b="0" sz="15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5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5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56 916</a:t>
            </a:r>
            <a:r>
              <a:rPr b="0" lang="en-US" sz="15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 validation</a:t>
            </a:r>
            <a:endParaRPr b="0" sz="15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1" lang="en-US" sz="15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stratify=y préserve 3,23 %</a:t>
            </a:r>
            <a:endParaRPr b="0" i="1" sz="15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456432" y="1645920"/>
            <a:ext cx="2560200" cy="2011800"/>
          </a:xfrm>
          <a:prstGeom prst="roundRect">
            <a:avLst>
              <a:gd fmla="val 7575" name="adj"/>
            </a:avLst>
          </a:prstGeom>
          <a:solidFill>
            <a:srgbClr val="FFFFFF"/>
          </a:solidFill>
          <a:ln cap="flat" cmpd="sng" w="143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3593542" y="1737030"/>
            <a:ext cx="2286000" cy="149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tune</a:t>
            </a:r>
            <a:r>
              <a:rPr b="1" lang="en-US" sz="18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 2. StandardScaler</a:t>
            </a:r>
            <a:endParaRPr b="1" sz="1800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5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Variables numériques :</a:t>
            </a:r>
            <a:endParaRPr b="0" sz="15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93B"/>
                </a:solidFill>
                <a:highlight>
                  <a:srgbClr val="F1F5F9"/>
                </a:highlight>
                <a:latin typeface="Consolas"/>
                <a:ea typeface="Consolas"/>
                <a:cs typeface="Consolas"/>
                <a:sym typeface="Consolas"/>
              </a:rPr>
              <a:t>age, total_pages_visited, new_user</a:t>
            </a:r>
            <a:endParaRPr b="1" sz="1500">
              <a:solidFill>
                <a:srgbClr val="1E293B"/>
              </a:solidFill>
              <a:highlight>
                <a:srgbClr val="F1F5F9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181344" y="1645920"/>
            <a:ext cx="2560200" cy="2011800"/>
          </a:xfrm>
          <a:prstGeom prst="roundRect">
            <a:avLst>
              <a:gd fmla="val 7575" name="adj"/>
            </a:avLst>
          </a:prstGeom>
          <a:solidFill>
            <a:srgbClr val="FFFFFF"/>
          </a:solidFill>
          <a:ln cap="flat" cmpd="sng" w="143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6318504" y="1783080"/>
            <a:ext cx="2286000" cy="102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category</a:t>
            </a:r>
            <a:r>
              <a:rPr b="1" lang="en-US" sz="18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 3. OneHotEncoder</a:t>
            </a:r>
            <a:endParaRPr b="1" sz="1800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5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Sur </a:t>
            </a:r>
            <a:r>
              <a:rPr b="1" lang="en-US" sz="15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country</a:t>
            </a:r>
            <a:r>
              <a:rPr b="0" lang="en-US" sz="15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1" lang="en-US" sz="15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b="0" sz="15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rgbClr val="1E293B"/>
              </a:solidFill>
              <a:highlight>
                <a:srgbClr val="F1F5F9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8906256" y="1645920"/>
            <a:ext cx="2560200" cy="2011800"/>
          </a:xfrm>
          <a:prstGeom prst="roundRect">
            <a:avLst>
              <a:gd fmla="val 7575" name="adj"/>
            </a:avLst>
          </a:prstGeom>
          <a:solidFill>
            <a:srgbClr val="ECFDF5"/>
          </a:solidFill>
          <a:ln cap="flat" cmpd="sng" w="143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9043416" y="1783080"/>
            <a:ext cx="2286000" cy="179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verified_user</a:t>
            </a:r>
            <a:r>
              <a:rPr b="1" lang="en-US" sz="18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 4. Pipeline Scikit-Learn</a:t>
            </a:r>
            <a:endParaRPr b="1" sz="1800">
              <a:solidFill>
                <a:srgbClr val="0596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550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• Intègre préprocesseur + estimateur</a:t>
            </a:r>
            <a:endParaRPr b="0" sz="1550">
              <a:solidFill>
                <a:srgbClr val="065F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047857"/>
                </a:solidFill>
                <a:latin typeface="Calibri"/>
                <a:ea typeface="Calibri"/>
                <a:cs typeface="Calibri"/>
                <a:sym typeface="Calibri"/>
              </a:rPr>
              <a:t>✓ Aucune fuite de données</a:t>
            </a:r>
            <a:endParaRPr b="1" sz="1550">
              <a:solidFill>
                <a:srgbClr val="0478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731520" y="3886200"/>
            <a:ext cx="5212200" cy="2240400"/>
          </a:xfrm>
          <a:prstGeom prst="roundRect">
            <a:avLst>
              <a:gd fmla="val 8503" name="adj"/>
            </a:avLst>
          </a:prstGeom>
          <a:solidFill>
            <a:srgbClr val="F8FAFC"/>
          </a:solidFill>
          <a:ln cap="flat" cmpd="sng" w="143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>
            <a:off x="914400" y="4023360"/>
            <a:ext cx="4846200" cy="185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Modèle 0 : Baseline 1 Variable (Pages vues)</a:t>
            </a:r>
            <a:endParaRPr b="1" sz="19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E293B"/>
                </a:solidFill>
                <a:highlight>
                  <a:srgbClr val="E2E8F0"/>
                </a:highlight>
                <a:latin typeface="Calibri"/>
                <a:ea typeface="Calibri"/>
                <a:cs typeface="Calibri"/>
                <a:sym typeface="Calibri"/>
              </a:rPr>
              <a:t>F1-Score: 0,7055</a:t>
            </a:r>
            <a:r>
              <a:rPr b="0"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500">
                <a:solidFill>
                  <a:srgbClr val="1E293B"/>
                </a:solidFill>
                <a:highlight>
                  <a:srgbClr val="E2E8F0"/>
                </a:highlight>
                <a:latin typeface="Calibri"/>
                <a:ea typeface="Calibri"/>
                <a:cs typeface="Calibri"/>
                <a:sym typeface="Calibri"/>
              </a:rPr>
              <a:t>Rappel: 61,06 %</a:t>
            </a:r>
            <a:r>
              <a:rPr b="0"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500">
                <a:solidFill>
                  <a:srgbClr val="1E293B"/>
                </a:solidFill>
                <a:highlight>
                  <a:srgbClr val="E2E8F0"/>
                </a:highlight>
                <a:latin typeface="Calibri"/>
                <a:ea typeface="Calibri"/>
                <a:cs typeface="Calibri"/>
                <a:sym typeface="Calibri"/>
              </a:rPr>
              <a:t>Précision: 83,53 %</a:t>
            </a:r>
            <a:endParaRPr b="0" sz="15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Prouve immédiatement que la variable pages vues porte l'essentiel du signal.</a:t>
            </a:r>
            <a:endParaRPr b="0" sz="16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Sert de repère minimal imposé par le template du challenge.</a:t>
            </a:r>
            <a:endParaRPr b="0" sz="16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217920" y="3886200"/>
            <a:ext cx="5242200" cy="2240400"/>
          </a:xfrm>
          <a:prstGeom prst="roundRect">
            <a:avLst>
              <a:gd fmla="val 8503" name="adj"/>
            </a:avLst>
          </a:prstGeom>
          <a:solidFill>
            <a:srgbClr val="EFF6FF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6400800" y="4023360"/>
            <a:ext cx="4876500" cy="150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Modèle 1 : LogReg Complète (Seuil standard 0,50)</a:t>
            </a:r>
            <a:endParaRPr b="1" sz="1800">
              <a:solidFill>
                <a:srgbClr val="1D4E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highlight>
                  <a:srgbClr val="2563EB"/>
                </a:highlight>
                <a:latin typeface="Calibri"/>
                <a:ea typeface="Calibri"/>
                <a:cs typeface="Calibri"/>
                <a:sym typeface="Calibri"/>
              </a:rPr>
              <a:t>F1-Score: 0,7675 (+6,2 pts)</a:t>
            </a:r>
            <a:r>
              <a:rPr b="1" lang="en-US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>
                <a:solidFill>
                  <a:srgbClr val="1E40AF"/>
                </a:solidFill>
                <a:highlight>
                  <a:srgbClr val="DBEAFE"/>
                </a:highlight>
                <a:latin typeface="Calibri"/>
                <a:ea typeface="Calibri"/>
                <a:cs typeface="Calibri"/>
                <a:sym typeface="Calibri"/>
              </a:rPr>
              <a:t>Rappel: 68,95 %</a:t>
            </a:r>
            <a:r>
              <a:rPr b="1" lang="en-US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>
                <a:solidFill>
                  <a:srgbClr val="1E40AF"/>
                </a:solidFill>
                <a:highlight>
                  <a:srgbClr val="DBEAFE"/>
                </a:highlight>
                <a:latin typeface="Calibri"/>
                <a:ea typeface="Calibri"/>
                <a:cs typeface="Calibri"/>
                <a:sym typeface="Calibri"/>
              </a:rPr>
              <a:t>Précision: 86,53 %</a:t>
            </a:r>
            <a:endParaRPr b="1">
              <a:solidFill>
                <a:srgbClr val="1D4E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• ROC-AUC : </a:t>
            </a:r>
            <a:r>
              <a:rPr b="1" lang="en-US" sz="145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0,9869</a:t>
            </a:r>
            <a:r>
              <a:rPr b="0" lang="en-US" sz="145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 | Accuracy : </a:t>
            </a:r>
            <a:r>
              <a:rPr b="1" lang="en-US" sz="145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98,65 %</a:t>
            </a:r>
            <a:r>
              <a:rPr b="0" lang="en-US" sz="145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4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(Trompeuse)</a:t>
            </a:r>
            <a:endParaRPr b="0" sz="1450">
              <a:solidFill>
                <a:srgbClr val="1E3A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• L'intégration du pays, de la source et du profil utilisateur améliore nettement le rappel.</a:t>
            </a:r>
            <a:endParaRPr b="0" sz="1450">
              <a:solidFill>
                <a:srgbClr val="1E3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ÉTAPE 05  |  OPTIMISATION MÉTIER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Arbitrage Précision / Rappel &amp; Seuil Optimal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Ajuster le seuil de décision à 0,45 pour maximiser les vraies conversions captées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Certification CDSD — Bloc 3 : Machine Learning Supervisé  |  Projet Conversion Rate  |  Chris Gilleron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6 /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5_threshold_optimization_curve.png" id="172" name="Google Shape;1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45920"/>
            <a:ext cx="5486400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4_confusion_matrix_logreg.png" id="173" name="Google Shape;17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1645920"/>
            <a:ext cx="4967935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/>
          <p:nvPr/>
        </p:nvSpPr>
        <p:spPr>
          <a:xfrm>
            <a:off x="731520" y="5074920"/>
            <a:ext cx="10728655" cy="105156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914400" y="5166360"/>
            <a:ext cx="103628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🎯 SEUIL OPTIMAL RETENU : 0,45  —  F1-SCORE = 0,7762 (MODÈLE CHAMPION)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Bilan Matrice (Validation) : 1 318 Vrais Positifs (Rappel : 71,79 %) et seulement 242 Faux Positifs (Précision : 84,49 %).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Pourquoi le seuil plutôt que SMOTE ? Préserve des probabilités calibrées, transparentes et ajustables selon les coûts métier.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ÉTAPE 06  |  BENCHMARK &amp; INTERPRÉTABILITÉ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Comparaison des Modèles &amp; Analyse des Coefficients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731520" y="1234440"/>
            <a:ext cx="1069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Régression Logistique surclasse les modèles non-linéaires en précision et explicabilité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Certification CDSD — Bloc 3 : Machine Learning Supervisé  |  Projet Conversion Rate  |  Chris Gilleron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7 /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8_logreg_coefficients_odds_ratios.png" id="185" name="Google Shape;1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565" y="1645920"/>
            <a:ext cx="5486400" cy="438911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/>
          <p:nvPr/>
        </p:nvSpPr>
        <p:spPr>
          <a:xfrm>
            <a:off x="6492240" y="1645920"/>
            <a:ext cx="4967935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7"/>
          <p:cNvGraphicFramePr/>
          <p:nvPr/>
        </p:nvGraphicFramePr>
        <p:xfrm>
          <a:off x="6675120" y="178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{2F317BC0-B064-43F5-9045-13844AA80701}</a:tableStyleId>
              </a:tblPr>
              <a:tblGrid>
                <a:gridCol w="2011675"/>
                <a:gridCol w="822950"/>
                <a:gridCol w="822950"/>
                <a:gridCol w="9445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Modèle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F1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Rappel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ROC-AUC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F172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72A"/>
                          </a:solidFill>
                        </a:rPr>
                        <a:t>Baseline LogReg (1 var)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72A"/>
                          </a:solidFill>
                        </a:rPr>
                        <a:t>0,7055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72A"/>
                          </a:solidFill>
                        </a:rPr>
                        <a:t>61,06 %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72A"/>
                          </a:solidFill>
                        </a:rPr>
                        <a:t>0,9764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72A"/>
                          </a:solidFill>
                        </a:rPr>
                        <a:t>LogReg Complète (0.50)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72A"/>
                          </a:solidFill>
                        </a:rPr>
                        <a:t>0,7675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72A"/>
                          </a:solidFill>
                        </a:rPr>
                        <a:t>68,95 %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72A"/>
                          </a:solidFill>
                        </a:rPr>
                        <a:t>0,9869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59669"/>
                          </a:solidFill>
                        </a:rPr>
                        <a:t>LogReg Optimisée (0.45) 🏆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59669"/>
                          </a:solidFill>
                        </a:rPr>
                        <a:t>0,7762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59669"/>
                          </a:solidFill>
                        </a:rPr>
                        <a:t>71,79 %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59669"/>
                          </a:solidFill>
                        </a:rPr>
                        <a:t>0,9869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CFD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72A"/>
                          </a:solidFill>
                        </a:rPr>
                        <a:t>Random Forest (Tuned)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72A"/>
                          </a:solidFill>
                        </a:rPr>
                        <a:t>0,7611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72A"/>
                          </a:solidFill>
                        </a:rPr>
                        <a:t>75,49 %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72A"/>
                          </a:solidFill>
                        </a:rPr>
                        <a:t>0,9844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72A"/>
                          </a:solidFill>
                        </a:rPr>
                        <a:t>XGBoost Classifier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72A"/>
                          </a:solidFill>
                        </a:rPr>
                        <a:t>0,7763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72A"/>
                          </a:solidFill>
                        </a:rPr>
                        <a:t>73,80 %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72A"/>
                          </a:solidFill>
                        </a:rPr>
                        <a:t>0,9858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7"/>
          <p:cNvSpPr txBox="1"/>
          <p:nvPr/>
        </p:nvSpPr>
        <p:spPr>
          <a:xfrm>
            <a:off x="6675120" y="3840480"/>
            <a:ext cx="46023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💡 Lecture des Odds Ratios 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Pays (Réf: Chine) : Allemagne OR = 35,4  |  UK OR = 29,9  |  US OR = 21,3. Résider en Allemagne multiplie par 35 la cote de conversion vs Chine.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Pages Vues (OR = 12,5) : Chaque augmentation de 1 écart-type (+3,3 pages) multiplie les chances de conversion par 12,5.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Nouveau Visiteur (OR = 0,46) : Divise par plus de 2 les chances d'inscription immédiate.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Arbitrage LogReg vs XGBoost : XGBoost atteint un F1 équivalent (0,7763) mais constitue une boîte noire. LogReg est retenue pour son explicabilité directe.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ÉTAPE 07  |  PLAN D'ACTION &amp; CLÔTURE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731520" y="685800"/>
            <a:ext cx="1069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Recommandations Stratégiques &amp; Limites du Modèle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731520" y="1234440"/>
            <a:ext cx="1069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Trois chantiers opérationnels prioritaires pour maximiser les souscriptions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Certification CDSD — Bloc 3 : Machine Learning Supervisé  |  Projet Conversion Rate  |  Chris Gilleron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8 /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731520" y="1645920"/>
            <a:ext cx="3456432" cy="3108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868680" y="1783080"/>
            <a:ext cx="3182100" cy="24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5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PRIORITÉ 1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Auditer le Marché Chinois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Taux de 0,13 % contre 6,25 % en Allemagne : anomalie technique probable.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Actions : Tester le temps de chargement (Great Firewall), traduire l'interface et vérifier l'accès aux serveurs de newsletter.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370832" y="1645920"/>
            <a:ext cx="3456432" cy="3108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4507992" y="1783080"/>
            <a:ext cx="3182100" cy="24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PRIORITÉ 2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Architecture Multi-Pages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Chaque page vue augmente exponentiellement la probabilité d'inscription.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Actions : Maillage interne d'articles 'Read Next', sommaires interactifs et formulaires d'inscription répétés au fil de la lecture.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8010144" y="1645920"/>
            <a:ext cx="3456432" cy="3108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8147304" y="1783080"/>
            <a:ext cx="3182100" cy="24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5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PRIORITÉ 3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Rétention Primo-Visiteurs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Les visiteurs récurrents convertissent 5x plus que les nouveaux arrivants.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Actions : Déclencher un pop-in ciblé d'invitation lors de la 2e visite plutôt que d'agresser l'utilisateur dès la première seconde.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731520" y="4892040"/>
            <a:ext cx="10728655" cy="12344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914400" y="4983480"/>
            <a:ext cx="103629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⚠️ LIMITES DU MODÈLE &amp; PROCHAINES ÉTAPES (PASSAGE EN PRODUCTION)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1. Corrélation vs Causalité : Les coefficients mesurent des associations statistiques. Toute modification de l'UX doit être validée par un A/B Test.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2. Déploiement : Sérialisation du pipeline complet via Joblib dans une API FastAPI pour du scoring temps réel et suivi du data drift.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