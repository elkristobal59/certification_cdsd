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97316"/>
                </a:solidFill>
                <a:latin typeface="Segoe UI"/>
              </a:defRPr>
            </a:pPr>
            <a:r>
              <a:t>BLOC 3 — MACHINE LEARNING NON SUPERVISÉ &amp; NLP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Segoe UI"/>
              </a:defRPr>
            </a:pPr>
            <a:r>
              <a:t>The North Face E-Commerce</a:t>
            </a:r>
          </a:p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Clustering DBSCAN, Système de Recommandation &amp; Modélisation Thématique LSA (TruncatedSVD)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97316"/>
                </a:solidFill>
                <a:latin typeface="Segoe UI"/>
              </a:defRPr>
            </a:pPr>
            <a:r>
              <a:t>DBSCAN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CLUSTERING COSINUS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10 clusters de produits outdoor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TOP-5 RECS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MOTEUR DE RECOMMANDATION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Affinité textuelle &amp; anti-bruit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3383280"/>
            <a:ext cx="2651760" cy="128016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3520440"/>
            <a:ext cx="2286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Segoe UI"/>
              </a:defRPr>
            </a:pPr>
            <a:r>
              <a:t>LSA / 15 THÈMES</a:t>
            </a:r>
          </a:p>
          <a:p>
            <a:pPr>
              <a:defRPr sz="1000" b="1">
                <a:solidFill>
                  <a:srgbClr val="F8FAFC"/>
                </a:solidFill>
                <a:latin typeface="Segoe UI"/>
              </a:defRPr>
            </a:pPr>
            <a:r>
              <a:t>TRUNCATEDSVD TOPICS</a:t>
            </a:r>
          </a:p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Décomposition sémantique latente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8FAFC"/>
                </a:solidFill>
                <a:latin typeface="Segoe UI"/>
              </a:defRPr>
            </a:pPr>
            <a:r>
              <a:t>Candidat : Christopher GILLERON   |   Commanditaire : The North Face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01 | CADRAGE &amp; ENJEUX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Contexte The North Face &amp; Double Défi Métier de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97316"/>
                </a:solidFill>
              </a:defRPr>
            </a:pPr>
            <a:r>
              <a:t>01 | CONTEXTE THE NORTH FACE &amp; DONNÉES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Marque Iconique Outdoor (1968)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Spécialiste mondial des vêtements, chaussures et équipements d'alpinisme et de loisirs de plein air.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Problématique thenorthface.fr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Améliorer les taux de conversion en ligne et la pertinence de l'expérience utilisateur face à un catalogue dense.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Corpus Étudié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500 descriptions textuelles détaillées de produits outdoor issues du catalogue officiel (sample-data.csv).</a:t>
            </a:r>
          </a:p>
          <a:p>
            <a:pPr>
              <a:spcBef>
                <a:spcPts val="1000"/>
              </a:spcBef>
              <a:defRPr b="1" sz="1100">
                <a:solidFill>
                  <a:srgbClr val="F8FAFC"/>
                </a:solidFill>
              </a:defRPr>
            </a:pPr>
            <a:r>
              <a:t>Approche Non Supervisée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Exploiter uniquement le traitement automatique du langage naturel (NLP) sans nécessiter d'historique de clics préalable.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97316"/>
                </a:solidFill>
              </a:defRPr>
            </a:pPr>
            <a:r>
              <a:t>02 | LES DEUX SOLUTIONS ATTENDUES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Axe 1 — Système de Recommandation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Déployer un carrousel 'Ces produits pourraient aussi vous intéresser...' sur chaque page article, basé sur la similarité textuelle.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Résolution du Cold-Start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Permet de recommander instantanément des articles pertinents aux nouveaux visiteurs et pour les nouveaux produits sans historique d'achat.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Axe 2 — Restructuration du Catalogue (LSA)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Utiliser le Topic Modeling non supervisé pour remettre en cause les catégories traditionnelles et identifier de nouvelles catégories de navigation plus intuitives.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Double Objectif Business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Augmenter le panier moyen par le cross-selling et fluidifier le parcours d'achat client sur mobile et desktop.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02 | PRÉTRAITEMENT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Pipeline SpaCy, Filtrage des Stop Words &amp; Matrice TF-IDF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97316"/>
                </a:solidFill>
              </a:defRPr>
            </a:pPr>
            <a:r>
              <a:t>01 | NETTOYAGE LINGUISTIQUE (SPACY)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Modèle 'en_core_web_sm'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Tokenisation robuste, détection des frontières de mots et filtrage strict des caractères non alphabétiques et ponctuations.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Lemmatisation Précise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Réduction des formes fléchies au radical canonique (ex: 'running', 'runs' → 'run' ; 'jackets' → 'jacket').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Stop Words Personnalisés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Suppression des termes parasites promotionnels omniprésents : 'north', 'face', 'feature', 'design', 'include', 'wash', 'fabric'.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Impact Qualitatif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Isole les véritables descripteurs techniques à haute valeur différentiatrice (imperméabilité, respirabilité, duvet d'oie, stretch, polaire).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97316"/>
                </a:solidFill>
              </a:defRPr>
            </a:pPr>
            <a:r>
              <a:t>02 | VECTORISATION TF-IDF (SCIKIT-LEARN)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Term Frequency - Inverse Document Frequency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Pondération pénalisant les mots fréquents dans tout le catalogue et sur-valorisant les spécificités produit.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Matrice TF-IDF Finale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500 produits × 1 033 dimensions lexicales épurées sans dispersion inutile.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Normalisation L2 Unitaire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Chaque vecteur produit possède une norme égale à 1, permettant une comparaison angulaire optimale via la distance cosinus.</a:t>
            </a:r>
          </a:p>
          <a:p>
            <a:pPr>
              <a:spcBef>
                <a:spcPts val="800"/>
              </a:spcBef>
              <a:defRPr b="1" sz="1100">
                <a:solidFill>
                  <a:srgbClr val="F8FAFC"/>
                </a:solidFill>
              </a:defRPr>
            </a:pPr>
            <a:r>
              <a:t>Livrable Structurant :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Matrice 'tfidf_matrix' prête pour alimenter à la fois le clustering DBSCAN et la décomposition thématique LSA.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03 | CLUSTERING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Partie 1 : Groupement Non Supervisé des Produits par Affinité Cosinus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CALIBRATION DBSCAN (COSINE METRIC)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Choix de la Distance Cosinus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En espace textuel de dimension 1 033, la distance euclidienne souffre du fléau de la dimension. La métrique cosinus mesure l'angle sémantique et neutralise la longueur des textes.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Hyperparamètres Calibrés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• eps = 0.35 (rayon maximal d'affinité sémantique entre deux descriptions).</a:t>
            </a:r>
            <a:br/>
            <a:r>
              <a:t>• min_samples = 5 (seuil de densité minimale pour constituer un cœur de cluster).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10 Clusters Cohérents Trouvés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Respecte parfaitement l'objectif du brief (10 à 20 clusters avec peu de dispersion).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Gestion des Outliers (Bruit -1)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Les articles trop singuliers sont rejetés dans le bruit (-1) sans polluer la cohérence des clusters denses.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RÉPARTITION DES PRINCIPAUX CLUSTERS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0 : 78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Vestes imperméables, coupe-vent et coques de protection (DryVent / Gore-Tex)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1 : 44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T-shirts techniques, polos respirants et premières couches estivales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2 : 36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Sous-vêtements techniques, boxers coton bio et sous-couches confort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3 : 32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Polaires thermiques, doudounes et vestes isolantes grand froid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4 : 26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Pantalons de randonnée, shorts stretch et bas d'alpinisme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Cluster 5 : 24 produits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Sacs à dos techniques, sacs de couchage et matériel de bivouac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• Autres Clusters (6 à 9) :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Accessoires, gants, bonnets, bagagerie urbaine (57 produits)</a:t>
            </a:r>
          </a:p>
          <a:p>
            <a:pPr>
              <a:spcBef>
                <a:spcPts val="400"/>
              </a:spcBef>
              <a:defRPr b="1" sz="1000">
                <a:solidFill>
                  <a:srgbClr val="F59E0B"/>
                </a:solidFill>
              </a:defRPr>
            </a:pPr>
            <a:r>
              <a:t>• Bruit (Cluster -1) :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103 produits (20.6%) isolés pour leur sémantique trop spécifique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04 | VALIDATION DES 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Analyse Lexicale &amp; Nuages de Mots (WordClouds) des Groupes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VOCABULAIRE CLÉ PAR CLUSTER (DBSCAN)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Cluster 0 (Vestes imperméables)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Mots dominants : 'jacket', 'waterproof', 'breathable', 'hood', 'seam', 'shell', 'rain'. Protection contre les intempéries et coques techniques.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Cluster 2 (Sous-vêtements techniques)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Mots dominants : 'boxer', 'waistband', 'brief', 'cotton', 'organic', 'comfort', 'skin'. Confort au porter et maintien élastique quotidien.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Cluster 3 (Polaires thermiques)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Mots dominants : 'fleece', 'warmth', 'layer', 'soft', 'thermal', 'collar'. Isolation thermique et maintien de la chaleur corporelle.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Cluster 5 (Sacs à dos &amp; Bivouac)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Mots dominants : 'pack', 'pocket', 'backpack', 'strap', 'compartment', 'zipper', 'hydration'. Portage, ergonomie et organisation de trekking.</a:t>
            </a:r>
          </a:p>
          <a:p>
            <a:pPr>
              <a:spcBef>
                <a:spcPts val="600"/>
              </a:spcBef>
              <a:defRPr b="1" sz="1050">
                <a:solidFill>
                  <a:srgbClr val="F8FAFC"/>
                </a:solidFill>
              </a:defRPr>
            </a:pPr>
            <a:r>
              <a:t>Séparation Sémantique Nette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Chaque cluster possède un vocabulaire propre et cohérent sans chevauchement confus, validant la pertinence de la distance cosinus.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Cluster 0 : Vestes Imperméables</a:t>
            </a:r>
          </a:p>
        </p:txBody>
      </p:sp>
      <p:pic>
        <p:nvPicPr>
          <p:cNvPr id="12" name="Picture 11" descr="northface_c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2286000" cy="17373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15400" y="1554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Cluster 2 : Sous-vêtements Boxers</a:t>
            </a:r>
          </a:p>
        </p:txBody>
      </p:sp>
      <p:pic>
        <p:nvPicPr>
          <p:cNvPr id="15" name="Picture 14" descr="northface_c9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920240"/>
            <a:ext cx="2286000" cy="17373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0" y="3840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886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Cluster 3 : Polaires Thermiques</a:t>
            </a:r>
          </a:p>
        </p:txBody>
      </p:sp>
      <p:pic>
        <p:nvPicPr>
          <p:cNvPr id="18" name="Picture 17" descr="northface_c9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206240"/>
            <a:ext cx="2286000" cy="17373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15400" y="3840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886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Cluster 5 : Sacs à Dos &amp; Trekking</a:t>
            </a:r>
          </a:p>
        </p:txBody>
      </p:sp>
      <p:pic>
        <p:nvPicPr>
          <p:cNvPr id="21" name="Picture 20" descr="northface_c9_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206240"/>
            <a:ext cx="2286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05 | SYSTÈME DE RECOMMANDATION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Partie 2 : Algorithme find_similar_items &amp; Démonstration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MOTEUR HYBRIDE COSINE + DBSCAN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Matrice de Similarité Cosinus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Calcul vectoriel all-pairs (500 × 500) mesurant le cosinus de l'angle entre les descriptions vectorisées.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Filtrage Intra-Cluster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Si le produit consulté appartient à un cluster dense (ex: Cluster 2), la recherche des voisins est restreinte aux produits du même groupe (anti-bruit).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Exclusion Auto-Référence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Le produit actif est systématiquement exclu de sa propre liste de recommandations.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Livrable Top-5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Retourne exactement les 5 IDs d'articles les plus proches pour affichage sur le widget 'Vous aimerez aussi...' du site web.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764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</a:defRPr>
            </a:pPr>
            <a:r>
              <a:t>DÉMONSTRATION RÉELLE (NOTEBOOK &amp; INPUT INTERACTIF)</a:t>
            </a:r>
          </a:p>
          <a:p>
            <a:pPr>
              <a:spcBef>
                <a:spcPts val="400"/>
              </a:spcBef>
              <a:defRPr b="1" sz="1000">
                <a:solidFill>
                  <a:srgbClr val="F97316"/>
                </a:solidFill>
              </a:defRPr>
            </a:pPr>
            <a:r>
              <a:t>Produit Consulté (ID 0)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'Active classic boxers' — Caleçon de sport respirant à séchage rapide pour le bivouac.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1. ID 18 (Score : 0.88)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Cap 1 boxer briefs — boxer technique ultra-léger respirant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2. ID 493 (Score : 0.84)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Active boxer briefs — sous-vêtement de sport anti-frottement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3. ID 364 (Score : 0.79)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Organic cotton boxers — boxer en coton biologique confort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4. ID 422 (Score : 0.75)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Active briefs — slip technique maintien et séchage rapide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5. ID 237 (Score : 0.72) :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    Active mesh boxer briefs — caleçon aéré à panneaux mesh</a:t>
            </a:r>
          </a:p>
          <a:p>
            <a:pPr>
              <a:spcBef>
                <a:spcPts val="1000"/>
              </a:spcBef>
              <a:defRPr b="1" sz="1050">
                <a:solidFill>
                  <a:srgbClr val="F59E0B"/>
                </a:solidFill>
              </a:defRPr>
            </a:pPr>
            <a:r>
              <a:t>Validation Interactive input() :</a:t>
            </a:r>
          </a:p>
          <a:p>
            <a:pPr>
              <a:defRPr sz="900">
                <a:solidFill>
                  <a:srgbClr val="F8FAFC"/>
                </a:solidFill>
              </a:defRPr>
            </a:pPr>
            <a:r>
              <a:t>Le script du notebook intègre un prompt interactif permettant à l'utilisateur de tester n'importe quel ID (0 à 499) et d'obtenir en temps réel les 5 articles les plus similaires.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06 | MODÉLISATION THÉMATIQUE LSA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Partie 3 : Extraction des Thèmes Latents via TruncatedSVD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97316"/>
                </a:solidFill>
              </a:defRPr>
            </a:pPr>
            <a:r>
              <a:t>TRUNCATEDSVD &amp; TOPIC_ENCODED_DF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Au-delà du Clustering Strict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Un vêtement peut être à la fois imperméable, thermique et urbain. LSA permet l'appartenance multi-thématique continue.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Réduction SVD (15 thèmes)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Décomposition matricielle en 15 composantes singulières latentes (n_components=15) capturant les cooccurrences lexicales profondes.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Sauvegarde Obligatoire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Matrice encodée enregistrée dans la variable officielle 'topic_encoded_df' exigée par le brief.</a:t>
            </a:r>
          </a:p>
          <a:p>
            <a:pPr>
              <a:spcBef>
                <a:spcPts val="800"/>
              </a:spcBef>
              <a:defRPr b="1" sz="1050">
                <a:solidFill>
                  <a:srgbClr val="F8FAFC"/>
                </a:solidFill>
              </a:defRPr>
            </a:pPr>
            <a:r>
              <a:t>Attribution du Main Topic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Attribution du thème principal dominant par produit via idxmax() pour guider la restructuration du catalogue e-commerce.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42255" cy="48463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0" y="1554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Thème 0 : Imperméabilité &amp; Coques</a:t>
            </a:r>
          </a:p>
        </p:txBody>
      </p:sp>
      <p:pic>
        <p:nvPicPr>
          <p:cNvPr id="12" name="Picture 11" descr="northface_c11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2286000" cy="17373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915400" y="1554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0" y="1600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Thème 1 : Isolation &amp; Grand Froid</a:t>
            </a:r>
          </a:p>
        </p:txBody>
      </p:sp>
      <p:pic>
        <p:nvPicPr>
          <p:cNvPr id="15" name="Picture 14" descr="northface_c11_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0" y="1920240"/>
            <a:ext cx="2286000" cy="173736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400800" y="3840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886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Thème 2 : Bagagerie &amp; Portage</a:t>
            </a:r>
          </a:p>
        </p:txBody>
      </p:sp>
      <p:pic>
        <p:nvPicPr>
          <p:cNvPr id="18" name="Picture 17" descr="northface_c11_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206240"/>
            <a:ext cx="2286000" cy="173736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15400" y="3840480"/>
            <a:ext cx="23774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3886200"/>
            <a:ext cx="2286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 b="1">
                <a:solidFill>
                  <a:srgbClr val="0F172A"/>
                </a:solidFill>
              </a:defRPr>
            </a:pPr>
            <a:r>
              <a:t>Thème 3 : Trail &amp; Respirabilité Active</a:t>
            </a:r>
          </a:p>
        </p:txBody>
      </p:sp>
      <p:pic>
        <p:nvPicPr>
          <p:cNvPr id="21" name="Picture 20" descr="northface_c11_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206240"/>
            <a:ext cx="2286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F97316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F8FAFC"/>
                </a:solidFill>
                <a:latin typeface="Segoe UI"/>
              </a:defRPr>
            </a:pPr>
            <a:r>
              <a:t>4 Recommandations E-Commerce Clés pour The North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Christopher GILLERON  |  The North Face E-Commerce (ML Non Supervisé &amp; NLP)  |  Certification CDSD Bloc 3  |  Temps alloué : 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97316"/>
                </a:solidFill>
              </a:defRPr>
            </a:pPr>
            <a:r>
              <a:t>01 | CARROUSEL 'PRODUITS SIMILAIRES'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Intégration Web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Intégrer le widget find_similar_items() sous chaque fiche produit du site thenorthface.fr.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Impact Business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Hausse estimée de +12% à +18% du taux de clic et réduction directe du taux de rebond.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</a:defRPr>
            </a:pPr>
            <a:r>
              <a:t>02 | REFONTE DE L'ARBORESCENCE DU CATALOGUE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Taxonomie LSA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Remplacer la navigation rigide Homme/Femme par une navigation intuitive par activité (Grand Froid, Bivouac, Trail).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SEO Organique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Créer des landing pages thématiques indexées sur les requêtes Google longue traîne.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</a:defRPr>
            </a:pPr>
            <a:r>
              <a:t>03 | MICROSERVICE API FASTAPI TEMPS RÉEL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Architecture Technique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Exposer les matrices de similarité via une API REST avec cache Redis en mémoire.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Performance SLA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Temps de réponse garanti &lt; 15 ms pour préserver la fluidité mobile.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6908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A855F7"/>
                </a:solidFill>
              </a:defRPr>
            </a:pPr>
            <a:r>
              <a:t>04 | PERSPECTIVES D'HYBRIDATION</a:t>
            </a:r>
          </a:p>
          <a:p>
            <a:pPr>
              <a:spcBef>
                <a:spcPts val="600"/>
              </a:spcBef>
              <a:defRPr b="1" sz="1000">
                <a:solidFill>
                  <a:srgbClr val="F8FAFC"/>
                </a:solidFill>
              </a:defRPr>
            </a:pPr>
            <a:r>
              <a:t>Signaux Collaboratifs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Combiner la similarité textuelle avec les données de paniers réels (filtrage collaboratif hybride).</a:t>
            </a:r>
          </a:p>
          <a:p>
            <a:pPr>
              <a:spcBef>
                <a:spcPts val="400"/>
              </a:spcBef>
              <a:defRPr b="1" sz="1000">
                <a:solidFill>
                  <a:srgbClr val="F8FAFC"/>
                </a:solidFill>
              </a:defRPr>
            </a:pPr>
            <a:r>
              <a:t>Embeddings Denses :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Expérimenter Sentence-BERT pour capturer les nuances multilingues (FR, EN, 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