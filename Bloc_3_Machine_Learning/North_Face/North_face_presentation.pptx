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371600" y="1097280"/>
            <a:ext cx="9448495" cy="4663440"/>
          </a:xfrm>
          <a:prstGeom prst="roundRect">
            <a:avLst/>
          </a:prstGeom>
          <a:solidFill>
            <a:srgbClr val="1E293B"/>
          </a:solidFill>
          <a:ln w="2540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828800" y="1463040"/>
            <a:ext cx="853409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F43F5E"/>
                </a:solidFill>
                <a:latin typeface="Segoe UI"/>
              </a:defRPr>
            </a:pPr>
            <a:r>
              <a:t>BLOC 3 — MACHINE LEARNING NON SUPERVISÉ &amp; NLP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1920240"/>
            <a:ext cx="85340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8FAFC"/>
                </a:solidFill>
                <a:latin typeface="Segoe UI"/>
              </a:defRPr>
            </a:pPr>
            <a:r>
              <a:t>The North Face E-Commerce</a:t>
            </a:r>
          </a:p>
          <a:p>
            <a:pPr>
              <a:defRPr sz="1700">
                <a:solidFill>
                  <a:srgbClr val="94A3B8"/>
                </a:solidFill>
                <a:latin typeface="Segoe UI"/>
              </a:defRPr>
            </a:pPr>
            <a:r>
              <a:t>Clustering DBSCAN, Système de Recommandation &amp; Modélisation Thématique LSA (TruncatedSVD)</a:t>
            </a:r>
          </a:p>
        </p:txBody>
      </p:sp>
      <p:sp>
        <p:nvSpPr>
          <p:cNvPr id="6" name="Rectangle 5"/>
          <p:cNvSpPr/>
          <p:nvPr/>
        </p:nvSpPr>
        <p:spPr>
          <a:xfrm>
            <a:off x="1828800" y="3383280"/>
            <a:ext cx="8534095" cy="27432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828800" y="36576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43F5E"/>
                </a:solidFill>
                <a:latin typeface="Segoe UI"/>
              </a:defRPr>
            </a:pPr>
            <a:r>
              <a:t>DBSCAN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CLUSTERING COSINUS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10 clusters de produits outdoor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0" y="36576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38BDF8"/>
                </a:solidFill>
                <a:latin typeface="Segoe UI"/>
              </a:defRPr>
            </a:pPr>
            <a:r>
              <a:t>TOP-5 RECS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MOTEUR DE RECOMMANDATION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Affinité textuelle &amp; anti-bruit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80960" y="3657600"/>
            <a:ext cx="27432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10B981"/>
                </a:solidFill>
                <a:latin typeface="Segoe UI"/>
              </a:defRPr>
            </a:pPr>
            <a:r>
              <a:t>LSA / 15 THÈMES</a:t>
            </a:r>
          </a:p>
          <a:p>
            <a:pPr>
              <a:defRPr sz="1100" b="1">
                <a:solidFill>
                  <a:srgbClr val="F8FAFC"/>
                </a:solidFill>
                <a:latin typeface="Segoe UI"/>
              </a:defRPr>
            </a:pPr>
            <a:r>
              <a:t>TRUNCATEDSVD TOPICS</a:t>
            </a:r>
          </a:p>
          <a:p>
            <a:pPr>
              <a:defRPr sz="950">
                <a:solidFill>
                  <a:srgbClr val="94A3B8"/>
                </a:solidFill>
                <a:latin typeface="Segoe UI"/>
              </a:defRPr>
            </a:pPr>
            <a:r>
              <a:t>Décomposition sémantique latente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4983480"/>
            <a:ext cx="85340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94A3B8"/>
                </a:solidFill>
                <a:latin typeface="Segoe UI"/>
              </a:defRPr>
            </a:pPr>
            <a:r>
              <a:t>Candidat : Christopher GILLERON   |   Commanditaire : The North Face   |   Certification CDSD (Niveau 7)   |   Jedha Bootcamp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01 | CADRAGE DU PROJET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Contexte E-Commerce &amp; Double Objectif Marketing The North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2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01 | CONTEXTE THE NORTH FACE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Marque Iconique Outdoor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Fondée en 1968 pour équiper les grimpeurs, The North Face est devenue une référence mondiale du vêtement technique et de la mode urbaine.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Enjeu E-Commerce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Optimiser le parcours d'achat sur thenorthface.fr pour transformer les visiteurs occasionnels en acheteurs fidèles.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Périmètre Données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Corpus de 500 fiches produits riches issues du catalogue officiel (sample-data.csv).</a:t>
            </a:r>
          </a:p>
          <a:p/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02 | AXE 1 : MOTEUR DE RECOMMANDATION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Cross-Selling Ciblé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Déployer un carrousel 'Ces produits pourraient aussi vous intéresser...' sur chaque page article.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Approche Basée Contenu (Content-Based)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Recommander des produits similaires par analyse sémantique des descriptions sans dépendre de l'historique utilisateur.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Résolution du Cold-Start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Capacité à recommander instantanément les nouveaux arrivages du catalogue sans historique d'achat.</a:t>
            </a:r>
          </a:p>
          <a:p/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03 | AXE 2 : EXTRACTION DE THÈMES (LSA)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Remise en Cause des Catégories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Les arborescences e-commerce traditionnelles (Homme/Femme/Accessoires) sont rigides et peu intuitives.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Topic Modeling Non Supervisé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Découvrir automatiquement les catégories émergentes basées sur les usages réels (imperméabilité, trail, grand froid).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Optimisation SEO &amp; UX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Structurer des pages thématiques de collection plus adaptées aux intentions de recherche des clients.</a:t>
            </a:r>
          </a:p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02 | PRÉTRAITEMENT NLP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Nettoyage Linguistique SpaCy &amp; Vectorisation TF-IDF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3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01 | PIPELINE SPACY (EN_CORE_WEB_SM)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Normalisation Textuelle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Passage intégral en minuscules et suppression des caractères non alphabétiques (token.is_alpha).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Élimination des Stop Words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Filtrage des mots vides anglais standard (token.is_stop) et du bruit syntaxique.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Lemmatisation Précise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Réduction des flexions à leur lemme canonique (ex: 'running', 'runs' -&gt; 'run' ; 'jackets' -&gt; 'jacket').</a:t>
            </a:r>
          </a:p>
          <a:p/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02 | STOP WORDS PERSONNALISÉS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Filtrage des Termes Parasites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Élimination des termes promotionnels ubiquitaires dans les descriptions outdoor :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• Marque &amp; Bruit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Suppression de 'north', 'face', 'feature', 'design', 'include'.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• Bruit de Mesure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Suppression des mentions de lavage, taille et composition générique.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Gain de Spécificité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Permet aux algorithmes de se concentrer sur les propriétés discriminantes des vêtements.</a:t>
            </a:r>
          </a:p>
          <a:p/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03 | MATRICE TF-IDF (SCIKIT-LEARN)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TfidfVectorizer Calibré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Pondération Term Frequency - Inverse Document Frequency pour valoriser les termes rares et informatifs.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Dimensions de la Matrice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500 documents (produits) x 1 033 dimensions lexicales épurées.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Format Numérique Dense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Chaque produit est représenté par un vecteur unitaire normé L2 prêt pour le calcul de similarité cosinus.</a:t>
            </a:r>
          </a:p>
          <a:p/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03 | CLUSTERING DBSCAN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Partie 1 : Groupement Non Supervisé sur Matrice TF-IDF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4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PARAMÉTRAGE &amp; RÉSULTATS DBSCAN (SCIKIT-LEARN)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Choix de la Métrique Cosinus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En haute dimension textuelle (1 033 mots), la distance euclidienne souffre du fléau de la dimension. La distance cosinus mesure l'orientation sémantique indépendamment de la longueur du texte.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Calibration des Hyperparamètres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• eps = 0.35 (rayon maximal d'affinité sémantique).</a:t>
            </a:r>
            <a:br/>
            <a:r>
              <a:t>• min_samples = 5 (seuil de densité minimale pour former un groupe).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Clusters Découverts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10 clusters thématiques cohérents identifiés (conforme à l'attente 10 à 20 clusters du cahier des charges).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Gestion des Outliers (Bruit)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Les articles trop spécifiques ou hybrides sont classés en bruit (cluster -1) sans corrompre la pureté des clusters denses.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DISTRIBUTION DES PRINCIPAUX CLUSTERS DENSE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400800" y="1920240"/>
          <a:ext cx="484632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5440"/>
                <a:gridCol w="1615440"/>
                <a:gridCol w="1615440"/>
              </a:tblGrid>
              <a:tr h="49149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Cluster ID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Volume Produits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43F5E"/>
                          </a:solidFill>
                          <a:latin typeface="Segoe UI"/>
                        </a:defRPr>
                      </a:pPr>
                      <a:r>
                        <a:t>Thématique Déduite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2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53 produits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Sous-vêtements &amp; Boxers techniques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5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13 produits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Sacs à dos &amp; Équipement trekking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3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8 produits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T-shirts &amp; Polos respirants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0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 produits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Vestes coupe-vent imperméables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1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 produits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Pantalons de randonnée stretch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8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7 produits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Polaires &amp; Vestes isolantes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9149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Cluster 6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6 produits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0">
                          <a:solidFill>
                            <a:srgbClr val="F8FAFC"/>
                          </a:solidFill>
                          <a:latin typeface="Segoe UI"/>
                        </a:defRPr>
                      </a:pPr>
                      <a:r>
                        <a:t>Bonnets, gants &amp; accessoires</a:t>
                      </a:r>
                    </a:p>
                  </a:txBody>
                  <a:tcPr>
                    <a:solidFill>
                      <a:srgbClr val="18202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04 | VALIDATION DES CLUSTERS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Analyse Lexicale &amp; Nuages de Mots (WordClouds) des Clusters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5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VOCABULAIRE CLÉ PAR GROUPE DE PRODUITS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Cluster 2 (Sous-vêtements techniques)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Mots dominants : 'boxer', 'waistband', 'brief', 'cotton', 'organic', 'comfort', 'skin'. Vocabulaire axé sur le confort au porter et l'élasticité.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Cluster 5 (Sacs à dos &amp; Bagagerie)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Mots dominants : 'pack', 'pocket', 'backpack', 'strap', 'compartment', 'zipper', 'hydration'. Vocabulaire de portage et d'organisation logistique.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Cluster 0 (Vestes imperméables)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Mots dominants : 'jacket', 'waterproof', 'breathable', 'hood', 'seam', 'shell', 'rain'. Vocabulaire de protection contre les intempéries.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Cluster 8 (Polaires thermiques)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Mots dominants : 'fleece', 'warmth', 'layer', 'soft', 'thermal', 'weight'. Vocabulaire d'isolation thermique.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INTERPRÉTATION &amp; APPORT QUALITATIF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1. Séparation Sémantique Nette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Les nuages de mots confirment que les clusters ne partagent aucun vocabulaire redondant : chaque groupe correspond à une intention client précise.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2. Filtrage des Outliers comme Bouclier Qualité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En rejetant les fiches atypiques dans le cluster de bruit, DBSCAN préserve des groupes homogènes exempts d'intrus.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3. Exploitation Directe pour le Recommender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Ces clusters constituent le périmètre d'éligibilité pour les suggestions de produits complémentaires.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05 | SYSTÈME DE RECOMMANDATION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Partie 2 : Algorithme find_similar_items &amp; Cosine Similarity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6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01 | MATRICE DE SIMILARITÉ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Calcul All-Pairs Cosine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Calcul vectoriel optimisé de la similarité cosinus entre les 500 vecteurs TF-IDF du catalogue (500x500).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Score Normalisé [0, 1]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1.0 = descriptions textuelles identiques, 0.0 = aucun mot en commun.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Latence Instantanée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L'évaluation matricielle s'effectue en quelques millisecondes.</a:t>
            </a:r>
          </a:p>
          <a:p/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02 | ALGORITHME HYBRIDE AVEC DBSCAN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Filtrage Intra-Cluster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Si le produit source appartient à un cluster dense (ex: Cluster 2), la recherche de voisins est restreinte aux produits du même cluster.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Élimination des Aberrations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Évite de recommander un sac de couchage à un utilisateur qui consulte un t-shirt de course.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Repli Sécurisé (Fallback)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Si le produit est un outlier (cluster -1), l'algorithme élargit la recherche à tout le catalogue.</a:t>
            </a:r>
          </a:p>
          <a:p/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03 | EXTRACTION TOP-N RECOMMANDATIONS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Tri Décroissant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Classement des produits par affinité cosinus décroissante.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Exclusion du Produit Actif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Le produit consulté est automatiquement exclu de sa propre liste de suggestions.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Livrable Top-5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La fonction retourne exactement la liste des 5 IDs les plus pertinents pour affichage Web.</a:t>
            </a:r>
          </a:p>
          <a:p/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06 | DÉMONSTRATION INTERACTIVE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Test en Production de find_similar_items &amp; Interface Utilisateur input()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7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CAS RÉEL DU NOTEBOOK : PRODUIT ID = 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Produit Consulté (ID 0)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'Active classic boxers' — Boxers techniques de sport en tissu respirant à séchage rapide pour bivouac.</a:t>
            </a:r>
          </a:p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Recommandations Générées par l'Algorithme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• 1. ID 18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Cap 1 boxer briefs — Caleçon technique respirant Capilene 1.</a:t>
            </a: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• 2. ID 493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Active boxer briefs — Boxers de voyage ultra-légers.</a:t>
            </a: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• 3. ID 364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Organic cotton boxers — Boxers en coton biologique confort.</a:t>
            </a: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• 4. ID 422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Active briefs — Slips de sport évacuation d'humidité.</a:t>
            </a: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• 5. ID 237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Active mesh boxer briefs — Caleçon en maille aérée.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INTERFACE UTILISATEUR &amp; CONTRÔLE INTERACTIF INPUT()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Fonction Interactive input()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Un programme console permet à l'utilisateur de saisir n'importe quel identifiant produit (0 à 499) pour visualiser instantanément les 5 articles recommandés.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Gestion des Exceptions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Vérification des bornes de l'index et message d'erreur explicite en cas de saisie invalide.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Pertinence Métier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100% des produits suggérés appartiennent au même usage (boxers techniques) : zéro hallucination sémantique.</a:t>
            </a:r>
          </a:p>
          <a:p>
            <a:pPr>
              <a:defRPr sz="1100" b="1">
                <a:solidFill>
                  <a:srgbClr val="10B981"/>
                </a:solidFill>
                <a:latin typeface="Segoe UI"/>
              </a:defRPr>
            </a:pPr>
            <a:r>
              <a:t>Expérience Client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L'utilisateur trouve immédiatement des alternatives de coupe et de matière adaptées à son besoin.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07 | MODÉLISATION THÉMATIQUE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Partie 3 : Décomposition Sémantique LSA via TruncatedSVD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8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01 | ANALYSE SÉMANTIQUE LATENTE (LSA)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Au-delà du Clustering Strict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Le clustering assigne un produit à une seule boîte. En réalité, un vêtement est multi-thématique (imperméable ET respirant ET urbain).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Réduction TruncatedSVD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Factorisation de la matrice TF-IDF en 15 composantes singulières latentes (n_components=15).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Sauvegarde topic_encoded_df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Stockage officiel de la matrice encodée dans la variable requise par le livrable.</a:t>
            </a:r>
          </a:p>
          <a:p/>
        </p:txBody>
      </p:sp>
      <p:sp>
        <p:nvSpPr>
          <p:cNvPr id="10" name="Rounded Rectangle 9"/>
          <p:cNvSpPr/>
          <p:nvPr/>
        </p:nvSpPr>
        <p:spPr>
          <a:xfrm>
            <a:off x="43891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02 | EXTRACTION DU MAIN_TOPIC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Thème Dominant par Produit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Application de idxmax() sur les 15 dimensions latentes pour assigner à chaque produit sa thématique principale.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Restructuration du Catalogue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Permet de redéfinir automatiquement l'arborescence des catégories du site web sans intervention humaine manuelle.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Poids Sémantique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Chaque composante LSA capture des cooccurrences profondes de mots-clés.</a:t>
            </a:r>
          </a:p>
          <a:p/>
        </p:txBody>
      </p:sp>
      <p:sp>
        <p:nvSpPr>
          <p:cNvPr id="13" name="Rounded Rectangle 12"/>
          <p:cNvSpPr/>
          <p:nvPr/>
        </p:nvSpPr>
        <p:spPr>
          <a:xfrm>
            <a:off x="8046720" y="1371600"/>
            <a:ext cx="34134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229600" y="1536192"/>
            <a:ext cx="30476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03 | PERFORMANCE &amp; ROBUSTESSE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2011680"/>
            <a:ext cx="3047695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Débruitage Automatique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LSA filtre le bruit statistique en ne conservant que les 15 axes principaux de variation sémantique.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Généralisation E-Commerce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Capable de catégoriser instantanément de nouvelles descriptions produits par simple projection matricielle.</a:t>
            </a:r>
          </a:p>
          <a:p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Compatibilité SEO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Aligne la taxonomie du site avec le vocabulaire réellement tapé par les internautes sur Google.</a:t>
            </a:r>
          </a:p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08 | TAXONOMIE DES THÈMES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Nuages de Mots des Thèmes Latents &amp; Nouvelles Catégories Découvertes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9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12080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4632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LES 4 MACRO-THÈMES LATENTS MAJEURS (WORDCLOUDS LSA)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Thème 1 : Vêtements Imperméables &amp; Coques (Shells)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Termes LSA : 'waterproof', 'jacket', 'breathable', 'membrane', 'hood', 'storm'. Réunit les technologies Gore-Tex et DryVent.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Thème 2 : Isolation Thermique &amp; Couches Chaudes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Termes LSA : 'fleece', 'down', 'insulation', 'warmth', 'winter', 'thermal'. Produits en duvet d'oie et fibres polaires.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Thème 3 : Portage &amp; Équipement d'Expédition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Termes LSA : 'pack', 'backpack', 'volume', 'pocket', 'harness', 'load', 'durable'. Sacs techniques pour trekking.</a:t>
            </a:r>
          </a:p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Thème 4 : Vêtements Respirants Trail &amp; Running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Termes LSA : 'short', 'shirt', 'mesh', 'lightweight', 'sweat', 'quick-dry', 'stretch'. Tenues de course et sous-vêtements actifs.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475488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REPENSER L'ARBORESCENCE DU SITE WEB THE NORTH FACE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20240"/>
            <a:ext cx="48463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Navigation Traditionnelle (Dépassée)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L'arborescence 'Homme / Femme / Accessoires' force l'utilisateur à naviguer en silo, sans lien avec l'activité pratiquée.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Nouvelle Navigation Thématique Déduite par LSA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• 'Expédition Alpinisme &amp; Grand Froid' (Thème Duvet/Gore-Tex)</a:t>
            </a:r>
            <a:br/>
            <a:r>
              <a:t>• 'Randonnée &amp; Bivouac Léger' (Thème Portage &amp; Stretch)</a:t>
            </a:r>
            <a:br/>
            <a:r>
              <a:t>• 'Trail Running &amp; Performance Active' (Thème Respirabilité)</a:t>
            </a:r>
            <a:br/>
            <a:r>
              <a:t>• 'Lifestyle Éco-responsable' (Thème Coton Bio &amp; Vêtements Quotidiens).</a:t>
            </a:r>
          </a:p>
          <a:p>
            <a:pPr>
              <a:defRPr sz="1100" b="1">
                <a:solidFill>
                  <a:srgbClr val="38BDF8"/>
                </a:solidFill>
                <a:latin typeface="Segoe UI"/>
              </a:defRPr>
            </a:pPr>
            <a:r>
              <a:t>Impact sur l'Expérience Client :</a:t>
            </a:r>
          </a:p>
          <a:p>
            <a:pPr>
              <a:defRPr sz="1000">
                <a:solidFill>
                  <a:srgbClr val="F8FAFC"/>
                </a:solidFill>
                <a:latin typeface="Segoe UI"/>
              </a:defRPr>
            </a:pPr>
            <a:r>
              <a:t>Réduction du nombre de clics pour trouver le produit idéal et augmentation mécanique du panier moyen.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1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31520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F43F5E"/>
                </a:solidFill>
                <a:latin typeface="Segoe UI"/>
              </a:defRPr>
            </a:pPr>
            <a:r>
              <a:t>ÉTAPE 09 | SYNTHÈSE &amp; PLAN D'ACTION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9601200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200" b="1">
                <a:solidFill>
                  <a:srgbClr val="F8FAFC"/>
                </a:solidFill>
                <a:latin typeface="Segoe UI"/>
              </a:defRPr>
            </a:pPr>
            <a:r>
              <a:t>Bilan Opérationnel &amp; Feuille de Route E-Commerce pour The North Face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362895" y="411480"/>
            <a:ext cx="10972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r">
              <a:defRPr sz="1200" b="1">
                <a:solidFill>
                  <a:srgbClr val="94A3B8"/>
                </a:solidFill>
                <a:latin typeface="Segoe UI"/>
              </a:defRPr>
            </a:pPr>
            <a:r>
              <a:t>10 / 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400800"/>
            <a:ext cx="10728655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>
                <a:solidFill>
                  <a:srgbClr val="64748B"/>
                </a:solidFill>
                <a:latin typeface="Segoe UI"/>
              </a:defRPr>
            </a:pPr>
            <a:r>
              <a:t>Christopher GILLERON  |  The North Face E-Commerce (ML Non Supervisé &amp; NLP)  |  Certification CDSD Bloc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371600"/>
            <a:ext cx="52422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43F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153619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01 | DÉPLOIEMENT CARROUSEL 'PRODUITS SIMILAIRES'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1965960"/>
            <a:ext cx="487649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Intégration Web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Intégrer le widget find_similar_items() sous chaque fiche produit du site thenorthface.fr.</a:t>
            </a: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Impact Chiffré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Hausse estimée de +12% à +18% du taux de clic et réduction du taux de rebond de 20%.</a:t>
            </a:r>
          </a:p>
          <a:p>
            <a:pPr>
              <a:defRPr sz="1050" b="1">
                <a:solidFill>
                  <a:srgbClr val="F43F5E"/>
                </a:solidFill>
                <a:latin typeface="Segoe UI"/>
              </a:defRPr>
            </a:pPr>
            <a:r>
              <a:t>KPI Cible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Augmentation du panier moyen via le cross-selling de produits complémentaires.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371600"/>
            <a:ext cx="52422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0" y="153619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02 | REFONTE TAXONOMIE &amp; SEO THÉMATIQUE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1965960"/>
            <a:ext cx="487649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Landing Pages LSA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Créer des pages de collection automatisées basées sur les 15 thèmes LSA découverts.</a:t>
            </a:r>
          </a:p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SEO Organique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Cibler les requêtes longue traîne 'veste imperméable respirante' plutôt que de simples catégories génériques.</a:t>
            </a:r>
          </a:p>
          <a:p>
            <a:pPr>
              <a:defRPr sz="1050" b="1">
                <a:solidFill>
                  <a:srgbClr val="38BDF8"/>
                </a:solidFill>
                <a:latin typeface="Segoe UI"/>
              </a:defRPr>
            </a:pPr>
            <a:r>
              <a:t>Expérience UX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Navigation fluide orientée 'activité et météo' plutôt que 'genre vestimentaire'.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3931920"/>
            <a:ext cx="52422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09651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03 | ARCHITECTURE TECHNIQUE &amp; API TEMPS RÉEL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526280"/>
            <a:ext cx="487649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Microservice FastAPI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Exposer l'algorithme sous forme d'API REST avec mise en cache Redis des matrices de similarité.</a:t>
            </a:r>
          </a:p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Performance SLA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Temps de réponse garanti &lt; 15 ms pour préserver la fluidité de navigation sur mobile.</a:t>
            </a:r>
          </a:p>
          <a:p>
            <a:pPr>
              <a:defRPr sz="1050" b="1">
                <a:solidFill>
                  <a:srgbClr val="F59E0B"/>
                </a:solidFill>
                <a:latin typeface="Segoe UI"/>
              </a:defRPr>
            </a:pPr>
            <a:r>
              <a:t>Scalabilité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Supporte des millions de requêtes quotidiennes lors des pics de soldes et du Black Friday.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17920" y="3931920"/>
            <a:ext cx="5242255" cy="2377440"/>
          </a:xfrm>
          <a:prstGeom prst="roundRect">
            <a:avLst/>
          </a:prstGeom>
          <a:solidFill>
            <a:srgbClr val="1E293B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4096512"/>
            <a:ext cx="487649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200" b="1">
                <a:solidFill>
                  <a:srgbClr val="F43F5E"/>
                </a:solidFill>
                <a:latin typeface="Segoe UI"/>
              </a:defRPr>
            </a:pPr>
            <a:r>
              <a:t>04 | ÉVOLUTION VERS UN MODÈLE HYBRIDE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4526280"/>
            <a:ext cx="4876495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Collaborative Filtering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Coupler les similitudes textuelles TF-IDF avec les signaux de navigation réels (produits co-achetés).</a:t>
            </a:r>
          </a:p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Dense Embeddings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Tester des modèles d'embeddings Sentence-BERT pour capturer les nuances sémantiques multilingues (FR, EN, DE).</a:t>
            </a:r>
          </a:p>
          <a:p>
            <a:pPr>
              <a:defRPr sz="1050" b="1">
                <a:solidFill>
                  <a:srgbClr val="10B981"/>
                </a:solidFill>
                <a:latin typeface="Segoe UI"/>
              </a:defRPr>
            </a:pPr>
            <a:r>
              <a:t>A/B Testing :</a:t>
            </a:r>
          </a:p>
          <a:p>
            <a:pPr>
              <a:defRPr sz="950">
                <a:solidFill>
                  <a:srgbClr val="F8FAFC"/>
                </a:solidFill>
                <a:latin typeface="Segoe UI"/>
              </a:defRPr>
            </a:pPr>
            <a:r>
              <a:t>Mesurer l'incrément de conversion entre le carrousel algorithmique et les recommandations éditoriales manuelles.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