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B2A4A"/>
                </a:solidFill>
                <a:latin typeface="Segoe UI"/>
              </a:defRPr>
            </a:pPr>
            <a:r>
              <a:t>Bloc 3 : Machine Learning &amp; NLP</a:t>
            </a:r>
          </a:p>
          <a:p>
            <a:pPr>
              <a:spcBef>
                <a:spcPts val="1000"/>
              </a:spcBef>
              <a:defRPr sz="2000">
                <a:solidFill>
                  <a:srgbClr val="2E86AB"/>
                </a:solidFill>
                <a:latin typeface="Segoe UI"/>
              </a:defRPr>
            </a:pPr>
            <a:r>
              <a:t>Clustering et Topic Modeling appliqués au Catalogue E-Commerce The North 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212529"/>
                </a:solidFill>
                <a:latin typeface="Segoe UI"/>
              </a:defRPr>
            </a:pPr>
            <a:r>
              <a:t>Christopher Gilleron — Candidat CDSD (RNCP35288)</a:t>
            </a:r>
          </a:p>
          <a:p>
            <a:pPr>
              <a:spcBef>
                <a:spcPts val="400"/>
              </a:spcBef>
              <a:defRPr sz="1200">
                <a:solidFill>
                  <a:srgbClr val="212529"/>
                </a:solidFill>
                <a:latin typeface="Segoe UI"/>
              </a:defRPr>
            </a:pPr>
            <a:r>
              <a:t>Livrables : Notebook NLP North Face, Projet Walmart, Projet Conversion Rate</a:t>
            </a:r>
          </a:p>
          <a:p>
            <a:pPr>
              <a:spcBef>
                <a:spcPts val="400"/>
              </a:spcBef>
              <a:defRPr sz="1200">
                <a:solidFill>
                  <a:srgbClr val="212529"/>
                </a:solidFill>
                <a:latin typeface="Segoe UI"/>
              </a:defRPr>
            </a:pPr>
            <a:r>
              <a:t>Format : Soutenance Technique (5 minutes)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1. Contexte &amp; Problématique Business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Automatiser l'organisation et la recommandation d'un catalogue e-commerce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**L'enjeu :** Les catalogues e-commerce grandissent vite. Classer manuellement les produits prend du temps et génère des incohérences.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**La solution technique :** Utiliser les descriptions textuelles des produits North Face pour :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Regrouper automatiquement les articles par similarité sémantique (Clustering).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Identifier les thématiques phares du catalogue (Topic Modeling).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Déployer un moteur de recherche de produits similaires pour améliorer la navigation.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**Le bénéfice :** Une expérience client fluide, de meilleures recommandations croisées (cross-selling).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2. Préparation &amp; Traitement du Texte (NLP)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Transformation des descriptions textuelles libres en représentations numériques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86AB"/>
                </a:solidFill>
                <a:latin typeface="Segoe UI"/>
              </a:defRPr>
            </a:pPr>
            <a:r>
              <a:t>Nettoyage Sémantique (SpaCy)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**Pipeline utilisé :** Modèle `en_core_web_sm` de SpaCy.</a:t>
            </a:r>
          </a:p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Suppression de la ponctuation, des caractères spéciaux et des chiffres.</a:t>
            </a:r>
          </a:p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**Lemmatisation :** Réduction des mots à leur racine (ex: *running* ➔ *run*).</a:t>
            </a:r>
          </a:p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Suppression des *Stop Words* (mots vides comme *the, is, and*).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86AB"/>
                </a:solidFill>
                <a:latin typeface="Segoe UI"/>
              </a:defRPr>
            </a:pPr>
            <a:r>
              <a:t>Vectorisation (TF-IDF)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Utilisation de `TfidfVectorizer` (Scikit-Learn).</a:t>
            </a:r>
          </a:p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Calcule l'importance d'un mot dans une description par rapport à tout le catalogue.</a:t>
            </a:r>
          </a:p>
          <a:p>
            <a:pPr>
              <a:spcBef>
                <a:spcPts val="800"/>
              </a:spcBef>
              <a:defRPr sz="1500" b="0">
                <a:solidFill>
                  <a:srgbClr val="1B2A4A"/>
                </a:solidFill>
                <a:latin typeface="Segoe UI"/>
              </a:defRPr>
            </a:pPr>
            <a:r>
              <a:t>- Création d'une matrice numérique de taille : `[Nombre de produits x Taille du vocabulaire]`.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3. Segmentation Non-Supervisée (KMeans)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Découvrir des groupes naturels de produits sans étiquettes préalables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**Algorithme :** KMeans appliqué sur la matrice TF-IDF.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**Méthodologie de choix du nombre de clusters (k)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Analyse de la courbe d'inertie (Méthode de l'Elbow / Coude).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Validation par le score de Silhouette.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Sélection de **k = 8 clusters** optimaux.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**Interprétation :** Le modèle sépare de lui-même les vestes de pluie, les t-shirts techniques, le matériel de camping, etc.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0" y="1645920"/>
            <a:ext cx="4297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8288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77F0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468880"/>
            <a:ext cx="4114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12529"/>
                </a:solidFill>
                <a:latin typeface="Segoe UI"/>
              </a:defRPr>
            </a:pPr>
            <a:r>
              <a:t>Clusters de produits détectés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3108960"/>
            <a:ext cx="4297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29184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77F00"/>
                </a:solidFill>
                <a:latin typeface="Segoe UI"/>
              </a:defRPr>
            </a:pPr>
            <a:r>
              <a:t>0.48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931920"/>
            <a:ext cx="4114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12529"/>
                </a:solidFill>
                <a:latin typeface="Segoe UI"/>
              </a:defRPr>
            </a:pPr>
            <a:r>
              <a:t>Score de Silhouette moyen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4572000"/>
            <a:ext cx="42976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77F00"/>
                </a:solidFill>
                <a:latin typeface="Segoe UI"/>
              </a:defRPr>
            </a:pPr>
            <a:r>
              <a:t>1 600+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5394960"/>
            <a:ext cx="4114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12529"/>
                </a:solidFill>
                <a:latin typeface="Segoe UI"/>
              </a:defRPr>
            </a:pPr>
            <a:r>
              <a:t>Mots uniques dans le vocabulaire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4. Extraction de Thèmes Latents (Topic Modeling)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Découvrir la structure thématique profonde grâce à l'Analyse Sémantique Latente (LSA)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**Technologie :** Réduction de dimension par décomposition en valeurs singulières tronquée (`TruncatedSVD`).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**Pourquoi ?** Compresser la matrice TF-IDF très creuse pour extraire des concepts denses (Topics).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**Résultats majeurs (Exemples de Topics extraits)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**Topic 1 (Outwear/Pluie) :** Mots-clés dominateurs : *jacket, waterproof, rain, breathable*.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**Topic 2 (Sport/Performance) :** Mots-clés dominateurs : *t-shirt, moisture, dry, lightweight*.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**Topic 3 (Bagagerie) :** Mots-clés dominateurs : *backpack, pocket, compartment, zipper*.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5. Moteur de Recommandation de Produits Similaires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Calculer la proximité sémantique en temps réel pour suggérer le bon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**Mécanisme de recommandation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L'utilisateur consulte la fiche d'un produit (vecteur A).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On calcule la **similarité cosinus** entre le vecteur A et tous les autres produits du catalogue (vecteurs B).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On classe les résultats par ordre décroissant de similarité.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**Exemple d'évaluation qualitative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Produit cible : *Veste étanche Summit Series*.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Top 3 recommandations générées : 3 autres vestes techniques de pluie. Le modèle comprend parfaitement le contexte sportif.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Segoe UI"/>
              </a:defRPr>
            </a:pPr>
            <a:r>
              <a:t>6. Conclusion &amp; Validation du Bloc 3</a:t>
            </a:r>
          </a:p>
          <a:p>
            <a:pPr>
              <a:defRPr sz="1300">
                <a:solidFill>
                  <a:srgbClr val="2E86AB"/>
                </a:solidFill>
                <a:latin typeface="Segoe UI"/>
              </a:defRPr>
            </a:pPr>
            <a:r>
              <a:t>Une boîte à outils complète de Machine Learning supervisé et non-supervisé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**North Face :** Déploiement réussi d'un système NLP non-supervisé robuste pour structurer et recommander des vêtements.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**Walmart Sales (ML Supervisé - Régression)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Prédiction des ventes hebdomadaires des magasins Walmart via des régressions linéaires régularisées (Ridge/Lasso) et Random Forest (gestion des variables macro-économiques).</a:t>
            </a:r>
          </a:p>
          <a:p>
            <a:pPr>
              <a:spcBef>
                <a:spcPts val="800"/>
              </a:spcBef>
              <a:defRPr sz="1500" b="1">
                <a:solidFill>
                  <a:srgbClr val="1B2A4A"/>
                </a:solidFill>
                <a:latin typeface="Segoe UI"/>
              </a:defRPr>
            </a:pPr>
            <a:r>
              <a:t>**Conversion Rate Challenge (ML Supervisé - Classification) :**</a:t>
            </a:r>
          </a:p>
          <a:p>
            <a:pPr lvl="1">
              <a:spcBef>
                <a:spcPts val="400"/>
              </a:spcBef>
              <a:defRPr sz="1300">
                <a:solidFill>
                  <a:srgbClr val="212529"/>
                </a:solidFill>
                <a:latin typeface="Segoe UI"/>
              </a:defRPr>
            </a:pPr>
            <a:r>
              <a:t>- Prédiction du taux d'achat d'un utilisateur sur un site web en fonction de son comportement. F1-Score élevé grâce à la gestion du déséquilibre de classe.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