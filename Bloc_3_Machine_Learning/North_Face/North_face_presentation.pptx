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8495" cy="466344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85340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Segoe UI"/>
              </a:defRPr>
            </a:pPr>
            <a:r>
              <a:t>BLOC 3 — MACHINE LEARNING NON SUPERVISÉ &amp; NLP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1920240"/>
            <a:ext cx="8534095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8FAFC"/>
                </a:solidFill>
                <a:latin typeface="Segoe UI"/>
              </a:defRPr>
            </a:pPr>
            <a:r>
              <a:t>The North Face E-Commerce</a:t>
            </a:r>
          </a:p>
          <a:p>
            <a:pPr>
              <a:defRPr sz="1700">
                <a:solidFill>
                  <a:srgbClr val="94A3B8"/>
                </a:solidFill>
                <a:latin typeface="Segoe UI"/>
              </a:defRPr>
            </a:pPr>
            <a:r>
              <a:t>Clustering DBSCAN, Système de Recommandation &amp; Modélisation Thématique LSA (TruncatedSVD)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383280"/>
            <a:ext cx="8534095" cy="27432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3657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43F5E"/>
                </a:solidFill>
                <a:latin typeface="Segoe UI"/>
              </a:defRPr>
            </a:pPr>
            <a:r>
              <a:t>DBSCAN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CLUSTERING COSINUS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10 clusters de produits outdoor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657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TOP-5 RECS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MOTEUR DE RECOMMANDATION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Affinité textuelle &amp; anti-bruit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3657600"/>
            <a:ext cx="27432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LSA / 15 THÈMES</a:t>
            </a:r>
          </a:p>
          <a:p>
            <a:pPr>
              <a:defRPr sz="1100" b="1">
                <a:solidFill>
                  <a:srgbClr val="F8FAFC"/>
                </a:solidFill>
                <a:latin typeface="Segoe UI"/>
              </a:defRPr>
            </a:pPr>
            <a:r>
              <a:t>TRUNCATEDSVD TOPICS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Décomposition sémantique latente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983480"/>
            <a:ext cx="8534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Candidat : Christopher GILLERON   |   Commanditaire : The North Face   |   Certification CDSD (Niveau 7)   |   Soutenance 5 min (8 slides)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ÉTAPE 01 | CADRAGE &amp; ENJEUX E-COMMERCE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Contexte The North Face &amp; Double Défi Métier de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2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The North Face E-Commerce (ML Non Supervisé &amp; NLP)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01 | CONTEXTE THE NORTH FACE &amp; DONNÉES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Marque Iconique Outdoor (1968)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Spécialiste mondial des vêtements, chaussures et équipements d'alpinisme et de loisirs de plein air.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Problématique thenorthface.fr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Améliorer les taux de conversion en ligne et la pertinence de l'expérience utilisateur.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Corpus Étudié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500 descriptions textuelles détaillées de produits outdoor issues du catalogue officiel (sample-data.csv).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02 | LES DEUX SOLUTIONS ATTENDUES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Axe 1 — Système de Recommandation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Déployer un carrousel 'Ces produits pourraient aussi vous intéresser...' sur chaque page article, basé sur la similarité textuelle (résolution du problème de Cold-Start sans historique d'achat).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Axe 2 — Restructuration du Catalogue (LSA)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Utiliser le Topic Modeling non supervisé pour remettre en cause les catégories traditionnelles et identifier de nouvelles catégories de navigation plus intuitives.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Approche Non Supervisée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Exploiter uniquement le traitement automatique du langage naturel (NLP).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ÉTAPE 02 | PRÉTRAITEMENT NLP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Pipeline SpaCy, Filtrage des Stop Words &amp; Matrice TF-IDF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3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The North Face E-Commerce (ML Non Supervisé &amp; NLP)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01 | NETTOYAGE LINGUISTIQUE (SPACY)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Modèle 'en_core_web_sm'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Tokenisation robuste et filtrage des caractères non alphabétiques.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Lemmatisation Précise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Réduction des formes fléchies au radical canonique (ex: 'running', 'runs' $_x000D_ightarrow$ 'run' ; 'jackets' $_x000D_ightarrow$ 'jacket').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Stop Words Personnalisés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Suppression des termes parasites promotionnels omniprésents : 'north', 'face', 'feature', 'design', 'include', 'wash'.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Impact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Isole les véritables descripteurs techniques (imperméabilité, respirabilité, duvet, stretch).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02 | VECTORISATION TF-IDF (SCIKIT-LEARN)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Term Frequency - Inverse Document Frequency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Pondération pénalisant les mots fréquents dans tout le catalogue et sur-valorisant les spécificités produit.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Matrice TF-IDF Finale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500 produits $	imes$ 1 033 dimensions lexicales épurées.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Normalisation L2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Chaque vecteur produit possède une norme unitaire, permettant une comparaison angulaire optimale via la distance cosinus.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Livrable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Matrice tfidf_matrix prête pour les deux algorithmes non supervisés (DBSCAN et LSA).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ÉTAPE 03 | CLUSTERING DBSCAN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Partie 1 : Groupement Non Supervisé des Produits par Affinité Cosinus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4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The North Face E-Commerce (ML Non Supervisé &amp; NLP)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CALIBRATION DBSCAN (COSINE METRIC)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Choix de la Distance Cosinus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En espace de dimension 1 033, la distance cosinus mesure l'orientation sémantique et neutralise la longueur des textes.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Hyperparamètres Calibrés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• eps = 0.35 (rayon maximal d'affinité sémantique).</a:t>
            </a:r>
            <a:br/>
            <a:r>
              <a:t>• min_samples = 5 (densité minimale pour former un groupe).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10 Clusters Cohérents Trouvés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Respecte parfaitement l'objectif du brief (10 à 20 clusters avec peu de dispersion).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Gestion des Outliers (Bruit -1)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Les articles trop singuliers sont rejetés dans le bruit sans polluer la cohérence des clusters denses.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RÉPARTITION DES PRINCIPAUX CLUSTERS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1920240"/>
          <a:ext cx="469361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4538"/>
                <a:gridCol w="1564538"/>
                <a:gridCol w="1564539"/>
              </a:tblGrid>
              <a:tr h="49149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Cluster ID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Produits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43F5E"/>
                          </a:solidFill>
                          <a:latin typeface="Segoe UI"/>
                        </a:defRPr>
                      </a:pPr>
                      <a:r>
                        <a:t>Thématique Déduite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Cluster 2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53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Sous-vêtements &amp; Boxers techniques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Cluster 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Sacs à dos &amp; Équipement trekking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Cluster 3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T-shirts &amp; Polos respirants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Cluster 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Vestes coupe-vent imperméables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Cluster 1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Pantalons de randonnée stretch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Cluster 8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Polaires &amp; Vestes isolantes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Cluster 6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F8FAFC"/>
                          </a:solidFill>
                          <a:latin typeface="Segoe UI"/>
                        </a:defRPr>
                      </a:pPr>
                      <a:r>
                        <a:t>Bonnets, gants &amp; accessoires</a:t>
                      </a:r>
                    </a:p>
                  </a:txBody>
                  <a:tcPr>
                    <a:solidFill>
                      <a:srgbClr val="18202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ÉTAPE 04 | VALIDATION DES CLUSTERS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Analyse Lexicale &amp; Nuages de Mots (WordClouds) des Groupes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5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The North Face E-Commerce (ML Non Supervisé &amp; NLP)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VOCABULAIRE CLÉ PAR CLUSTER (WORDCLOUDS)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Cluster 2 (Sous-vêtements techniques)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Mots dominants : 'boxer', 'waistband', 'brief', 'cotton', 'organic', 'comfort', 'skin'. Confort au porter et maintien élastique.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Cluster 5 (Sacs à dos &amp; Randonnée)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Mots dominants : 'pack', 'pocket', 'backpack', 'strap', 'compartment', 'zipper', 'hydration'. Organisation et portage.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Cluster 0 (Vestes imperméables)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Mots dominants : 'jacket', 'waterproof', 'breathable', 'hood', 'seam', 'shell', 'rain'. Protection intempéries.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Cluster 8 (Polaires thermiques)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Mots dominants : 'fleece', 'warmth', 'layer', 'soft', 'thermal'. Isolation grand froid.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INTERPRÉTATION QUALITATIVE DU CLUSTERING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Séparation Sémantique Nette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Chaque cluster possède son univers lexical propre, sans chevauchement confus entre les catégories techniques.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Fiabilité du Regroupement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 clustering isole avec succès les sous-familles de vêtements sans aucune étiquette préalable.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Base pour la Recommandation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Ces clusters délimitent les frontières sémantiques idéales pour recommander des produits de la même famille.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ÉTAPE 05 | SYSTÈME DE RECOMMANDATION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Partie 2 : Algorithme find_similar_items &amp; Démonstration Interactive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6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The North Face E-Commerce (ML Non Supervisé &amp; NLP)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MOTEUR HYBRIDE COSINE + DBSCAN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Matrice de Similarité Cosinus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Calcul vectoriel all-pairs ($500 	imes 500$) mesurant le cosinus de l'angle entre descriptions.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Filtrage Intra-Cluster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Si le produit consulté appartient à un cluster dense (ex: Cluster 2), la recherche est restreinte aux produits du même groupe (anti-bruit).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Exclusion Auto-Référence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Le produit actif est exclu de sa liste de recommandations.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Livrable Top-5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Retourne exactement les 5 IDs d'articles les plus proches pour affichage sur le site.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DÉMONSTRATION RÉELLE (NOTEBOOK &amp; INPUT)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Produit Consulté (ID 0)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'Active classic boxers' — Caleçon de sport respirant à séchage rapide pour bivouac.</a:t>
            </a:r>
          </a:p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Top-5 Recommandations Générées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• 1. ID 18 : Cap 1 boxer briefs (boxer technique respirant)</a:t>
            </a:r>
            <a:br/>
            <a:r>
              <a:t>• 2. ID 493 : Active boxer briefs (boxer léger voyage)</a:t>
            </a:r>
            <a:br/>
            <a:r>
              <a:t>• 3. ID 364 : Organic cotton boxers (boxer coton bio)</a:t>
            </a:r>
            <a:br/>
            <a:r>
              <a:t>• 4. ID 422 : Active briefs (slip sport anti-humidité)</a:t>
            </a:r>
            <a:br/>
            <a:r>
              <a:t>• 5. ID 237 : Active mesh boxer briefs (caleçon aéré)</a:t>
            </a:r>
          </a:p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Validation input()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Programme interactif permettant à l'utilisateur de saisir un ID (0-499) pour obtenir ses 5 recommandations instantanées.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ÉTAPE 06 | MODÉLISATION THÉMATIQUE LSA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Partie 3 : Extraction des Thèmes Latents via TruncatedSVD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7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The North Face E-Commerce (ML Non Supervisé &amp; NLP)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1208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TRUNCATEDSVD &amp; TOPIC_ENCODED_DF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Au-delà du Clustering Strict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Un vêtement peut être à la fois imperméable, thermique et urbain. LSA permet l'appartenance multi-thématique.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Réduction SVD (15 thèmes)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Décomposition en 15 composantes singulières latentes (n_components=15) capturant les cooccurrences profondes.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Sauvegarde Obligatoire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Matrice encodée enregistrée dans la variable officielle 'topic_encoded_df'.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Extraction du main_topic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Attribution du thème principal dominant par produit via idxmax().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LES 4 NOUVELLES CATÉGORIES IDENTIFIÉES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20240"/>
            <a:ext cx="487649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1. Imperméabilité &amp; Coques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Mots LSA : 'waterproof', 'jacket', 'breathable', 'hood', 'seam' $_x000D_ightarrow$ Technologie DryVent / Gore-Tex.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2. Isolation &amp; Grand Froid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Mots LSA : 'fleece', 'down', 'insulation', 'warmth', 'thermal' $_x000D_ightarrow$ Doudounes et polaires d'expédition.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3. Bagagerie &amp; Portage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Mots LSA : 'pack', 'backpack', 'pocket', 'compartment', 'strap' $_x000D_ightarrow$ Équipement trekking et voyage.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4. Trail &amp; Respirabilité Active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Mots LSA : 'short', 'shirt', 'lightweight', 'stretch', 'quick-dry' $_x000D_ightarrow$ Gamme athlétique et course.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ÉTAPE 07 | PLAN D'ACTION &amp; SYNTHÈSE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Segoe UI"/>
              </a:defRPr>
            </a:pPr>
            <a:r>
              <a:t>4 Recommandations E-Commerce Clés pour The North 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4114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94A3B8"/>
                </a:solidFill>
                <a:latin typeface="Segoe UI"/>
              </a:defRPr>
            </a:pPr>
            <a:r>
              <a:t>8 /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Christopher GILLERON  |  The North Face E-Commerce (ML Non Supervisé &amp; NLP)  |  Certification CDSD Bloc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7160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01 | CARROUSEL 'PRODUITS SIMILAIRES'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87452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Intégration Web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Intégrer le widget find_similar_items() sous chaque fiche produit du site.</a:t>
            </a:r>
          </a:p>
          <a:p>
            <a:pPr>
              <a:defRPr sz="1000" b="1">
                <a:solidFill>
                  <a:srgbClr val="F43F5E"/>
                </a:solidFill>
                <a:latin typeface="Segoe UI"/>
              </a:defRPr>
            </a:pPr>
            <a:r>
              <a:t>Impact Business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Hausse estimée de +12% à +18% du taux de clic et réduction du taux de rebond.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3619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02 | REFONTE DE L'ARBORESCENCE DU CATALOGUE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2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Taxonomie LSA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Remplacer la navigation rigide Homme/Femme par une navigation par activité (Grand Froid, Bivouac, Trail).</a:t>
            </a:r>
          </a:p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SEO Organique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Créer des landing pages thématiques indexées sur les requêtes Google longue traîne.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3192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9651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03 | MICROSERVICE API FASTAPI TEMPS RÉEL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Architecture Technique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Exposer les matrices de similarité via une API REST avec cache Redis en mémoire.</a:t>
            </a:r>
          </a:p>
          <a:p>
            <a:pPr>
              <a:defRPr sz="1000" b="1">
                <a:solidFill>
                  <a:srgbClr val="F59E0B"/>
                </a:solidFill>
                <a:latin typeface="Segoe UI"/>
              </a:defRPr>
            </a:pPr>
            <a:r>
              <a:t>Performance SLA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Temps de réponse garanti &lt; 15 ms pour préserver la fluidité mobile.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931920"/>
            <a:ext cx="5242255" cy="23774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096512"/>
            <a:ext cx="48764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43F5E"/>
                </a:solidFill>
                <a:latin typeface="Segoe UI"/>
              </a:defRPr>
            </a:pPr>
            <a:r>
              <a:t>04 | PERSPECTIVES D'HYBRIDATION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34840"/>
            <a:ext cx="487649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Signaux Collaboratifs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Combiner la similarité textuelle avec les données de paniers co-achetés réels.</a:t>
            </a:r>
          </a:p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Embeddings Denses :</a:t>
            </a:r>
          </a:p>
          <a:p>
            <a:pPr>
              <a:defRPr sz="900">
                <a:solidFill>
                  <a:srgbClr val="F8FAFC"/>
                </a:solidFill>
                <a:latin typeface="Segoe UI"/>
              </a:defRPr>
            </a:pPr>
            <a:r>
              <a:t>Expérimenter Sentence-BERT pour capturer les nuances multilingues (FR, EN, DE).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