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BLOC 3 — MACHINE LEARNING SUPERVISÉ (RÉGRESSION)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340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Walmart Store Sales Prediction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Modélisation Prédictive des Ventes Hebdomadaires, Régularisation L1/L2 &amp; Optimisation Marketing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Segoe UI"/>
              </a:defRPr>
            </a:pPr>
            <a:r>
              <a:t>R² = 0.91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PERFORMANCE TEST LASSO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Meilleure généralisation (RMSE: 181k$)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8BDF8"/>
                </a:solidFill>
                <a:latin typeface="Segoe UI"/>
              </a:defRPr>
            </a:pPr>
            <a:r>
              <a:t>3-SIGMA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FILTRAGE OUTLIERS STRICT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Nettoyage robuste des anomalies extrêmes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Segoe UI"/>
              </a:defRPr>
            </a:pPr>
            <a:r>
              <a:t>STORE ID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1er DRIVER DE VARIANCE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Impact d'ancrage local supérieur à 1M$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3776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8FAFC"/>
                </a:solidFill>
                <a:latin typeface="Segoe UI"/>
              </a:defRPr>
            </a:pPr>
            <a:r>
              <a:t>Candidat : Christopher GILLERON   |   Commanditaire : Walmart Inc.   |   Certification CDSD (Niveau 7)   |   Soutenance 5 min (8 slides)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01 | CADRAGE &amp; PRÉPARATION 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Contexte Métier Walmart &amp; Traitement de la Cible et des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01 | CONTEXTE MÉTIER &amp; PROBLÉMATIQUE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Enjeu Supply Chain Retail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Walmart doit anticiper les ventes hebdomadaires de ses magasins pour ajuster les flux d'approvisionnement et éviter les ruptures coûteuses.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Mandat Marketing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Quantifier l'impact des facteurs macroéconomiques (chômage, CPI, carburant) pour piloter le calendrier promotionnel.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Données Fournies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Dataset de 150 observations combinant ventes, magasins, calendrier et indicateurs économiques régionaux.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Objectif Scientifique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Construire un modèle prédictif supervisé régularisé expliquant au moins 85% de la variance des ventes sur jeu de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02 | RÈGLE SUR LA CIBLE &amp; DÉCOMPOSITION DATE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Zéro Imputation sur la Cible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Suppression stricte des 14 lignes où Weekly_Sales est manquante (passage de 150 à 136 lignes) : jamais d'imputation artificielle sur la variable cible pour ne pas introduire de biais.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Transformation de la Date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La colonne Date brute ne peut pas entrer telle quelle dans le modèle de régression.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4 Variables Calendaires Créées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Year : Capture la tendance pluriannuelle (2010, 2011, 2012).</a:t>
            </a:r>
            <a:br/>
            <a:r>
              <a:t>• Month : Modélise la saisonnalité annuelle.</a:t>
            </a:r>
            <a:br/>
            <a:r>
              <a:t>• Day &amp; DayOfWeek : Isolent les effets de calendrier et début/fin de mois.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Résultat de l'Étape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Dataset épuré de 136 observations enrichi de features temporelles numériques exploitables.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02 | NETTOYAGE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Filtrage des Outliers [X̄ ± 3σ] &amp; Pipeline Scikit-Learn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01 | RÈGLE DES 3 ÉCARTS-TYPES [X̄ ± 3Σ]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Principe Statistique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Éliminer les observations extrêmes situées au-delà de 3 écarts-types de la moyenne sur les 4 colonnes continues : Temperature, Fuel_Price, CPI, Unemployment.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Application Rigoureuse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 valeurs aberrantes supprimées tout en préservant les NaN des autres colonnes pour l'imputation ultérieure.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Échantillon Final Épuré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131 observations prêtes pour l'apprentissage supervisé sans déformation due aux valeurs extrêmes.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Gain de Robustesse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Protège la régression linéaire contre l'effet de levier disproportionné de points marginaux.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02 | PIPELINE SCIKIT-LEARN &amp; SPLIT 80/20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Split Train / Test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104 lignes d'entraînement (80%) et 27 lignes de test indépendantes (20%) avec random_state=42.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Branche Numérique (8 features)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Temperature, Fuel_Price, CPI, Unemployment, Year, Month, Day, DayOfWeek → SimpleImputer(strategy='median') + StandardScaler().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Branche Catégorielle (2 features)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Store et Holiday_Flag → SimpleImputer(strategy='most_frequent') + OneHotEncoder(drop='first').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Anti-Data Leakage Garanti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L'imputation et le scaling sont ajustés exclusivement sur le jeu d'entraînement (fit_transform) puis appliqués sur le jeu de test (transform).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03 | ANALYSE EXPLORATOIRE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Disparité des Magasins &amp; Corrélations Macroéconomiques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DISPARITÉ DES MAGASINS &amp; SIGNAUX MACRO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Écarts Structurels Colossaux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Les ventes hebdomadaires moyennes s'échelonnent de 250 000 $ à plus de 2.1 M$ selon les magasins.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Top Magasins (Performeurs)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Les magasins 4, 13, 14 et 20 dépassent régulièrement 1.8 M$ par semaine (hypermarchés à fort trafic).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Magasins à Faible Rendement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Les magasins 3, 5, 9 et 16 plafonnent sous 600 k$ par semaine.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Taux de Chômage (Unemployment)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Corrélation négative nette (-0.16) : les bassins d'emploi fragiles subissent une contraction directe du panier moyen.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Semaines Fériées (Holiday_Flag)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Pics de surconsommation lors de Thanksgiving et Noël (+15% à +25% de ventes hebdomadaires).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Conclusion EDA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L'ancrage géographique et la surface constituent le 1er facteur explicatif du CA, complétés par la saisonnalité.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508760"/>
            <a:ext cx="4876495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lmart_c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54480"/>
            <a:ext cx="4785055" cy="19202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0" y="3657600"/>
            <a:ext cx="4876495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lmart_c10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3703320"/>
            <a:ext cx="3870655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04 | MODÈLE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Régression Linéaire Multiple &amp; Évaluation des Performances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MÉTRIQUES TRAIN VS TEST (SCIKIT-LEARN)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Score R² Train : 0.974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 modèle linéaire ordinaire explique 97.4% de la variance sur le jeu d'entraînement.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Score R² Test : 0.902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Excellente restitution sur les données de test non vues (90.2% de variance expliquée).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Écart MAE (Surapprentissage)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MAE Train = 77 021 $ vs MAE Test = 145 423 $ (RMSE Test: 188 477 $). L'écart quasi du simple au double révèle une mémorisation partielle du bruit d'entraînement.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Analyse des Résidus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 nuage Ventes Réelles vs Prédites suit fidèlement la diagonale y = x, mais la dispersion s'élargit sur les ventes extrêmes (&gt; 1.8 M$).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Risque de Multicolinéarité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Les magasins partagent des indicateurs macroéconomiques proches, ce qui déstabilise certains coefficients ordinaires.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Nécessité de Régulariser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Appliquer une pénalité L1/L2 pour comprimer les poids et réduire l'erreur sur les données de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508760"/>
            <a:ext cx="4876495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lmart_c15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3749039" cy="3200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0" y="4892040"/>
            <a:ext cx="4876495" cy="1188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937760"/>
            <a:ext cx="45107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DIAGNOSTIC VISUEL : RÉALITÉ VS PRÉDICTIONS</a:t>
            </a:r>
          </a:p>
          <a:p>
            <a:pPr>
              <a:spcBef>
                <a:spcPts val="300"/>
              </a:spcBef>
              <a:defRPr sz="900">
                <a:solidFill>
                  <a:srgbClr val="F8FAFC"/>
                </a:solidFill>
              </a:defRPr>
            </a:pPr>
            <a:r>
              <a:t>Le modèle baseline capture parfaitement l'alignement central (R²=0.90), mais sous-estime les très fortes pointes de Thanksgiving (&gt;2.2 M$). Objectif : stabiliser les coefficients via régularisation.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05 | INTERPRÉTABILITÉ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Analyse des Coefficients du Modèle (.coef_) &amp; Importance des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ENSEIGNEMENTS MÉTIER DÉCISIONNELS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L'Effet Magasin Écrase Tout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Les identifiants de magasins génèrent des différentiels supérieurs à 1.3 M$ par semaine par rapport au magasin de référence. La surface commerciale et la zone de chalandise priment sur tous les autres facteurs.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Poids du Chômage (-42 245 $)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Chaque hausse d'un écart-type du chômage ampute les ventes hebdomadaires de 42 000 $ par magasin : nécessité d'orienter le mix produit vers les marques distributeur (Great Value).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Surcroît Férié (+48 920 $)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Les semaines de fête augmentent systématiquement les ventes de ~50 000 $, validant le ROI des investissements publicitaires saisonniers.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Effet Température (-15 810 $)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Léger ralentissement lors des canicules estivales au profit des périodes d'achats de rentrée/hiver.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Carburant &amp; CPI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Impacts secondaires absorbés par les ajustements de trésorerie des ménages.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508760"/>
            <a:ext cx="4876495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lmart_c18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37360"/>
            <a:ext cx="4785055" cy="2834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0" y="4892040"/>
            <a:ext cx="4876495" cy="1188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937760"/>
            <a:ext cx="45107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HIÉRARCHIE DES DRIVERS DE VENTES (EXTRACTION .COEF_)</a:t>
            </a:r>
          </a:p>
          <a:p>
            <a:pPr>
              <a:spcBef>
                <a:spcPts val="300"/>
              </a:spcBef>
              <a:defRPr sz="900">
                <a:solidFill>
                  <a:srgbClr val="F8FAFC"/>
                </a:solidFill>
              </a:defRPr>
            </a:pPr>
            <a:r>
              <a:t>Visualisation des coefficients Scikit-Learn : les indicatrices de magasins (Store 4, 13, 14, 20 en haut) dominent nettement Holiday_Flag, Unemployment et Temperature.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06 | RÉGULARISATION &amp;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Régularisation L2 (Ridge) vs L1 (Lasso) via GridSearchCV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TABLEAU COMPARATIF DES MODÈLES (SCIKIT-LEARN)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Baseline (OLS)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R² Train: 0.974   |   R² Test: 0.902   |   RMSE: 188 477 $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Ridge (L2, α=0.01)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R² Train: 0.974   |   R² Test: 0.903   |   RMSE: 187 400 $</a:t>
            </a:r>
          </a:p>
          <a:p>
            <a:pPr>
              <a:spcBef>
                <a:spcPts val="600"/>
              </a:spcBef>
              <a:defRPr b="1" sz="1100">
                <a:solidFill>
                  <a:srgbClr val="10B981"/>
                </a:solidFill>
              </a:defRPr>
            </a:pPr>
            <a:r>
              <a:t>• Lasso (L1, α=1000)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R² Train: 0.968   |   R² Test: 0.910   |   RMSE: 181 457 $</a:t>
            </a:r>
          </a:p>
          <a:p>
            <a:pPr>
              <a:spcBef>
                <a:spcPts val="1400"/>
              </a:spcBef>
              <a:defRPr b="1" sz="1100">
                <a:solidFill>
                  <a:srgbClr val="10B981"/>
                </a:solidFill>
              </a:defRPr>
            </a:pPr>
            <a:r>
              <a:t>Gain Final du Modèle Gagnant (Lasso L1) 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Lasso réduit l'erreur quadratique moyenne de 7 020 $ par semaine tout en améliorant le pouvoir explicatif généralisé (R² passe de 0.90 à 0.91).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RIDGE (L2) VS LASSO (L1) : ANALYSE DES MÉCANISMES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Ridge (Pénalisation L2)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Comprime les coefficients disproportionnés sans les annuler. Très efficace contre la colinéarité, mais conserve l'ensemble des variables dans l'équation finale.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Lasso (Pénalisation L1) — GAGNANT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Applique une contraction parcimonieuse qui annule exactement les coefficients des variables redondantes ou non informatives (Day, DayOfWeek).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Effet de Sélection de Features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En éliminant le bruit résiduel, Lasso produit un modèle plus simple, plus interprétable et plus résistant aux fluctuations des futures semaines.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Recommandation Déploiement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Retenir le pipeline Lasso optimisé (alpha=1000) comme modèle de référence pour les prévisions de la Supply Chain Walmart.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07 | PLAN D'ACTION &amp;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4 Recommandations Stratégiques pour le Service Marketing Walmart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01 | PILOTAGE SUPPLY CHAIN DIFFÉRENCIÉ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Ancrage Magasin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Ne pas appliquer de règles d'approvisionnement uniformes : segmenter les stocks selon le cluster de volume (Store 4/13/20 vs Store 3/5).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Gain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Réduction de 5% à 8% des coûts de stockage et des ruptures de linéaires.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02 | ANTICIPATION DES SEMAINES FÉRIÉES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Planification Fêtes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Anticiper de 3 semaines l'approvisionnement des semaines 'Holiday_Flag' (+48.9k$ de surcroît structurel).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Marketing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Concentrer les investissements publicitaires sur Thanksgiving et le Black Friday.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03 | BAROMÈTRE MACROÉCONOMIQUE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Sensibilité Chômage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Dans les bassins où le chômage grimpe, pousser le merchandising des marques distributeur premiers prix (Great Value).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Inflation (CPI)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Adapter la politique de remises face aux arbitrages de fin de mois.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04 | INDUSTRIALISATION MLOPS DU MODÈLE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Modèle Retenu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Déployer le pipeline Lasso (alpha=1000) sous forme d'API de scoring hebdomadaire sécurisée.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Réentraînement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Mise à jour mensuelle continue pour intégrer les nouvelles données de vente.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