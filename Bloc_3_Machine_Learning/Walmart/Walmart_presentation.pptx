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BLOC 3 — MACHINE LEARNING SUPERVISÉ (RÉGRESSION)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Walmart Store Sales Prediction</a:t>
            </a:r>
          </a:p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Modélisation Prédictive des Ventes Hebdomadaires, Régularisation L1/L2 &amp; Optimisation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383280"/>
            <a:ext cx="85340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R² = 0.91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PERFORMANCE TEST LASSO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Meilleure généralisation (RMSE: 181k$)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ACC15"/>
                </a:solidFill>
                <a:latin typeface="Segoe UI"/>
              </a:defRPr>
            </a:pPr>
            <a:r>
              <a:t>3-SIGMA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FILTRAGE OUTLIERS STRICT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Nettoyage robuste des anomalies extrêmes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STORE ID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1er DRIVER DE VARIANCE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Impact d'ancrage local supérieur à 1M$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98348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Candidat : Christopher GILLERON   |   Commanditaire : Walmart Inc.   |   Certification CDSD (Niveau 7)   |   Soutenance 5 min (8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01 | CADRAGE &amp; PRÉPARATION 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Contexte Métier Walmart &amp; Traitement de la Cible et des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01 | CONTEXTE MÉTIER &amp; PROBLÉMATIQUE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Enjeu Supply Chain Retail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Walmart doit anticiper les ventes hebdomadaires de ses magasins pour ajuster les flux d'approvisionnement et éviter les ruptures coûteuses.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Mandat Marketing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Quantifier l'impact des facteurs macroéconomiques (chômage, CPI, carburant) pour piloter le calendrier promotionnel.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Données Fournies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Dataset de 150 observations combinant ventes, magasins, calendrier et indicateurs économiques.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02 | RÈGLE SUR LA CIBLE &amp; DÉCOMPOSITION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Zéro Imputation sur la Cible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Suppression stricte des 14 lignes où Weekly_Sales est manquante (passage de 150 à 136 lignes) : jamais d'imputation sur la cible pour éviter les biais de prédiction.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Transformation de la Date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La colonne Date brute ne peut pas entrer telle quelle dans le modèle de régression.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 Variables Calendaires Créées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• Year : Capture la tendance pluriannuelle (2010, 2011, 2012).</a:t>
            </a:r>
            <a:br/>
            <a:r>
              <a:t>• Month : Modélise la saisonnalité annuelle.</a:t>
            </a:r>
            <a:br/>
            <a:r>
              <a:t>• Day &amp; DayOfWeek : Isolent les effets de calendrier et début/fin de mois.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02 | NETTOYAGE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Filtrage des Outliers [X̄ ± 3σ] &amp; Pipeline Scikit-Learn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01 | RÈGLE DES 3 ÉCARTS-TYPES [X̄ ± 3Σ]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Principe Statistique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Éliminer les observations extrêmes situées au-delà de 3 écarts-types de la moyenne sur les 4 colonnes continues : Temperature, Fuel_Price, CPI, Unemployment.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Application Rigoureuse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5 valeurs aberrantes supprimées tout en préservant les NaN des autres colonnes pour l'imputation ultérieure.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Échantillon Final Épuré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131 observations prêtes pour l'apprentissage supervisé.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02 | PIPELINE SCIKIT-LEARN &amp; SPLIT 80/20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Split Train / Test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104 lignes d'entraînement (80%) et 27 lignes de test indépendantes (20%) avec random_state=42.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Branche Numérique (8 features)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Temperature, Fuel_Price, CPI, Unemployment, Year, Month, Day, DayOfWeek $_x000D_ightarrow$ SimpleImputer(median) + StandardScaler().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Branche Catégorielle (2 features)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Store et Holiday_Flag $_x000D_ightarrow$ SimpleImputer(most_frequent) + OneHotEncoder(drop='first').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03 | ANALYSE EXPLORATOIRE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Disparité des Magasins &amp; Corrélations Macroéconomiques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DISPARITÉ DES VENTES PAR MAGASIN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Écarts Structurels Colossaux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ventes hebdomadaires moyennes s'échelonnent de 250 000 $ à plus de 2.1 M$ selon les magasins.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Top Magasins (Performeurs)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magasins 4, 13, 14 et 20 dépassent régulièrement 1.8M$ par semaine (hypermarchés à fort trafic).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Magasins à Faible Rendement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magasins 3, 5, 9 et 16 plafonnent sous 600k$ par semaine.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Conclusion EDA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L'ancrage géographique et la surface du magasin constituent le 1er facteur explicatif du chiffre d'affaires.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SIGNAUX MACROÉCONOMIQUES &amp; CALENDRIER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Taux de Chômage (Unemployment)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Corrélation négative nette (-0.16) : les bassins frappés par le chômage subissent une contraction directe du panier moyen.</a:t>
            </a:r>
          </a:p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Indice des Prix (CPI)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Légère corrélation négative (-0.08) traduisant l'arbitrage des ménages face à l'inflation.</a:t>
            </a:r>
          </a:p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Semaines Fériées (Holiday_Flag)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Pics de surconsommation lors de Thanksgiving et Noël (+15% à +25% de ventes).</a:t>
            </a:r>
          </a:p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Température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Effet saisonnier mesuré (-0.11), plus fort en hiver qu'en été.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04 | MODÈLE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Régression Linéaire Multiple &amp; Évaluation des Performances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MÉTRIQUES TRAIN VS TEST (SCIKIT-LEARN)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580"/>
                <a:gridCol w="1211580"/>
                <a:gridCol w="1211580"/>
                <a:gridCol w="1211580"/>
              </a:tblGrid>
              <a:tr h="609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MAE ($)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RMSE ($)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Train (Entraînement)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77 220 $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100 071 $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Test (Validation)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145 803 $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188 478 $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40233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Pouvoir Explicatif Élevé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90% de la variance des ventes est expliquée sur le jeu de test indépendant.</a:t>
            </a:r>
          </a:p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Diagnostic de Surapprentissage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gap MAE (77k$ $_x000D_ightarrow$ 145k$) prouve que le modèle ordinaire mémorise une partie du bruit d'entraînement.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ANALYSE DES RÉSIDUS &amp; NÉCESSITÉ DE RÉGULARISER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Linéarité Globale Confirmée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nuage Ventes Réelles vs Ventes Prédites suit la diagonale avec fidélité sur les semaines courantes.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Écarts sur les Semaines de Pic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résidus les plus forts surviennent sur les semaines Black Friday : l'engouement promotionnel dépasse la simple réponse linéaire.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Risque de Multicolinéarité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magasins partagent des indicateurs macroéconomiques proches, ce qui gonfle certains poids ordinaires.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Objectif Étape Suivante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Appliquer une pénalisation L1/L2 pour contraindre les poids et améliorer la généralisation.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05 | INTERPRÉTABILITÉ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Analyse des Coefficients du Modèle (.coef_) &amp; Importance des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COEFFICIENTS DU MODÈLE LINÉAIRE (EXTRACTION .COEF_)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Feature / Variable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Coefficient ($)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Impact Ventes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Store 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- 1 363 365 $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Pénalité maximale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Store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- 1 203 335 $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Très faible volume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Store 16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- 1 155 017 $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Sous-performance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Store 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- 1 148 236 $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Sous-performance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Unemployment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- 42 150 $ / std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Sensibilité économique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CPI (Inflation)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- 28 640 $ / std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Arbitrage panier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Holiday_Flag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+ 48 900 $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Boost semaines fériées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1371600"/>
            <a:ext cx="496793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36192"/>
            <a:ext cx="4602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ENSEIGNEMENTS MÉTIER DÉCISIONNELS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60217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L'Effet Magasin Écrase Tout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identifiants de magasins génèrent des différentiels supérieurs à 1.3 M$ par semaine par rapport au magasin de référence. La surface et la zone de chalandise priment sur tous les autres facteurs.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Poids du Chômage (-42k$)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Chaque hausse d'un écart-type du chômage ampute les ventes hebdomadaires de 42 000 $ par magasin : nécessité d'orienter le mix produit vers les marques distributeur (Great Value).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Surcroît Férié (+48.9k$)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semaines de fête augmentent systématiquement les ventes de ~50 000 $, validant le ROI des investissements publicitaires saisonniers.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06 | RÉGULARISATION &amp;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Régularisation L2 (Ridge) vs L1 (Lasso) via GridSearchCV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TABLEAU COMPARATIF DES MODÈLES (SCIKIT-LEARN)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828800"/>
          <a:ext cx="103628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0413"/>
                <a:gridCol w="1480413"/>
                <a:gridCol w="1480413"/>
                <a:gridCol w="1480413"/>
                <a:gridCol w="1480413"/>
                <a:gridCol w="1480413"/>
                <a:gridCol w="1480417"/>
              </a:tblGrid>
              <a:tr h="3886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Pénalité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Best Alpha (CV)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R² Train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R² Test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RMSE Test ($)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Linear Regression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Aucune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188 478 $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Ridge (L2)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Norme ||w||₂²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alpha = 0.01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187 888 $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Poids stabilisés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Lasso (L1) — Retenu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Norme ||w||₁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alpha = 1 000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181 457 $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OPTIMAL (Gains -7k$)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3749039"/>
            <a:ext cx="521208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13631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RIDGE (L2) : STABILISATION DES POIDS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Mécanisme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Pénalise les coefficients disproportionnés sans les annuler.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Résultat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RMSE test réduite de 188k$ à 187k$ avec alpha=0.01.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Limite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Conserve toutes les variables, sans sélection.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LASSO (L1) : PARCIMONIE &amp; MODÈLE GAGNANT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062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Sélection de Variables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Annule les features redondantes (Day, DayOfWeek) pour éliminer le bruit.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Performance Record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R² test de 0.91 (+1%) et RMSE réduite à 181 457 $ (-7 020 $ vs Baseline).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Choix Final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Modèle le plus robuste et le plus explicable pour la production.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07 | PLAN D'ACTION &amp;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4 Recommandations Stratégiques pour le Service Marketing Walmart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Walmart Store Sales Prediction (Machine Learning Supervisé)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01 | PILOTAGE SUPPLY CHAIN DIFFÉRENCIÉ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Ancrage Magasin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Ne pas appliquer de règles d'approvisionnement uniformes : segmenter les stocks selon le cluster de volume (Store 4/13/20 vs Store 3/5).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Gain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Réduction de 5% à 8% des coûts de stockage et de rupture.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02 | ANTICIPATION DES SEMAINES FÉRIÉES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Planification Fêtes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Anticiper de 3 semaines l'approvisionnement des semaines 'Holiday_Flag' (+48.9k$ de surcroît structurel).</a:t>
            </a:r>
          </a:p>
          <a:p>
            <a:pPr>
              <a:defRPr sz="1000" b="1">
                <a:solidFill>
                  <a:srgbClr val="FACC15"/>
                </a:solidFill>
                <a:latin typeface="Segoe UI"/>
              </a:defRPr>
            </a:pPr>
            <a:r>
              <a:t>Marketing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Concentrer les investissements publicitaires sur Thanksgiving.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03 | BAROMÈTRE MACROÉCONOMIQUE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Sensibilité Chômage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Dans les bassins où le chômage grimpe, pousser le merchandising des marques distributeur premiers prix (Great Value).</a:t>
            </a:r>
          </a:p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Inflation (CPI)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Adapter la politique de prix face aux arbitrages de fin de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9651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04 | INDUSTRIALISATION MLOPS DU MODÈLE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348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Modèle Retenu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Déployer le pipeline Lasso (alpha=1000) sous forme d'API de scoring hebdomadaire.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Réentraînement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Mise à jour mensuelle continue pour intégrer les nouvelles données de vente.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