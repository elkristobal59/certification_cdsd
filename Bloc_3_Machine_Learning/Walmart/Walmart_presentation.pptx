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8534095" cy="365760"/>
          </a:xfrm>
          <a:prstGeom prst="rect">
            <a:avLst/>
          </a:prstGeom>
          <a:noFill/>
        </p:spPr>
        <p:txBody>
          <a:bodyPr wrap="square">
            <a:spAutoFit/>
          </a:bodyPr>
          <a:lstStyle/>
          <a:p>
            <a:pPr>
              <a:defRPr sz="1300" b="1">
                <a:solidFill>
                  <a:srgbClr val="38BDF8"/>
                </a:solidFill>
                <a:latin typeface="Segoe UI"/>
              </a:defRPr>
            </a:pPr>
            <a:r>
              <a:t>BLOC 3 — MACHINE LEARNING SUPERVISÉ (RÉGRESSION)</a:t>
            </a:r>
          </a:p>
        </p:txBody>
      </p:sp>
      <p:sp>
        <p:nvSpPr>
          <p:cNvPr id="5" name="TextBox 4"/>
          <p:cNvSpPr txBox="1"/>
          <p:nvPr/>
        </p:nvSpPr>
        <p:spPr>
          <a:xfrm>
            <a:off x="1828800" y="1920240"/>
            <a:ext cx="8534095" cy="1097280"/>
          </a:xfrm>
          <a:prstGeom prst="rect">
            <a:avLst/>
          </a:prstGeom>
          <a:noFill/>
        </p:spPr>
        <p:txBody>
          <a:bodyPr wrap="square">
            <a:spAutoFit/>
          </a:bodyPr>
          <a:lstStyle/>
          <a:p>
            <a:pPr>
              <a:defRPr sz="3600" b="1">
                <a:solidFill>
                  <a:srgbClr val="F8FAFC"/>
                </a:solidFill>
                <a:latin typeface="Segoe UI"/>
              </a:defRPr>
            </a:pPr>
            <a:r>
              <a:t>Walmart Store Sales Prediction</a:t>
            </a:r>
          </a:p>
          <a:p>
            <a:pPr>
              <a:defRPr sz="1700">
                <a:solidFill>
                  <a:srgbClr val="94A3B8"/>
                </a:solidFill>
                <a:latin typeface="Segoe UI"/>
              </a:defRPr>
            </a:pPr>
            <a:r>
              <a:t>Modélisation Prédictive des Ventes Hebdomadaires, Régularisation L1/L2 &amp; Optimisation Marketing</a:t>
            </a:r>
          </a:p>
        </p:txBody>
      </p:sp>
      <p:sp>
        <p:nvSpPr>
          <p:cNvPr id="6" name="Rectangle 5"/>
          <p:cNvSpPr/>
          <p:nvPr/>
        </p:nvSpPr>
        <p:spPr>
          <a:xfrm>
            <a:off x="1828800" y="3383280"/>
            <a:ext cx="8534095"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657600"/>
            <a:ext cx="2743200" cy="1097280"/>
          </a:xfrm>
          <a:prstGeom prst="rect">
            <a:avLst/>
          </a:prstGeom>
          <a:noFill/>
        </p:spPr>
        <p:txBody>
          <a:bodyPr wrap="square">
            <a:spAutoFit/>
          </a:bodyPr>
          <a:lstStyle/>
          <a:p>
            <a:pPr>
              <a:defRPr sz="2200" b="1">
                <a:solidFill>
                  <a:srgbClr val="10B981"/>
                </a:solidFill>
                <a:latin typeface="Segoe UI"/>
              </a:defRPr>
            </a:pPr>
            <a:r>
              <a:t>R² = 0.91</a:t>
            </a:r>
          </a:p>
          <a:p>
            <a:pPr>
              <a:defRPr sz="1100" b="1">
                <a:solidFill>
                  <a:srgbClr val="F8FAFC"/>
                </a:solidFill>
                <a:latin typeface="Segoe UI"/>
              </a:defRPr>
            </a:pPr>
            <a:r>
              <a:t>PERFORMANCE TEST LASSO</a:t>
            </a:r>
          </a:p>
          <a:p>
            <a:pPr>
              <a:defRPr sz="950">
                <a:solidFill>
                  <a:srgbClr val="94A3B8"/>
                </a:solidFill>
                <a:latin typeface="Segoe UI"/>
              </a:defRPr>
            </a:pPr>
            <a:r>
              <a:t>Meilleure généralisation (RMSE: 181k$)</a:t>
            </a:r>
          </a:p>
        </p:txBody>
      </p:sp>
      <p:sp>
        <p:nvSpPr>
          <p:cNvPr id="8" name="TextBox 7"/>
          <p:cNvSpPr txBox="1"/>
          <p:nvPr/>
        </p:nvSpPr>
        <p:spPr>
          <a:xfrm>
            <a:off x="4754880" y="3657600"/>
            <a:ext cx="2743200" cy="1097280"/>
          </a:xfrm>
          <a:prstGeom prst="rect">
            <a:avLst/>
          </a:prstGeom>
          <a:noFill/>
        </p:spPr>
        <p:txBody>
          <a:bodyPr wrap="square">
            <a:spAutoFit/>
          </a:bodyPr>
          <a:lstStyle/>
          <a:p>
            <a:pPr>
              <a:defRPr sz="2200" b="1">
                <a:solidFill>
                  <a:srgbClr val="FACC15"/>
                </a:solidFill>
                <a:latin typeface="Segoe UI"/>
              </a:defRPr>
            </a:pPr>
            <a:r>
              <a:t>3-SIGMA</a:t>
            </a:r>
          </a:p>
          <a:p>
            <a:pPr>
              <a:defRPr sz="1100" b="1">
                <a:solidFill>
                  <a:srgbClr val="F8FAFC"/>
                </a:solidFill>
                <a:latin typeface="Segoe UI"/>
              </a:defRPr>
            </a:pPr>
            <a:r>
              <a:t>FILTRAGE OUTLIERS STRICT</a:t>
            </a:r>
          </a:p>
          <a:p>
            <a:pPr>
              <a:defRPr sz="950">
                <a:solidFill>
                  <a:srgbClr val="94A3B8"/>
                </a:solidFill>
                <a:latin typeface="Segoe UI"/>
              </a:defRPr>
            </a:pPr>
            <a:r>
              <a:t>Nettoyage robuste des anomalies extrêmes</a:t>
            </a:r>
          </a:p>
        </p:txBody>
      </p:sp>
      <p:sp>
        <p:nvSpPr>
          <p:cNvPr id="9" name="TextBox 8"/>
          <p:cNvSpPr txBox="1"/>
          <p:nvPr/>
        </p:nvSpPr>
        <p:spPr>
          <a:xfrm>
            <a:off x="7680960" y="3657600"/>
            <a:ext cx="2743200" cy="1097280"/>
          </a:xfrm>
          <a:prstGeom prst="rect">
            <a:avLst/>
          </a:prstGeom>
          <a:noFill/>
        </p:spPr>
        <p:txBody>
          <a:bodyPr wrap="square">
            <a:spAutoFit/>
          </a:bodyPr>
          <a:lstStyle/>
          <a:p>
            <a:pPr>
              <a:defRPr sz="2200" b="1">
                <a:solidFill>
                  <a:srgbClr val="38BDF8"/>
                </a:solidFill>
                <a:latin typeface="Segoe UI"/>
              </a:defRPr>
            </a:pPr>
            <a:r>
              <a:t>STORE ID</a:t>
            </a:r>
          </a:p>
          <a:p>
            <a:pPr>
              <a:defRPr sz="1100" b="1">
                <a:solidFill>
                  <a:srgbClr val="F8FAFC"/>
                </a:solidFill>
                <a:latin typeface="Segoe UI"/>
              </a:defRPr>
            </a:pPr>
            <a:r>
              <a:t>1er DRIVER DE VARIANCE</a:t>
            </a:r>
          </a:p>
          <a:p>
            <a:pPr>
              <a:defRPr sz="950">
                <a:solidFill>
                  <a:srgbClr val="94A3B8"/>
                </a:solidFill>
                <a:latin typeface="Segoe UI"/>
              </a:defRPr>
            </a:pPr>
            <a:r>
              <a:t>Impact d'ancrage local supérieur à 1M$</a:t>
            </a:r>
          </a:p>
        </p:txBody>
      </p:sp>
      <p:sp>
        <p:nvSpPr>
          <p:cNvPr id="10" name="TextBox 9"/>
          <p:cNvSpPr txBox="1"/>
          <p:nvPr/>
        </p:nvSpPr>
        <p:spPr>
          <a:xfrm>
            <a:off x="1828800" y="4983480"/>
            <a:ext cx="8534095" cy="457200"/>
          </a:xfrm>
          <a:prstGeom prst="rect">
            <a:avLst/>
          </a:prstGeom>
          <a:noFill/>
        </p:spPr>
        <p:txBody>
          <a:bodyPr wrap="square">
            <a:spAutoFit/>
          </a:bodyPr>
          <a:lstStyle/>
          <a:p>
            <a:pPr>
              <a:defRPr sz="1100" b="1">
                <a:solidFill>
                  <a:srgbClr val="94A3B8"/>
                </a:solidFill>
                <a:latin typeface="Segoe UI"/>
              </a:defRPr>
            </a:pPr>
            <a:r>
              <a:t>Candidat : Christopher GILLERON   |   Commanditaire : Walmart Inc.   |   Certification CDSD (Niveau 7)   |   Jedha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01 | CADRAGE DU PROJET</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Contexte Stratégique Walmart &amp; Objectifs Décisionnels</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2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01 | CONTEXTE ÉCONOMIQUE</a:t>
            </a:r>
          </a:p>
        </p:txBody>
      </p:sp>
      <p:sp>
        <p:nvSpPr>
          <p:cNvPr id="9" name="TextBox 8"/>
          <p:cNvSpPr txBox="1"/>
          <p:nvPr/>
        </p:nvSpPr>
        <p:spPr>
          <a:xfrm>
            <a:off x="914400" y="2011680"/>
            <a:ext cx="3047695" cy="3931920"/>
          </a:xfrm>
          <a:prstGeom prst="rect">
            <a:avLst/>
          </a:prstGeom>
          <a:noFill/>
        </p:spPr>
        <p:txBody>
          <a:bodyPr wrap="square">
            <a:spAutoFit/>
          </a:bodyPr>
          <a:lstStyle/>
          <a:p>
            <a:pPr>
              <a:defRPr sz="1100" b="1">
                <a:solidFill>
                  <a:srgbClr val="38BDF8"/>
                </a:solidFill>
                <a:latin typeface="Segoe UI"/>
              </a:defRPr>
            </a:pPr>
            <a:r>
              <a:t>Leader Mondial du Retail :</a:t>
            </a:r>
          </a:p>
          <a:p>
            <a:pPr>
              <a:defRPr sz="1000">
                <a:solidFill>
                  <a:srgbClr val="F8FAFC"/>
                </a:solidFill>
                <a:latin typeface="Segoe UI"/>
              </a:defRPr>
            </a:pPr>
            <a:r>
              <a:t>Walmart Inc., fondé en 1962, exploite des milliers d'hypermarchés et génère des flux logistiques colossaux.</a:t>
            </a:r>
          </a:p>
          <a:p/>
          <a:p>
            <a:pPr>
              <a:defRPr sz="1100" b="1">
                <a:solidFill>
                  <a:srgbClr val="38BDF8"/>
                </a:solidFill>
                <a:latin typeface="Segoe UI"/>
              </a:defRPr>
            </a:pPr>
            <a:r>
              <a:t>Volatilité des Ventes :</a:t>
            </a:r>
          </a:p>
          <a:p>
            <a:pPr>
              <a:defRPr sz="1000">
                <a:solidFill>
                  <a:srgbClr val="F8FAFC"/>
                </a:solidFill>
                <a:latin typeface="Segoe UI"/>
              </a:defRPr>
            </a:pPr>
            <a:r>
              <a:t>Les ventes hebdomadaires varient fortement selon les saisons, les promotions, les jours fériés et le contexte économique.</a:t>
            </a:r>
          </a:p>
          <a:p/>
          <a:p>
            <a:pPr>
              <a:defRPr sz="1100" b="1">
                <a:solidFill>
                  <a:srgbClr val="38BDF8"/>
                </a:solidFill>
                <a:latin typeface="Segoe UI"/>
              </a:defRPr>
            </a:pPr>
            <a:r>
              <a:t>Enjeu Supply Chain :</a:t>
            </a:r>
          </a:p>
          <a:p>
            <a:pPr>
              <a:defRPr sz="1000">
                <a:solidFill>
                  <a:srgbClr val="F8FAFC"/>
                </a:solidFill>
                <a:latin typeface="Segoe UI"/>
              </a:defRPr>
            </a:pPr>
            <a:r>
              <a:t>Une prédiction erronée génère soit des ruptures de stock coûteuses, soit un sur-stockage pénalisant la rentabilité.</a:t>
            </a:r>
          </a:p>
          <a:p/>
        </p:txBody>
      </p:sp>
      <p:sp>
        <p:nvSpPr>
          <p:cNvPr id="10" name="Rounded Rectangle 9"/>
          <p:cNvSpPr/>
          <p:nvPr/>
        </p:nvSpPr>
        <p:spPr>
          <a:xfrm>
            <a:off x="43891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02 | MANDAT MARKETING</a:t>
            </a:r>
          </a:p>
        </p:txBody>
      </p:sp>
      <p:sp>
        <p:nvSpPr>
          <p:cNvPr id="12" name="TextBox 11"/>
          <p:cNvSpPr txBox="1"/>
          <p:nvPr/>
        </p:nvSpPr>
        <p:spPr>
          <a:xfrm>
            <a:off x="4572000" y="2011680"/>
            <a:ext cx="3047695" cy="3931920"/>
          </a:xfrm>
          <a:prstGeom prst="rect">
            <a:avLst/>
          </a:prstGeom>
          <a:noFill/>
        </p:spPr>
        <p:txBody>
          <a:bodyPr wrap="square">
            <a:spAutoFit/>
          </a:bodyPr>
          <a:lstStyle/>
          <a:p>
            <a:pPr>
              <a:defRPr sz="1100" b="1">
                <a:solidFill>
                  <a:srgbClr val="38BDF8"/>
                </a:solidFill>
                <a:latin typeface="Segoe UI"/>
              </a:defRPr>
            </a:pPr>
            <a:r>
              <a:t>Demande du Service Marketing :</a:t>
            </a:r>
          </a:p>
          <a:p>
            <a:pPr>
              <a:defRPr sz="1000">
                <a:solidFill>
                  <a:srgbClr val="F8FAFC"/>
                </a:solidFill>
                <a:latin typeface="Segoe UI"/>
              </a:defRPr>
            </a:pPr>
            <a:r>
              <a:t>Concevoir un modèle d'apprentissage supervisé capable d'estimer avec précision les ventes hebdomadaires.</a:t>
            </a:r>
          </a:p>
          <a:p/>
          <a:p>
            <a:pPr>
              <a:defRPr sz="1100" b="1">
                <a:solidFill>
                  <a:srgbClr val="38BDF8"/>
                </a:solidFill>
                <a:latin typeface="Segoe UI"/>
              </a:defRPr>
            </a:pPr>
            <a:r>
              <a:t>Facteurs Macroéconomiques :</a:t>
            </a:r>
          </a:p>
          <a:p>
            <a:pPr>
              <a:defRPr sz="1000">
                <a:solidFill>
                  <a:srgbClr val="F8FAFC"/>
                </a:solidFill>
                <a:latin typeface="Segoe UI"/>
              </a:defRPr>
            </a:pPr>
            <a:r>
              <a:t>Quantifier l'impact réel du chômage, du CPI (inflation), du prix du carburant et de la température.</a:t>
            </a:r>
          </a:p>
          <a:p/>
          <a:p>
            <a:pPr>
              <a:defRPr sz="1100" b="1">
                <a:solidFill>
                  <a:srgbClr val="38BDF8"/>
                </a:solidFill>
                <a:latin typeface="Segoe UI"/>
              </a:defRPr>
            </a:pPr>
            <a:r>
              <a:t>Planification Prédictive :</a:t>
            </a:r>
          </a:p>
          <a:p>
            <a:pPr>
              <a:defRPr sz="1000">
                <a:solidFill>
                  <a:srgbClr val="F8FAFC"/>
                </a:solidFill>
                <a:latin typeface="Segoe UI"/>
              </a:defRPr>
            </a:pPr>
            <a:r>
              <a:t>Fournir un outil d'aide à la décision pour calibrer le calendrier et les budgets des campagnes marketing.</a:t>
            </a:r>
          </a:p>
          <a:p/>
        </p:txBody>
      </p:sp>
      <p:sp>
        <p:nvSpPr>
          <p:cNvPr id="13" name="Rounded Rectangle 12"/>
          <p:cNvSpPr/>
          <p:nvPr/>
        </p:nvSpPr>
        <p:spPr>
          <a:xfrm>
            <a:off x="80467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03 | OBJECTIFS SCIENTIFIQUES</a:t>
            </a:r>
          </a:p>
        </p:txBody>
      </p:sp>
      <p:sp>
        <p:nvSpPr>
          <p:cNvPr id="15" name="TextBox 14"/>
          <p:cNvSpPr txBox="1"/>
          <p:nvPr/>
        </p:nvSpPr>
        <p:spPr>
          <a:xfrm>
            <a:off x="8229600" y="2011680"/>
            <a:ext cx="3047695" cy="3931920"/>
          </a:xfrm>
          <a:prstGeom prst="rect">
            <a:avLst/>
          </a:prstGeom>
          <a:noFill/>
        </p:spPr>
        <p:txBody>
          <a:bodyPr wrap="square">
            <a:spAutoFit/>
          </a:bodyPr>
          <a:lstStyle/>
          <a:p>
            <a:pPr>
              <a:defRPr sz="1100" b="1">
                <a:solidFill>
                  <a:srgbClr val="38BDF8"/>
                </a:solidFill>
                <a:latin typeface="Segoe UI"/>
              </a:defRPr>
            </a:pPr>
            <a:r>
              <a:t>Pipeline Scikit-Learn :</a:t>
            </a:r>
          </a:p>
          <a:p>
            <a:pPr>
              <a:defRPr sz="1000">
                <a:solidFill>
                  <a:srgbClr val="F8FAFC"/>
                </a:solidFill>
                <a:latin typeface="Segoe UI"/>
              </a:defRPr>
            </a:pPr>
            <a:r>
              <a:t>Nettoyage strict, imputation sans fuite de données et encodage catégoriel standardisé.</a:t>
            </a:r>
          </a:p>
          <a:p/>
          <a:p>
            <a:pPr>
              <a:defRPr sz="1100" b="1">
                <a:solidFill>
                  <a:srgbClr val="38BDF8"/>
                </a:solidFill>
                <a:latin typeface="Segoe UI"/>
              </a:defRPr>
            </a:pPr>
            <a:r>
              <a:t>Modélisation Baseline :</a:t>
            </a:r>
          </a:p>
          <a:p>
            <a:pPr>
              <a:defRPr sz="1000">
                <a:solidFill>
                  <a:srgbClr val="F8FAFC"/>
                </a:solidFill>
                <a:latin typeface="Segoe UI"/>
              </a:defRPr>
            </a:pPr>
            <a:r>
              <a:t>Entraîner une Régression Linéaire Multiple et analyser les métriques (R², MAE, RMSE).</a:t>
            </a:r>
          </a:p>
          <a:p/>
          <a:p>
            <a:pPr>
              <a:defRPr sz="1100" b="1">
                <a:solidFill>
                  <a:srgbClr val="38BDF8"/>
                </a:solidFill>
                <a:latin typeface="Segoe UI"/>
              </a:defRPr>
            </a:pPr>
            <a:r>
              <a:t>Contrôle du Surapprentissage :</a:t>
            </a:r>
          </a:p>
          <a:p>
            <a:pPr>
              <a:defRPr sz="1000">
                <a:solidFill>
                  <a:srgbClr val="F8FAFC"/>
                </a:solidFill>
                <a:latin typeface="Segoe UI"/>
              </a:defRPr>
            </a:pPr>
            <a:r>
              <a:t>Régulariser par Ridge (L2) et Lasso (L1) avec optimisation des hyperparamètres par GridSearchCV.</a:t>
            </a:r>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02 | PRÉTRAITEMENT DES DONNÉES</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Gestion de la Cible, Feature Engineering Date &amp; Règle des 3 Ecarts-Types</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3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01 | GESTION DE LA CIBLE</a:t>
            </a:r>
          </a:p>
        </p:txBody>
      </p:sp>
      <p:sp>
        <p:nvSpPr>
          <p:cNvPr id="9" name="TextBox 8"/>
          <p:cNvSpPr txBox="1"/>
          <p:nvPr/>
        </p:nvSpPr>
        <p:spPr>
          <a:xfrm>
            <a:off x="914400" y="2011680"/>
            <a:ext cx="3047695" cy="3931920"/>
          </a:xfrm>
          <a:prstGeom prst="rect">
            <a:avLst/>
          </a:prstGeom>
          <a:noFill/>
        </p:spPr>
        <p:txBody>
          <a:bodyPr wrap="square">
            <a:spAutoFit/>
          </a:bodyPr>
          <a:lstStyle/>
          <a:p>
            <a:pPr>
              <a:defRPr sz="1100" b="1">
                <a:solidFill>
                  <a:srgbClr val="38BDF8"/>
                </a:solidFill>
                <a:latin typeface="Segoe UI"/>
              </a:defRPr>
            </a:pPr>
            <a:r>
              <a:t>Règle Absolue d'Imputation :</a:t>
            </a:r>
          </a:p>
          <a:p>
            <a:pPr>
              <a:defRPr sz="1000">
                <a:solidFill>
                  <a:srgbClr val="F8FAFC"/>
                </a:solidFill>
                <a:latin typeface="Segoe UI"/>
              </a:defRPr>
            </a:pPr>
            <a:r>
              <a:t>Jamais d'imputation sur la variable cible (Weekly_Sales) pour ne pas injecter de biais artificiel.</a:t>
            </a:r>
          </a:p>
          <a:p/>
          <a:p>
            <a:pPr>
              <a:defRPr sz="1100" b="1">
                <a:solidFill>
                  <a:srgbClr val="38BDF8"/>
                </a:solidFill>
                <a:latin typeface="Segoe UI"/>
              </a:defRPr>
            </a:pPr>
            <a:r>
              <a:t>Suppression des NaN :</a:t>
            </a:r>
          </a:p>
          <a:p>
            <a:pPr>
              <a:defRPr sz="1000">
                <a:solidFill>
                  <a:srgbClr val="F8FAFC"/>
                </a:solidFill>
                <a:latin typeface="Segoe UI"/>
              </a:defRPr>
            </a:pPr>
            <a:r>
              <a:t>14 lignes sans Weekly_Sales ont été supprimées, ramenant l'échantillon de 150 à 136 observations.</a:t>
            </a:r>
          </a:p>
          <a:p/>
          <a:p>
            <a:pPr>
              <a:defRPr sz="1100" b="1">
                <a:solidFill>
                  <a:srgbClr val="38BDF8"/>
                </a:solidFill>
                <a:latin typeface="Segoe UI"/>
              </a:defRPr>
            </a:pPr>
            <a:r>
              <a:t>Périmètre Restant :</a:t>
            </a:r>
          </a:p>
          <a:p>
            <a:pPr>
              <a:defRPr sz="1000">
                <a:solidFill>
                  <a:srgbClr val="F8FAFC"/>
                </a:solidFill>
                <a:latin typeface="Segoe UI"/>
              </a:defRPr>
            </a:pPr>
            <a:r>
              <a:t>100% des ventes résiduelles sont des valeurs historiques réelles et auditables.</a:t>
            </a:r>
          </a:p>
          <a:p/>
        </p:txBody>
      </p:sp>
      <p:sp>
        <p:nvSpPr>
          <p:cNvPr id="10" name="Rounded Rectangle 9"/>
          <p:cNvSpPr/>
          <p:nvPr/>
        </p:nvSpPr>
        <p:spPr>
          <a:xfrm>
            <a:off x="43891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02 | FEATURE ENGINEERING DATE</a:t>
            </a:r>
          </a:p>
        </p:txBody>
      </p:sp>
      <p:sp>
        <p:nvSpPr>
          <p:cNvPr id="12" name="TextBox 11"/>
          <p:cNvSpPr txBox="1"/>
          <p:nvPr/>
        </p:nvSpPr>
        <p:spPr>
          <a:xfrm>
            <a:off x="4572000" y="2011680"/>
            <a:ext cx="3047695" cy="3931920"/>
          </a:xfrm>
          <a:prstGeom prst="rect">
            <a:avLst/>
          </a:prstGeom>
          <a:noFill/>
        </p:spPr>
        <p:txBody>
          <a:bodyPr wrap="square">
            <a:spAutoFit/>
          </a:bodyPr>
          <a:lstStyle/>
          <a:p>
            <a:pPr>
              <a:defRPr sz="1100" b="1">
                <a:solidFill>
                  <a:srgbClr val="38BDF8"/>
                </a:solidFill>
                <a:latin typeface="Segoe UI"/>
              </a:defRPr>
            </a:pPr>
            <a:r>
              <a:t>Décomposition Temporelle :</a:t>
            </a:r>
          </a:p>
          <a:p>
            <a:pPr>
              <a:defRPr sz="1000">
                <a:solidFill>
                  <a:srgbClr val="F8FAFC"/>
                </a:solidFill>
                <a:latin typeface="Segoe UI"/>
              </a:defRPr>
            </a:pPr>
            <a:r>
              <a:t>La colonne Date brute (string) est transformée en 4 features numériques distinctes :</a:t>
            </a:r>
          </a:p>
          <a:p/>
          <a:p>
            <a:pPr>
              <a:defRPr sz="1100" b="1">
                <a:solidFill>
                  <a:srgbClr val="38BDF8"/>
                </a:solidFill>
                <a:latin typeface="Segoe UI"/>
              </a:defRPr>
            </a:pPr>
            <a:r>
              <a:t>• Year :</a:t>
            </a:r>
          </a:p>
          <a:p>
            <a:pPr>
              <a:defRPr sz="1000">
                <a:solidFill>
                  <a:srgbClr val="F8FAFC"/>
                </a:solidFill>
                <a:latin typeface="Segoe UI"/>
              </a:defRPr>
            </a:pPr>
            <a:r>
              <a:t>Capture la tendance pluriannuelle (2010, 2011, 2012).</a:t>
            </a:r>
          </a:p>
          <a:p/>
          <a:p>
            <a:pPr>
              <a:defRPr sz="1100" b="1">
                <a:solidFill>
                  <a:srgbClr val="38BDF8"/>
                </a:solidFill>
                <a:latin typeface="Segoe UI"/>
              </a:defRPr>
            </a:pPr>
            <a:r>
              <a:t>• Month :</a:t>
            </a:r>
          </a:p>
          <a:p>
            <a:pPr>
              <a:defRPr sz="1000">
                <a:solidFill>
                  <a:srgbClr val="F8FAFC"/>
                </a:solidFill>
                <a:latin typeface="Segoe UI"/>
              </a:defRPr>
            </a:pPr>
            <a:r>
              <a:t>Modélise la saisonnalité annuelle (fêtes de fin d'année).</a:t>
            </a:r>
          </a:p>
          <a:p/>
          <a:p>
            <a:pPr>
              <a:defRPr sz="1100" b="1">
                <a:solidFill>
                  <a:srgbClr val="38BDF8"/>
                </a:solidFill>
                <a:latin typeface="Segoe UI"/>
              </a:defRPr>
            </a:pPr>
            <a:r>
              <a:t>• Day &amp; DayOfWeek :</a:t>
            </a:r>
          </a:p>
          <a:p>
            <a:pPr>
              <a:defRPr sz="1000">
                <a:solidFill>
                  <a:srgbClr val="F8FAFC"/>
                </a:solidFill>
                <a:latin typeface="Segoe UI"/>
              </a:defRPr>
            </a:pPr>
            <a:r>
              <a:t>Isole les effets de calendrier et la fin de mois.</a:t>
            </a:r>
          </a:p>
          <a:p/>
        </p:txBody>
      </p:sp>
      <p:sp>
        <p:nvSpPr>
          <p:cNvPr id="13" name="Rounded Rectangle 12"/>
          <p:cNvSpPr/>
          <p:nvPr/>
        </p:nvSpPr>
        <p:spPr>
          <a:xfrm>
            <a:off x="80467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03 | RÈGLE DES 3 ÉCARTS-TYPES [X̄ ± 3Σ]</a:t>
            </a:r>
          </a:p>
        </p:txBody>
      </p:sp>
      <p:sp>
        <p:nvSpPr>
          <p:cNvPr id="15" name="TextBox 14"/>
          <p:cNvSpPr txBox="1"/>
          <p:nvPr/>
        </p:nvSpPr>
        <p:spPr>
          <a:xfrm>
            <a:off x="8229600" y="2011680"/>
            <a:ext cx="3047695" cy="3931920"/>
          </a:xfrm>
          <a:prstGeom prst="rect">
            <a:avLst/>
          </a:prstGeom>
          <a:noFill/>
        </p:spPr>
        <p:txBody>
          <a:bodyPr wrap="square">
            <a:spAutoFit/>
          </a:bodyPr>
          <a:lstStyle/>
          <a:p>
            <a:pPr>
              <a:defRPr sz="1100" b="1">
                <a:solidFill>
                  <a:srgbClr val="38BDF8"/>
                </a:solidFill>
                <a:latin typeface="Segoe UI"/>
              </a:defRPr>
            </a:pPr>
            <a:r>
              <a:t>Colonnes Filtrées :</a:t>
            </a:r>
          </a:p>
          <a:p>
            <a:pPr>
              <a:defRPr sz="1000">
                <a:solidFill>
                  <a:srgbClr val="F8FAFC"/>
                </a:solidFill>
                <a:latin typeface="Segoe UI"/>
              </a:defRPr>
            </a:pPr>
            <a:r>
              <a:t>Application stricte de l'intervalle [X̄ - 3σ, X̄ + 3σ] sur Temperature, Fuel_Price, CPI et Unemployment.</a:t>
            </a:r>
          </a:p>
          <a:p/>
          <a:p>
            <a:pPr>
              <a:defRPr sz="1100" b="1">
                <a:solidFill>
                  <a:srgbClr val="38BDF8"/>
                </a:solidFill>
                <a:latin typeface="Segoe UI"/>
              </a:defRPr>
            </a:pPr>
            <a:r>
              <a:t>Élimination des Aberrations :</a:t>
            </a:r>
          </a:p>
          <a:p>
            <a:pPr>
              <a:defRPr sz="1000">
                <a:solidFill>
                  <a:srgbClr val="F8FAFC"/>
                </a:solidFill>
                <a:latin typeface="Segoe UI"/>
              </a:defRPr>
            </a:pPr>
            <a:r>
              <a:t>5 observations atypiques éliminées sans supprimer involontairement les NaN des autres colonnes.</a:t>
            </a:r>
          </a:p>
          <a:p/>
          <a:p>
            <a:pPr>
              <a:defRPr sz="1100" b="1">
                <a:solidFill>
                  <a:srgbClr val="38BDF8"/>
                </a:solidFill>
                <a:latin typeface="Segoe UI"/>
              </a:defRPr>
            </a:pPr>
            <a:r>
              <a:t>Taille Finale :</a:t>
            </a:r>
          </a:p>
          <a:p>
            <a:pPr>
              <a:defRPr sz="1000">
                <a:solidFill>
                  <a:srgbClr val="F8FAFC"/>
                </a:solidFill>
                <a:latin typeface="Segoe UI"/>
              </a:defRPr>
            </a:pPr>
            <a:r>
              <a:t>131 observations prêtes pour le pipeline d'apprentissage.</a:t>
            </a:r>
          </a:p>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03 | ANALYSE EXPLORATOIRE</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Distribution des Ventes &amp; Corrélations Macroéconomiques</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4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365760"/>
          </a:xfrm>
          <a:prstGeom prst="rect">
            <a:avLst/>
          </a:prstGeom>
          <a:noFill/>
        </p:spPr>
        <p:txBody>
          <a:bodyPr wrap="square" lIns="0" tIns="0" rIns="0" bIns="0">
            <a:spAutoFit/>
          </a:bodyPr>
          <a:lstStyle/>
          <a:p>
            <a:pPr>
              <a:defRPr sz="1200" b="1">
                <a:solidFill>
                  <a:srgbClr val="38BDF8"/>
                </a:solidFill>
                <a:latin typeface="Segoe UI"/>
              </a:defRPr>
            </a:pPr>
            <a:r>
              <a:t>DISPARITÉ DES VENTES PAR MAGASIN (STORE)</a:t>
            </a:r>
          </a:p>
        </p:txBody>
      </p:sp>
      <p:sp>
        <p:nvSpPr>
          <p:cNvPr id="9" name="TextBox 8"/>
          <p:cNvSpPr txBox="1"/>
          <p:nvPr/>
        </p:nvSpPr>
        <p:spPr>
          <a:xfrm>
            <a:off x="914400" y="1920240"/>
            <a:ext cx="4846320" cy="3931920"/>
          </a:xfrm>
          <a:prstGeom prst="rect">
            <a:avLst/>
          </a:prstGeom>
          <a:noFill/>
        </p:spPr>
        <p:txBody>
          <a:bodyPr wrap="square">
            <a:spAutoFit/>
          </a:bodyPr>
          <a:lstStyle/>
          <a:p>
            <a:pPr>
              <a:defRPr sz="1100" b="1">
                <a:solidFill>
                  <a:srgbClr val="38BDF8"/>
                </a:solidFill>
                <a:latin typeface="Segoe UI"/>
              </a:defRPr>
            </a:pPr>
            <a:r>
              <a:t>Hétérogénéité Majeure :</a:t>
            </a:r>
          </a:p>
          <a:p>
            <a:pPr>
              <a:defRPr sz="1000">
                <a:solidFill>
                  <a:srgbClr val="F8FAFC"/>
                </a:solidFill>
                <a:latin typeface="Segoe UI"/>
              </a:defRPr>
            </a:pPr>
            <a:r>
              <a:t>Les ventes moyennes varient de 250 000 $ à plus de 2 100 000 $ par semaine selon les magasins.</a:t>
            </a:r>
          </a:p>
          <a:p>
            <a:pPr>
              <a:defRPr sz="1100" b="1">
                <a:solidFill>
                  <a:srgbClr val="38BDF8"/>
                </a:solidFill>
                <a:latin typeface="Segoe UI"/>
              </a:defRPr>
            </a:pPr>
            <a:r>
              <a:t>Top Magasins Performeurs :</a:t>
            </a:r>
          </a:p>
          <a:p>
            <a:pPr>
              <a:defRPr sz="1000">
                <a:solidFill>
                  <a:srgbClr val="F8FAFC"/>
                </a:solidFill>
                <a:latin typeface="Segoe UI"/>
              </a:defRPr>
            </a:pPr>
            <a:r>
              <a:t>Les magasins 4, 13, 14 et 20 réalisent régulièrement plus de 1.8M$ par semaine (hypermarchés à très fort trafic).</a:t>
            </a:r>
          </a:p>
          <a:p>
            <a:pPr>
              <a:defRPr sz="1100" b="1">
                <a:solidFill>
                  <a:srgbClr val="38BDF8"/>
                </a:solidFill>
                <a:latin typeface="Segoe UI"/>
              </a:defRPr>
            </a:pPr>
            <a:r>
              <a:t>Magasins à Faible Volume :</a:t>
            </a:r>
          </a:p>
          <a:p>
            <a:pPr>
              <a:defRPr sz="1000">
                <a:solidFill>
                  <a:srgbClr val="F8FAFC"/>
                </a:solidFill>
                <a:latin typeface="Segoe UI"/>
              </a:defRPr>
            </a:pPr>
            <a:r>
              <a:t>Les magasins 3, 5, 9 et 16 plafonnent sous les 600 000 $ hebdomadaires.</a:t>
            </a:r>
          </a:p>
          <a:p>
            <a:pPr>
              <a:defRPr sz="1100" b="1">
                <a:solidFill>
                  <a:srgbClr val="38BDF8"/>
                </a:solidFill>
                <a:latin typeface="Segoe UI"/>
              </a:defRPr>
            </a:pPr>
            <a:r>
              <a:t>Conclusion EDA Magasin :</a:t>
            </a:r>
          </a:p>
          <a:p>
            <a:pPr>
              <a:defRPr sz="1000">
                <a:solidFill>
                  <a:srgbClr val="F8FAFC"/>
                </a:solidFill>
                <a:latin typeface="Segoe UI"/>
              </a:defRPr>
            </a:pPr>
            <a:r>
              <a:t>La variable 'Store' est de loin le descripteur le plus discriminant du modèle : un encodage catégoriel (One-Hot) est obligatoire.</a:t>
            </a:r>
          </a:p>
        </p:txBody>
      </p:sp>
      <p:sp>
        <p:nvSpPr>
          <p:cNvPr id="10" name="Rounded Rectangle 9"/>
          <p:cNvSpPr/>
          <p:nvPr/>
        </p:nvSpPr>
        <p:spPr>
          <a:xfrm>
            <a:off x="6217920" y="1371600"/>
            <a:ext cx="52422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4876495" cy="365760"/>
          </a:xfrm>
          <a:prstGeom prst="rect">
            <a:avLst/>
          </a:prstGeom>
          <a:noFill/>
        </p:spPr>
        <p:txBody>
          <a:bodyPr wrap="square" lIns="0" tIns="0" rIns="0" bIns="0">
            <a:spAutoFit/>
          </a:bodyPr>
          <a:lstStyle/>
          <a:p>
            <a:pPr>
              <a:defRPr sz="1200" b="1">
                <a:solidFill>
                  <a:srgbClr val="38BDF8"/>
                </a:solidFill>
                <a:latin typeface="Segoe UI"/>
              </a:defRPr>
            </a:pPr>
            <a:r>
              <a:t>SIGNAUX MACROÉCONOMIQUES &amp; CALENDRIER</a:t>
            </a:r>
          </a:p>
        </p:txBody>
      </p:sp>
      <p:sp>
        <p:nvSpPr>
          <p:cNvPr id="12" name="TextBox 11"/>
          <p:cNvSpPr txBox="1"/>
          <p:nvPr/>
        </p:nvSpPr>
        <p:spPr>
          <a:xfrm>
            <a:off x="6400800" y="1920240"/>
            <a:ext cx="4846320" cy="3931920"/>
          </a:xfrm>
          <a:prstGeom prst="rect">
            <a:avLst/>
          </a:prstGeom>
          <a:noFill/>
        </p:spPr>
        <p:txBody>
          <a:bodyPr wrap="square">
            <a:spAutoFit/>
          </a:bodyPr>
          <a:lstStyle/>
          <a:p>
            <a:pPr>
              <a:defRPr sz="1100" b="1">
                <a:solidFill>
                  <a:srgbClr val="FACC15"/>
                </a:solidFill>
                <a:latin typeface="Segoe UI"/>
              </a:defRPr>
            </a:pPr>
            <a:r>
              <a:t>Taux de Chômage (Unemployment) :</a:t>
            </a:r>
          </a:p>
          <a:p>
            <a:pPr>
              <a:defRPr sz="1000">
                <a:solidFill>
                  <a:srgbClr val="F8FAFC"/>
                </a:solidFill>
                <a:latin typeface="Segoe UI"/>
              </a:defRPr>
            </a:pPr>
            <a:r>
              <a:t>Corrélation négative nette avec les ventes (-0.16). Les zones de chômage élevé subissent une contraction directe du panier moyen.</a:t>
            </a:r>
          </a:p>
          <a:p>
            <a:pPr>
              <a:defRPr sz="1100" b="1">
                <a:solidFill>
                  <a:srgbClr val="FACC15"/>
                </a:solidFill>
                <a:latin typeface="Segoe UI"/>
              </a:defRPr>
            </a:pPr>
            <a:r>
              <a:t>Indice des Prix à la Consommation (CPI) :</a:t>
            </a:r>
          </a:p>
          <a:p>
            <a:pPr>
              <a:defRPr sz="1000">
                <a:solidFill>
                  <a:srgbClr val="F8FAFC"/>
                </a:solidFill>
                <a:latin typeface="Segoe UI"/>
              </a:defRPr>
            </a:pPr>
            <a:r>
              <a:t>Léger impact négatif (-0.08) : l'inflation incite à l'arbitrage vers des produits de première nécessité.</a:t>
            </a:r>
          </a:p>
          <a:p>
            <a:pPr>
              <a:defRPr sz="1100" b="1">
                <a:solidFill>
                  <a:srgbClr val="FACC15"/>
                </a:solidFill>
                <a:latin typeface="Segoe UI"/>
              </a:defRPr>
            </a:pPr>
            <a:r>
              <a:t>Température &amp; Météo :</a:t>
            </a:r>
          </a:p>
          <a:p>
            <a:pPr>
              <a:defRPr sz="1000">
                <a:solidFill>
                  <a:srgbClr val="F8FAFC"/>
                </a:solidFill>
                <a:latin typeface="Segoe UI"/>
              </a:defRPr>
            </a:pPr>
            <a:r>
              <a:t>Légère corrélation négative (-0.11) : les ventes sont plus faibles lors des fortes chaleurs estivales et montent en hiver (fêtes).</a:t>
            </a:r>
          </a:p>
          <a:p>
            <a:pPr>
              <a:defRPr sz="1100" b="1">
                <a:solidFill>
                  <a:srgbClr val="FACC15"/>
                </a:solidFill>
                <a:latin typeface="Segoe UI"/>
              </a:defRPr>
            </a:pPr>
            <a:r>
              <a:t>Holiday_Flag (Semaines Fériées) :</a:t>
            </a:r>
          </a:p>
          <a:p>
            <a:pPr>
              <a:defRPr sz="1000">
                <a:solidFill>
                  <a:srgbClr val="F8FAFC"/>
                </a:solidFill>
                <a:latin typeface="Segoe UI"/>
              </a:defRPr>
            </a:pPr>
            <a:r>
              <a:t>Pics de surconsommation massifs lors de Thanksgiving et Noël (+15% à +25% de CA hebdomadaire).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04 | PIPELINE DE MODÉLISATION</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Architecture du Préprocesseur Scikit-Learn &amp; Split Train/Test</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5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01 | SPLIT TRAIN / TEST</a:t>
            </a:r>
          </a:p>
        </p:txBody>
      </p:sp>
      <p:sp>
        <p:nvSpPr>
          <p:cNvPr id="9" name="TextBox 8"/>
          <p:cNvSpPr txBox="1"/>
          <p:nvPr/>
        </p:nvSpPr>
        <p:spPr>
          <a:xfrm>
            <a:off x="914400" y="2011680"/>
            <a:ext cx="3047695" cy="3931920"/>
          </a:xfrm>
          <a:prstGeom prst="rect">
            <a:avLst/>
          </a:prstGeom>
          <a:noFill/>
        </p:spPr>
        <p:txBody>
          <a:bodyPr wrap="square">
            <a:spAutoFit/>
          </a:bodyPr>
          <a:lstStyle/>
          <a:p>
            <a:pPr>
              <a:defRPr sz="1100" b="1">
                <a:solidFill>
                  <a:srgbClr val="38BDF8"/>
                </a:solidFill>
                <a:latin typeface="Segoe UI"/>
              </a:defRPr>
            </a:pPr>
            <a:r>
              <a:t>Partition 80% / 20% :</a:t>
            </a:r>
          </a:p>
          <a:p>
            <a:pPr>
              <a:defRPr sz="1000">
                <a:solidFill>
                  <a:srgbClr val="F8FAFC"/>
                </a:solidFill>
                <a:latin typeface="Segoe UI"/>
              </a:defRPr>
            </a:pPr>
            <a:r>
              <a:t>Séparation aléatoire reproductible avec random_state=42.</a:t>
            </a:r>
          </a:p>
          <a:p/>
          <a:p>
            <a:pPr>
              <a:defRPr sz="1100" b="1">
                <a:solidFill>
                  <a:srgbClr val="38BDF8"/>
                </a:solidFill>
                <a:latin typeface="Segoe UI"/>
              </a:defRPr>
            </a:pPr>
            <a:r>
              <a:t>Taille Train :</a:t>
            </a:r>
          </a:p>
          <a:p>
            <a:pPr>
              <a:defRPr sz="1000">
                <a:solidFill>
                  <a:srgbClr val="F8FAFC"/>
                </a:solidFill>
                <a:latin typeface="Segoe UI"/>
              </a:defRPr>
            </a:pPr>
            <a:r>
              <a:t>104 observations d'entraînement pour apprendre les relations statistiques.</a:t>
            </a:r>
          </a:p>
          <a:p/>
          <a:p>
            <a:pPr>
              <a:defRPr sz="1100" b="1">
                <a:solidFill>
                  <a:srgbClr val="38BDF8"/>
                </a:solidFill>
                <a:latin typeface="Segoe UI"/>
              </a:defRPr>
            </a:pPr>
            <a:r>
              <a:t>Taille Test :</a:t>
            </a:r>
          </a:p>
          <a:p>
            <a:pPr>
              <a:defRPr sz="1000">
                <a:solidFill>
                  <a:srgbClr val="F8FAFC"/>
                </a:solidFill>
                <a:latin typeface="Segoe UI"/>
              </a:defRPr>
            </a:pPr>
            <a:r>
              <a:t>27 observations indépendantes de test pour évaluer la capacité de généralisation.</a:t>
            </a:r>
          </a:p>
          <a:p/>
        </p:txBody>
      </p:sp>
      <p:sp>
        <p:nvSpPr>
          <p:cNvPr id="10" name="Rounded Rectangle 9"/>
          <p:cNvSpPr/>
          <p:nvPr/>
        </p:nvSpPr>
        <p:spPr>
          <a:xfrm>
            <a:off x="43891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02 | BRANCHES NUMÉRIQUES (8 FEATURES)</a:t>
            </a:r>
          </a:p>
        </p:txBody>
      </p:sp>
      <p:sp>
        <p:nvSpPr>
          <p:cNvPr id="12" name="TextBox 11"/>
          <p:cNvSpPr txBox="1"/>
          <p:nvPr/>
        </p:nvSpPr>
        <p:spPr>
          <a:xfrm>
            <a:off x="4572000" y="2011680"/>
            <a:ext cx="3047695" cy="3931920"/>
          </a:xfrm>
          <a:prstGeom prst="rect">
            <a:avLst/>
          </a:prstGeom>
          <a:noFill/>
        </p:spPr>
        <p:txBody>
          <a:bodyPr wrap="square">
            <a:spAutoFit/>
          </a:bodyPr>
          <a:lstStyle/>
          <a:p>
            <a:pPr>
              <a:defRPr sz="1100" b="1">
                <a:solidFill>
                  <a:srgbClr val="38BDF8"/>
                </a:solidFill>
                <a:latin typeface="Segoe UI"/>
              </a:defRPr>
            </a:pPr>
            <a:r>
              <a:t>Variables Incluses :</a:t>
            </a:r>
          </a:p>
          <a:p>
            <a:pPr>
              <a:defRPr sz="1000">
                <a:solidFill>
                  <a:srgbClr val="F8FAFC"/>
                </a:solidFill>
                <a:latin typeface="Segoe UI"/>
              </a:defRPr>
            </a:pPr>
            <a:r>
              <a:t>Temperature, Fuel_Price, CPI, Unemployment, Year, Month, Day, DayOfWeek.</a:t>
            </a:r>
          </a:p>
          <a:p/>
          <a:p>
            <a:pPr>
              <a:defRPr sz="1100" b="1">
                <a:solidFill>
                  <a:srgbClr val="38BDF8"/>
                </a:solidFill>
                <a:latin typeface="Segoe UI"/>
              </a:defRPr>
            </a:pPr>
            <a:r>
              <a:t>Imputation Médiane :</a:t>
            </a:r>
          </a:p>
          <a:p>
            <a:pPr>
              <a:defRPr sz="1000">
                <a:solidFill>
                  <a:srgbClr val="F8FAFC"/>
                </a:solidFill>
                <a:latin typeface="Segoe UI"/>
              </a:defRPr>
            </a:pPr>
            <a:r>
              <a:t>SimpleImputer(strategy='median') pour résister aux valeurs aberrantes résiduelles.</a:t>
            </a:r>
          </a:p>
          <a:p/>
          <a:p>
            <a:pPr>
              <a:defRPr sz="1100" b="1">
                <a:solidFill>
                  <a:srgbClr val="38BDF8"/>
                </a:solidFill>
                <a:latin typeface="Segoe UI"/>
              </a:defRPr>
            </a:pPr>
            <a:r>
              <a:t>Normalisation :</a:t>
            </a:r>
          </a:p>
          <a:p>
            <a:pPr>
              <a:defRPr sz="1000">
                <a:solidFill>
                  <a:srgbClr val="F8FAFC"/>
                </a:solidFill>
                <a:latin typeface="Segoe UI"/>
              </a:defRPr>
            </a:pPr>
            <a:r>
              <a:t>StandardScaler() pour centrer et réduire (moyenne=0, variance=1) afin d'aligner les coefficients.</a:t>
            </a:r>
          </a:p>
          <a:p/>
        </p:txBody>
      </p:sp>
      <p:sp>
        <p:nvSpPr>
          <p:cNvPr id="13" name="Rounded Rectangle 12"/>
          <p:cNvSpPr/>
          <p:nvPr/>
        </p:nvSpPr>
        <p:spPr>
          <a:xfrm>
            <a:off x="8046720" y="1371600"/>
            <a:ext cx="34134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536192"/>
            <a:ext cx="3047695" cy="365760"/>
          </a:xfrm>
          <a:prstGeom prst="rect">
            <a:avLst/>
          </a:prstGeom>
          <a:noFill/>
        </p:spPr>
        <p:txBody>
          <a:bodyPr wrap="square" lIns="0" tIns="0" rIns="0" bIns="0">
            <a:spAutoFit/>
          </a:bodyPr>
          <a:lstStyle/>
          <a:p>
            <a:pPr>
              <a:defRPr sz="1200" b="1">
                <a:solidFill>
                  <a:srgbClr val="38BDF8"/>
                </a:solidFill>
                <a:latin typeface="Segoe UI"/>
              </a:defRPr>
            </a:pPr>
            <a:r>
              <a:t>03 | BRANCHES CATÉGORIELLES (2 FEATURES)</a:t>
            </a:r>
          </a:p>
        </p:txBody>
      </p:sp>
      <p:sp>
        <p:nvSpPr>
          <p:cNvPr id="15" name="TextBox 14"/>
          <p:cNvSpPr txBox="1"/>
          <p:nvPr/>
        </p:nvSpPr>
        <p:spPr>
          <a:xfrm>
            <a:off x="8229600" y="2011680"/>
            <a:ext cx="3047695" cy="3931920"/>
          </a:xfrm>
          <a:prstGeom prst="rect">
            <a:avLst/>
          </a:prstGeom>
          <a:noFill/>
        </p:spPr>
        <p:txBody>
          <a:bodyPr wrap="square">
            <a:spAutoFit/>
          </a:bodyPr>
          <a:lstStyle/>
          <a:p>
            <a:pPr>
              <a:defRPr sz="1100" b="1">
                <a:solidFill>
                  <a:srgbClr val="38BDF8"/>
                </a:solidFill>
                <a:latin typeface="Segoe UI"/>
              </a:defRPr>
            </a:pPr>
            <a:r>
              <a:t>Variables Incluses :</a:t>
            </a:r>
          </a:p>
          <a:p>
            <a:pPr>
              <a:defRPr sz="1000">
                <a:solidFill>
                  <a:srgbClr val="F8FAFC"/>
                </a:solidFill>
                <a:latin typeface="Segoe UI"/>
              </a:defRPr>
            </a:pPr>
            <a:r>
              <a:t>Store (identifiant magasin) et Holiday_Flag (booléen férié).</a:t>
            </a:r>
          </a:p>
          <a:p/>
          <a:p>
            <a:pPr>
              <a:defRPr sz="1100" b="1">
                <a:solidFill>
                  <a:srgbClr val="38BDF8"/>
                </a:solidFill>
                <a:latin typeface="Segoe UI"/>
              </a:defRPr>
            </a:pPr>
            <a:r>
              <a:t>Imputation Mode :</a:t>
            </a:r>
          </a:p>
          <a:p>
            <a:pPr>
              <a:defRPr sz="1000">
                <a:solidFill>
                  <a:srgbClr val="F8FAFC"/>
                </a:solidFill>
                <a:latin typeface="Segoe UI"/>
              </a:defRPr>
            </a:pPr>
            <a:r>
              <a:t>SimpleImputer(strategy='most_frequent') sur les catégories manquantes.</a:t>
            </a:r>
          </a:p>
          <a:p/>
          <a:p>
            <a:pPr>
              <a:defRPr sz="1100" b="1">
                <a:solidFill>
                  <a:srgbClr val="38BDF8"/>
                </a:solidFill>
                <a:latin typeface="Segoe UI"/>
              </a:defRPr>
            </a:pPr>
            <a:r>
              <a:t>OneHotEncoder :</a:t>
            </a:r>
          </a:p>
          <a:p>
            <a:pPr>
              <a:defRPr sz="1000">
                <a:solidFill>
                  <a:srgbClr val="F8FAFC"/>
                </a:solidFill>
                <a:latin typeface="Segoe UI"/>
              </a:defRPr>
            </a:pPr>
            <a:r>
              <a:t>OneHotEncoder(drop='first') pour éviter la colinéarité parfaite dans la régression linéaire.</a:t>
            </a:r>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05 | MODÈLE BASELINE</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Régression Linéaire Multiple &amp; Évaluation des Performances</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6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365760"/>
          </a:xfrm>
          <a:prstGeom prst="rect">
            <a:avLst/>
          </a:prstGeom>
          <a:noFill/>
        </p:spPr>
        <p:txBody>
          <a:bodyPr wrap="square" lIns="0" tIns="0" rIns="0" bIns="0">
            <a:spAutoFit/>
          </a:bodyPr>
          <a:lstStyle/>
          <a:p>
            <a:pPr>
              <a:defRPr sz="1200" b="1">
                <a:solidFill>
                  <a:srgbClr val="38BDF8"/>
                </a:solidFill>
                <a:latin typeface="Segoe UI"/>
              </a:defRPr>
            </a:pPr>
            <a:r>
              <a:t>PERFORMANCES DU MODÈLE LINÉAIRE (PYSPARK/SCIKIT-LEARN)</a:t>
            </a:r>
          </a:p>
        </p:txBody>
      </p:sp>
      <p:graphicFrame>
        <p:nvGraphicFramePr>
          <p:cNvPr id="9" name="Table 8"/>
          <p:cNvGraphicFramePr>
            <a:graphicFrameLocks noGrp="1"/>
          </p:cNvGraphicFramePr>
          <p:nvPr/>
        </p:nvGraphicFramePr>
        <p:xfrm>
          <a:off x="914400" y="1920240"/>
          <a:ext cx="4846320" cy="1645920"/>
        </p:xfrm>
        <a:graphic>
          <a:graphicData uri="http://schemas.openxmlformats.org/drawingml/2006/table">
            <a:tbl>
              <a:tblPr firstRow="1" bandRow="1">
                <a:tableStyleId>{5C22544A-7EE6-4342-B048-85BDC9FD1C3A}</a:tableStyleId>
              </a:tblPr>
              <a:tblGrid>
                <a:gridCol w="1211580"/>
                <a:gridCol w="1211580"/>
                <a:gridCol w="1211580"/>
                <a:gridCol w="1211580"/>
              </a:tblGrid>
              <a:tr h="548640">
                <a:tc>
                  <a:txBody>
                    <a:bodyPr/>
                    <a:lstStyle/>
                    <a:p>
                      <a:pPr>
                        <a:defRPr sz="1100" b="1">
                          <a:solidFill>
                            <a:srgbClr val="38BDF8"/>
                          </a:solidFill>
                          <a:latin typeface="Segoe UI"/>
                        </a:defRPr>
                      </a:pPr>
                      <a:r>
                        <a:t>Dataset</a:t>
                      </a:r>
                    </a:p>
                  </a:txBody>
                  <a:tcPr>
                    <a:solidFill>
                      <a:srgbClr val="0F172A"/>
                    </a:solidFill>
                  </a:tcPr>
                </a:tc>
                <a:tc>
                  <a:txBody>
                    <a:bodyPr/>
                    <a:lstStyle/>
                    <a:p>
                      <a:pPr>
                        <a:defRPr sz="1100" b="1">
                          <a:solidFill>
                            <a:srgbClr val="38BDF8"/>
                          </a:solidFill>
                          <a:latin typeface="Segoe UI"/>
                        </a:defRPr>
                      </a:pPr>
                      <a:r>
                        <a:t>R²</a:t>
                      </a:r>
                    </a:p>
                  </a:txBody>
                  <a:tcPr>
                    <a:solidFill>
                      <a:srgbClr val="0F172A"/>
                    </a:solidFill>
                  </a:tcPr>
                </a:tc>
                <a:tc>
                  <a:txBody>
                    <a:bodyPr/>
                    <a:lstStyle/>
                    <a:p>
                      <a:pPr>
                        <a:defRPr sz="1100" b="1">
                          <a:solidFill>
                            <a:srgbClr val="38BDF8"/>
                          </a:solidFill>
                          <a:latin typeface="Segoe UI"/>
                        </a:defRPr>
                      </a:pPr>
                      <a:r>
                        <a:t>MAE ($)</a:t>
                      </a:r>
                    </a:p>
                  </a:txBody>
                  <a:tcPr>
                    <a:solidFill>
                      <a:srgbClr val="0F172A"/>
                    </a:solidFill>
                  </a:tcPr>
                </a:tc>
                <a:tc>
                  <a:txBody>
                    <a:bodyPr/>
                    <a:lstStyle/>
                    <a:p>
                      <a:pPr>
                        <a:defRPr sz="1100" b="1">
                          <a:solidFill>
                            <a:srgbClr val="38BDF8"/>
                          </a:solidFill>
                          <a:latin typeface="Segoe UI"/>
                        </a:defRPr>
                      </a:pPr>
                      <a:r>
                        <a:t>RMSE ($)</a:t>
                      </a:r>
                    </a:p>
                  </a:txBody>
                  <a:tcPr>
                    <a:solidFill>
                      <a:srgbClr val="0F172A"/>
                    </a:solidFill>
                  </a:tcPr>
                </a:tc>
              </a:tr>
              <a:tr h="548640">
                <a:tc>
                  <a:txBody>
                    <a:bodyPr/>
                    <a:lstStyle/>
                    <a:p>
                      <a:pPr>
                        <a:defRPr sz="1000" b="0">
                          <a:solidFill>
                            <a:srgbClr val="F8FAFC"/>
                          </a:solidFill>
                          <a:latin typeface="Segoe UI"/>
                        </a:defRPr>
                      </a:pPr>
                      <a:r>
                        <a:t>Train (Entraînement)</a:t>
                      </a:r>
                    </a:p>
                  </a:txBody>
                  <a:tcPr>
                    <a:solidFill>
                      <a:srgbClr val="18202F"/>
                    </a:solidFill>
                  </a:tcPr>
                </a:tc>
                <a:tc>
                  <a:txBody>
                    <a:bodyPr/>
                    <a:lstStyle/>
                    <a:p>
                      <a:pPr>
                        <a:defRPr sz="1000" b="1">
                          <a:solidFill>
                            <a:srgbClr val="F8FAFC"/>
                          </a:solidFill>
                          <a:latin typeface="Segoe UI"/>
                        </a:defRPr>
                      </a:pPr>
                      <a:r>
                        <a:t>0.98</a:t>
                      </a:r>
                    </a:p>
                  </a:txBody>
                  <a:tcPr>
                    <a:solidFill>
                      <a:srgbClr val="18202F"/>
                    </a:solidFill>
                  </a:tcPr>
                </a:tc>
                <a:tc>
                  <a:txBody>
                    <a:bodyPr/>
                    <a:lstStyle/>
                    <a:p>
                      <a:pPr>
                        <a:defRPr sz="1000" b="0">
                          <a:solidFill>
                            <a:srgbClr val="F8FAFC"/>
                          </a:solidFill>
                          <a:latin typeface="Segoe UI"/>
                        </a:defRPr>
                      </a:pPr>
                      <a:r>
                        <a:t>77 220 $</a:t>
                      </a:r>
                    </a:p>
                  </a:txBody>
                  <a:tcPr>
                    <a:solidFill>
                      <a:srgbClr val="18202F"/>
                    </a:solidFill>
                  </a:tcPr>
                </a:tc>
                <a:tc>
                  <a:txBody>
                    <a:bodyPr/>
                    <a:lstStyle/>
                    <a:p>
                      <a:pPr>
                        <a:defRPr sz="1000" b="0">
                          <a:solidFill>
                            <a:srgbClr val="F8FAFC"/>
                          </a:solidFill>
                          <a:latin typeface="Segoe UI"/>
                        </a:defRPr>
                      </a:pPr>
                      <a:r>
                        <a:t>100 071 $</a:t>
                      </a:r>
                    </a:p>
                  </a:txBody>
                  <a:tcPr>
                    <a:solidFill>
                      <a:srgbClr val="18202F"/>
                    </a:solidFill>
                  </a:tcPr>
                </a:tc>
              </a:tr>
              <a:tr h="548640">
                <a:tc>
                  <a:txBody>
                    <a:bodyPr/>
                    <a:lstStyle/>
                    <a:p>
                      <a:pPr>
                        <a:defRPr sz="1000" b="0">
                          <a:solidFill>
                            <a:srgbClr val="F8FAFC"/>
                          </a:solidFill>
                          <a:latin typeface="Segoe UI"/>
                        </a:defRPr>
                      </a:pPr>
                      <a:r>
                        <a:t>Test (Validation)</a:t>
                      </a:r>
                    </a:p>
                  </a:txBody>
                  <a:tcPr>
                    <a:solidFill>
                      <a:srgbClr val="1E293B"/>
                    </a:solidFill>
                  </a:tcPr>
                </a:tc>
                <a:tc>
                  <a:txBody>
                    <a:bodyPr/>
                    <a:lstStyle/>
                    <a:p>
                      <a:pPr>
                        <a:defRPr sz="1000" b="1">
                          <a:solidFill>
                            <a:srgbClr val="F8FAFC"/>
                          </a:solidFill>
                          <a:latin typeface="Segoe UI"/>
                        </a:defRPr>
                      </a:pPr>
                      <a:r>
                        <a:t>0.90</a:t>
                      </a:r>
                    </a:p>
                  </a:txBody>
                  <a:tcPr>
                    <a:solidFill>
                      <a:srgbClr val="1E293B"/>
                    </a:solidFill>
                  </a:tcPr>
                </a:tc>
                <a:tc>
                  <a:txBody>
                    <a:bodyPr/>
                    <a:lstStyle/>
                    <a:p>
                      <a:pPr>
                        <a:defRPr sz="1000" b="0">
                          <a:solidFill>
                            <a:srgbClr val="F8FAFC"/>
                          </a:solidFill>
                          <a:latin typeface="Segoe UI"/>
                        </a:defRPr>
                      </a:pPr>
                      <a:r>
                        <a:t>145 803 $</a:t>
                      </a:r>
                    </a:p>
                  </a:txBody>
                  <a:tcPr>
                    <a:solidFill>
                      <a:srgbClr val="1E293B"/>
                    </a:solidFill>
                  </a:tcPr>
                </a:tc>
                <a:tc>
                  <a:txBody>
                    <a:bodyPr/>
                    <a:lstStyle/>
                    <a:p>
                      <a:pPr>
                        <a:defRPr sz="1000" b="0">
                          <a:solidFill>
                            <a:srgbClr val="F8FAFC"/>
                          </a:solidFill>
                          <a:latin typeface="Segoe UI"/>
                        </a:defRPr>
                      </a:pPr>
                      <a:r>
                        <a:t>188 478 $</a:t>
                      </a:r>
                    </a:p>
                  </a:txBody>
                  <a:tcPr>
                    <a:solidFill>
                      <a:srgbClr val="1E293B"/>
                    </a:solidFill>
                  </a:tcPr>
                </a:tc>
              </a:tr>
            </a:tbl>
          </a:graphicData>
        </a:graphic>
      </p:graphicFrame>
      <p:sp>
        <p:nvSpPr>
          <p:cNvPr id="10" name="TextBox 9"/>
          <p:cNvSpPr txBox="1"/>
          <p:nvPr/>
        </p:nvSpPr>
        <p:spPr>
          <a:xfrm>
            <a:off x="914400" y="3840480"/>
            <a:ext cx="4846320" cy="2103120"/>
          </a:xfrm>
          <a:prstGeom prst="rect">
            <a:avLst/>
          </a:prstGeom>
          <a:noFill/>
        </p:spPr>
        <p:txBody>
          <a:bodyPr wrap="square">
            <a:spAutoFit/>
          </a:bodyPr>
          <a:lstStyle/>
          <a:p>
            <a:pPr>
              <a:defRPr sz="1050" b="1">
                <a:solidFill>
                  <a:srgbClr val="FACC15"/>
                </a:solidFill>
                <a:latin typeface="Segoe UI"/>
              </a:defRPr>
            </a:pPr>
            <a:r>
              <a:t>Qualité d'Ajustement Élevée :</a:t>
            </a:r>
          </a:p>
          <a:p>
            <a:pPr>
              <a:defRPr sz="950">
                <a:solidFill>
                  <a:srgbClr val="F8FAFC"/>
                </a:solidFill>
                <a:latin typeface="Segoe UI"/>
              </a:defRPr>
            </a:pPr>
            <a:r>
              <a:t>Un R² de 0.90 sur le test indique que 90% de la variance des ventes est expliquée par les variables du modèle.</a:t>
            </a:r>
          </a:p>
          <a:p>
            <a:pPr>
              <a:defRPr sz="1050" b="1">
                <a:solidFill>
                  <a:srgbClr val="FACC15"/>
                </a:solidFill>
                <a:latin typeface="Segoe UI"/>
              </a:defRPr>
            </a:pPr>
            <a:r>
              <a:t>Écart Train / Test (Overfitting modéré) :</a:t>
            </a:r>
          </a:p>
          <a:p>
            <a:pPr>
              <a:defRPr sz="950">
                <a:solidFill>
                  <a:srgbClr val="F8FAFC"/>
                </a:solidFill>
                <a:latin typeface="Segoe UI"/>
              </a:defRPr>
            </a:pPr>
            <a:r>
              <a:t>L'erreur MAE passe de 77k$ sur le train à 145k$ sur le test. Ce gap justifie pleinement la mise en place d'une régularisation (Ridge/Lasso).</a:t>
            </a:r>
          </a:p>
          <a:p>
            <a:pPr>
              <a:defRPr sz="1050" b="1">
                <a:solidFill>
                  <a:srgbClr val="FACC15"/>
                </a:solidFill>
                <a:latin typeface="Segoe UI"/>
              </a:defRPr>
            </a:pPr>
            <a:r>
              <a:t>Erreur Relative :</a:t>
            </a:r>
          </a:p>
          <a:p>
            <a:pPr>
              <a:defRPr sz="950">
                <a:solidFill>
                  <a:srgbClr val="F8FAFC"/>
                </a:solidFill>
                <a:latin typeface="Segoe UI"/>
              </a:defRPr>
            </a:pPr>
            <a:r>
              <a:t>Avec une vente moyenne à 1.2M$, une MAE de 145k$ représente une marge d'erreur relative inférieure à 12%.</a:t>
            </a:r>
          </a:p>
        </p:txBody>
      </p:sp>
      <p:sp>
        <p:nvSpPr>
          <p:cNvPr id="11" name="Rounded Rectangle 10"/>
          <p:cNvSpPr/>
          <p:nvPr/>
        </p:nvSpPr>
        <p:spPr>
          <a:xfrm>
            <a:off x="6217920" y="1371600"/>
            <a:ext cx="52422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36192"/>
            <a:ext cx="4876495" cy="365760"/>
          </a:xfrm>
          <a:prstGeom prst="rect">
            <a:avLst/>
          </a:prstGeom>
          <a:noFill/>
        </p:spPr>
        <p:txBody>
          <a:bodyPr wrap="square" lIns="0" tIns="0" rIns="0" bIns="0">
            <a:spAutoFit/>
          </a:bodyPr>
          <a:lstStyle/>
          <a:p>
            <a:pPr>
              <a:defRPr sz="1200" b="1">
                <a:solidFill>
                  <a:srgbClr val="38BDF8"/>
                </a:solidFill>
                <a:latin typeface="Segoe UI"/>
              </a:defRPr>
            </a:pPr>
            <a:r>
              <a:t>ANALYSE DES RÉSIDUS &amp; LIMITES DU MODÈLE</a:t>
            </a:r>
          </a:p>
        </p:txBody>
      </p:sp>
      <p:sp>
        <p:nvSpPr>
          <p:cNvPr id="13" name="TextBox 12"/>
          <p:cNvSpPr txBox="1"/>
          <p:nvPr/>
        </p:nvSpPr>
        <p:spPr>
          <a:xfrm>
            <a:off x="6400800" y="1920240"/>
            <a:ext cx="4846320" cy="3931920"/>
          </a:xfrm>
          <a:prstGeom prst="rect">
            <a:avLst/>
          </a:prstGeom>
          <a:noFill/>
        </p:spPr>
        <p:txBody>
          <a:bodyPr wrap="square">
            <a:spAutoFit/>
          </a:bodyPr>
          <a:lstStyle/>
          <a:p>
            <a:pPr>
              <a:defRPr sz="1100" b="1">
                <a:solidFill>
                  <a:srgbClr val="38BDF8"/>
                </a:solidFill>
                <a:latin typeface="Segoe UI"/>
              </a:defRPr>
            </a:pPr>
            <a:r>
              <a:t>1. Linéarité Globale Vérifiée :</a:t>
            </a:r>
          </a:p>
          <a:p>
            <a:pPr>
              <a:defRPr sz="1000">
                <a:solidFill>
                  <a:srgbClr val="F8FAFC"/>
                </a:solidFill>
                <a:latin typeface="Segoe UI"/>
              </a:defRPr>
            </a:pPr>
            <a:r>
              <a:t>Le nuage de points Ventes Réelles vs Ventes Prédites s'aligne fidèlement le long de la diagonale y = x.</a:t>
            </a:r>
          </a:p>
          <a:p>
            <a:pPr>
              <a:defRPr sz="1100" b="1">
                <a:solidFill>
                  <a:srgbClr val="38BDF8"/>
                </a:solidFill>
                <a:latin typeface="Segoe UI"/>
              </a:defRPr>
            </a:pPr>
            <a:r>
              <a:t>2. Dispersion sur les Pics de Fin d'Année :</a:t>
            </a:r>
          </a:p>
          <a:p>
            <a:pPr>
              <a:defRPr sz="1000">
                <a:solidFill>
                  <a:srgbClr val="F8FAFC"/>
                </a:solidFill>
                <a:latin typeface="Segoe UI"/>
              </a:defRPr>
            </a:pPr>
            <a:r>
              <a:t>Les résidus les plus forts (&gt; 250k$) surviennent lors de la semaine du Black Friday : la dynamique promotionnelle dépasse les simples effets linéaires.</a:t>
            </a:r>
          </a:p>
          <a:p>
            <a:pPr>
              <a:defRPr sz="1100" b="1">
                <a:solidFill>
                  <a:srgbClr val="38BDF8"/>
                </a:solidFill>
                <a:latin typeface="Segoe UI"/>
              </a:defRPr>
            </a:pPr>
            <a:r>
              <a:t>3. Multicolinéarité Résiduelle :</a:t>
            </a:r>
          </a:p>
          <a:p>
            <a:pPr>
              <a:defRPr sz="1000">
                <a:solidFill>
                  <a:srgbClr val="F8FAFC"/>
                </a:solidFill>
                <a:latin typeface="Segoe UI"/>
              </a:defRPr>
            </a:pPr>
            <a:r>
              <a:t>Certains magasins partagent des tendances macroéconomiques similaires (ex: même région, même CPI), ce qui gonfle artificiellement certains coefficients ordinaires.</a:t>
            </a:r>
          </a:p>
          <a:p>
            <a:pPr>
              <a:defRPr sz="1100" b="1">
                <a:solidFill>
                  <a:srgbClr val="38BDF8"/>
                </a:solidFill>
                <a:latin typeface="Segoe UI"/>
              </a:defRPr>
            </a:pPr>
            <a:r>
              <a:t>4. Nécessité d'une Pénalisation :</a:t>
            </a:r>
          </a:p>
          <a:p>
            <a:pPr>
              <a:defRPr sz="1000">
                <a:solidFill>
                  <a:srgbClr val="F8FAFC"/>
                </a:solidFill>
                <a:latin typeface="Segoe UI"/>
              </a:defRPr>
            </a:pPr>
            <a:r>
              <a:t>L'étape suivante consiste à contraindre la norme des poids via Ridge (L2) et Lasso (L1) pour stabiliser les prédictions.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06 | INTERPRÉTABILITÉ</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Analyse des Coefficients du Modèle (.coef_) &amp; Drivers de Vente</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7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365760"/>
          </a:xfrm>
          <a:prstGeom prst="rect">
            <a:avLst/>
          </a:prstGeom>
          <a:noFill/>
        </p:spPr>
        <p:txBody>
          <a:bodyPr wrap="square" lIns="0" tIns="0" rIns="0" bIns="0">
            <a:spAutoFit/>
          </a:bodyPr>
          <a:lstStyle/>
          <a:p>
            <a:pPr>
              <a:defRPr sz="1200" b="1">
                <a:solidFill>
                  <a:srgbClr val="38BDF8"/>
                </a:solidFill>
                <a:latin typeface="Segoe UI"/>
              </a:defRPr>
            </a:pPr>
            <a:r>
              <a:t>HIÉRARCHIE DES COEFFICIENTS MAJEURS (SCIKIT-LEARN)</a:t>
            </a:r>
          </a:p>
        </p:txBody>
      </p:sp>
      <p:graphicFrame>
        <p:nvGraphicFramePr>
          <p:cNvPr id="9" name="Table 8"/>
          <p:cNvGraphicFramePr>
            <a:graphicFrameLocks noGrp="1"/>
          </p:cNvGraphicFramePr>
          <p:nvPr/>
        </p:nvGraphicFramePr>
        <p:xfrm>
          <a:off x="914400" y="1920240"/>
          <a:ext cx="4846320" cy="3931920"/>
        </p:xfrm>
        <a:graphic>
          <a:graphicData uri="http://schemas.openxmlformats.org/drawingml/2006/table">
            <a:tbl>
              <a:tblPr firstRow="1" bandRow="1">
                <a:tableStyleId>{5C22544A-7EE6-4342-B048-85BDC9FD1C3A}</a:tableStyleId>
              </a:tblPr>
              <a:tblGrid>
                <a:gridCol w="1615440"/>
                <a:gridCol w="1615440"/>
                <a:gridCol w="1615440"/>
              </a:tblGrid>
              <a:tr h="436880">
                <a:tc>
                  <a:txBody>
                    <a:bodyPr/>
                    <a:lstStyle/>
                    <a:p>
                      <a:pPr>
                        <a:defRPr sz="1050" b="1">
                          <a:solidFill>
                            <a:srgbClr val="38BDF8"/>
                          </a:solidFill>
                          <a:latin typeface="Segoe UI"/>
                        </a:defRPr>
                      </a:pPr>
                      <a:r>
                        <a:t>Variable / Feature</a:t>
                      </a:r>
                    </a:p>
                  </a:txBody>
                  <a:tcPr>
                    <a:solidFill>
                      <a:srgbClr val="0F172A"/>
                    </a:solidFill>
                  </a:tcPr>
                </a:tc>
                <a:tc>
                  <a:txBody>
                    <a:bodyPr/>
                    <a:lstStyle/>
                    <a:p>
                      <a:pPr>
                        <a:defRPr sz="1050" b="1">
                          <a:solidFill>
                            <a:srgbClr val="38BDF8"/>
                          </a:solidFill>
                          <a:latin typeface="Segoe UI"/>
                        </a:defRPr>
                      </a:pPr>
                      <a:r>
                        <a:t>Coefficient ($)</a:t>
                      </a:r>
                    </a:p>
                  </a:txBody>
                  <a:tcPr>
                    <a:solidFill>
                      <a:srgbClr val="0F172A"/>
                    </a:solidFill>
                  </a:tcPr>
                </a:tc>
                <a:tc>
                  <a:txBody>
                    <a:bodyPr/>
                    <a:lstStyle/>
                    <a:p>
                      <a:pPr>
                        <a:defRPr sz="1050" b="1">
                          <a:solidFill>
                            <a:srgbClr val="38BDF8"/>
                          </a:solidFill>
                          <a:latin typeface="Segoe UI"/>
                        </a:defRPr>
                      </a:pPr>
                      <a:r>
                        <a:t>Impact Ventes</a:t>
                      </a:r>
                    </a:p>
                  </a:txBody>
                  <a:tcPr>
                    <a:solidFill>
                      <a:srgbClr val="0F172A"/>
                    </a:solidFill>
                  </a:tcPr>
                </a:tc>
              </a:tr>
              <a:tr h="436880">
                <a:tc>
                  <a:txBody>
                    <a:bodyPr/>
                    <a:lstStyle/>
                    <a:p>
                      <a:pPr>
                        <a:defRPr sz="950" b="1">
                          <a:solidFill>
                            <a:srgbClr val="F8FAFC"/>
                          </a:solidFill>
                          <a:latin typeface="Segoe UI"/>
                        </a:defRPr>
                      </a:pPr>
                      <a:r>
                        <a:t>Store 5</a:t>
                      </a:r>
                    </a:p>
                  </a:txBody>
                  <a:tcPr>
                    <a:solidFill>
                      <a:srgbClr val="18202F"/>
                    </a:solidFill>
                  </a:tcPr>
                </a:tc>
                <a:tc>
                  <a:txBody>
                    <a:bodyPr/>
                    <a:lstStyle/>
                    <a:p>
                      <a:pPr>
                        <a:defRPr sz="950" b="0">
                          <a:solidFill>
                            <a:srgbClr val="F87171"/>
                          </a:solidFill>
                          <a:latin typeface="Segoe UI"/>
                        </a:defRPr>
                      </a:pPr>
                      <a:r>
                        <a:t>- 1 363 365 $</a:t>
                      </a:r>
                    </a:p>
                  </a:txBody>
                  <a:tcPr>
                    <a:solidFill>
                      <a:srgbClr val="18202F"/>
                    </a:solidFill>
                  </a:tcPr>
                </a:tc>
                <a:tc>
                  <a:txBody>
                    <a:bodyPr/>
                    <a:lstStyle/>
                    <a:p>
                      <a:pPr>
                        <a:defRPr sz="950" b="0">
                          <a:solidFill>
                            <a:srgbClr val="F8FAFC"/>
                          </a:solidFill>
                          <a:latin typeface="Segoe UI"/>
                        </a:defRPr>
                      </a:pPr>
                      <a:r>
                        <a:t>Pénalité maximale</a:t>
                      </a:r>
                    </a:p>
                  </a:txBody>
                  <a:tcPr>
                    <a:solidFill>
                      <a:srgbClr val="18202F"/>
                    </a:solidFill>
                  </a:tcPr>
                </a:tc>
              </a:tr>
              <a:tr h="436880">
                <a:tc>
                  <a:txBody>
                    <a:bodyPr/>
                    <a:lstStyle/>
                    <a:p>
                      <a:pPr>
                        <a:defRPr sz="950" b="1">
                          <a:solidFill>
                            <a:srgbClr val="F8FAFC"/>
                          </a:solidFill>
                          <a:latin typeface="Segoe UI"/>
                        </a:defRPr>
                      </a:pPr>
                      <a:r>
                        <a:t>Store 3</a:t>
                      </a:r>
                    </a:p>
                  </a:txBody>
                  <a:tcPr>
                    <a:solidFill>
                      <a:srgbClr val="1E293B"/>
                    </a:solidFill>
                  </a:tcPr>
                </a:tc>
                <a:tc>
                  <a:txBody>
                    <a:bodyPr/>
                    <a:lstStyle/>
                    <a:p>
                      <a:pPr>
                        <a:defRPr sz="950" b="0">
                          <a:solidFill>
                            <a:srgbClr val="F87171"/>
                          </a:solidFill>
                          <a:latin typeface="Segoe UI"/>
                        </a:defRPr>
                      </a:pPr>
                      <a:r>
                        <a:t>- 1 203 335 $</a:t>
                      </a:r>
                    </a:p>
                  </a:txBody>
                  <a:tcPr>
                    <a:solidFill>
                      <a:srgbClr val="1E293B"/>
                    </a:solidFill>
                  </a:tcPr>
                </a:tc>
                <a:tc>
                  <a:txBody>
                    <a:bodyPr/>
                    <a:lstStyle/>
                    <a:p>
                      <a:pPr>
                        <a:defRPr sz="950" b="0">
                          <a:solidFill>
                            <a:srgbClr val="F8FAFC"/>
                          </a:solidFill>
                          <a:latin typeface="Segoe UI"/>
                        </a:defRPr>
                      </a:pPr>
                      <a:r>
                        <a:t>Très faible volume</a:t>
                      </a:r>
                    </a:p>
                  </a:txBody>
                  <a:tcPr>
                    <a:solidFill>
                      <a:srgbClr val="1E293B"/>
                    </a:solidFill>
                  </a:tcPr>
                </a:tc>
              </a:tr>
              <a:tr h="436880">
                <a:tc>
                  <a:txBody>
                    <a:bodyPr/>
                    <a:lstStyle/>
                    <a:p>
                      <a:pPr>
                        <a:defRPr sz="950" b="1">
                          <a:solidFill>
                            <a:srgbClr val="F8FAFC"/>
                          </a:solidFill>
                          <a:latin typeface="Segoe UI"/>
                        </a:defRPr>
                      </a:pPr>
                      <a:r>
                        <a:t>Store 16</a:t>
                      </a:r>
                    </a:p>
                  </a:txBody>
                  <a:tcPr>
                    <a:solidFill>
                      <a:srgbClr val="18202F"/>
                    </a:solidFill>
                  </a:tcPr>
                </a:tc>
                <a:tc>
                  <a:txBody>
                    <a:bodyPr/>
                    <a:lstStyle/>
                    <a:p>
                      <a:pPr>
                        <a:defRPr sz="950" b="0">
                          <a:solidFill>
                            <a:srgbClr val="F87171"/>
                          </a:solidFill>
                          <a:latin typeface="Segoe UI"/>
                        </a:defRPr>
                      </a:pPr>
                      <a:r>
                        <a:t>- 1 155 017 $</a:t>
                      </a:r>
                    </a:p>
                  </a:txBody>
                  <a:tcPr>
                    <a:solidFill>
                      <a:srgbClr val="18202F"/>
                    </a:solidFill>
                  </a:tcPr>
                </a:tc>
                <a:tc>
                  <a:txBody>
                    <a:bodyPr/>
                    <a:lstStyle/>
                    <a:p>
                      <a:pPr>
                        <a:defRPr sz="950" b="0">
                          <a:solidFill>
                            <a:srgbClr val="F8FAFC"/>
                          </a:solidFill>
                          <a:latin typeface="Segoe UI"/>
                        </a:defRPr>
                      </a:pPr>
                      <a:r>
                        <a:t>Sous-performance</a:t>
                      </a:r>
                    </a:p>
                  </a:txBody>
                  <a:tcPr>
                    <a:solidFill>
                      <a:srgbClr val="18202F"/>
                    </a:solidFill>
                  </a:tcPr>
                </a:tc>
              </a:tr>
              <a:tr h="436880">
                <a:tc>
                  <a:txBody>
                    <a:bodyPr/>
                    <a:lstStyle/>
                    <a:p>
                      <a:pPr>
                        <a:defRPr sz="950" b="1">
                          <a:solidFill>
                            <a:srgbClr val="F8FAFC"/>
                          </a:solidFill>
                          <a:latin typeface="Segoe UI"/>
                        </a:defRPr>
                      </a:pPr>
                      <a:r>
                        <a:t>Store 9</a:t>
                      </a:r>
                    </a:p>
                  </a:txBody>
                  <a:tcPr>
                    <a:solidFill>
                      <a:srgbClr val="1E293B"/>
                    </a:solidFill>
                  </a:tcPr>
                </a:tc>
                <a:tc>
                  <a:txBody>
                    <a:bodyPr/>
                    <a:lstStyle/>
                    <a:p>
                      <a:pPr>
                        <a:defRPr sz="950" b="0">
                          <a:solidFill>
                            <a:srgbClr val="F87171"/>
                          </a:solidFill>
                          <a:latin typeface="Segoe UI"/>
                        </a:defRPr>
                      </a:pPr>
                      <a:r>
                        <a:t>- 1 148 236 $</a:t>
                      </a:r>
                    </a:p>
                  </a:txBody>
                  <a:tcPr>
                    <a:solidFill>
                      <a:srgbClr val="1E293B"/>
                    </a:solidFill>
                  </a:tcPr>
                </a:tc>
                <a:tc>
                  <a:txBody>
                    <a:bodyPr/>
                    <a:lstStyle/>
                    <a:p>
                      <a:pPr>
                        <a:defRPr sz="950" b="0">
                          <a:solidFill>
                            <a:srgbClr val="F8FAFC"/>
                          </a:solidFill>
                          <a:latin typeface="Segoe UI"/>
                        </a:defRPr>
                      </a:pPr>
                      <a:r>
                        <a:t>Sous-performance</a:t>
                      </a:r>
                    </a:p>
                  </a:txBody>
                  <a:tcPr>
                    <a:solidFill>
                      <a:srgbClr val="1E293B"/>
                    </a:solidFill>
                  </a:tcPr>
                </a:tc>
              </a:tr>
              <a:tr h="436880">
                <a:tc>
                  <a:txBody>
                    <a:bodyPr/>
                    <a:lstStyle/>
                    <a:p>
                      <a:pPr>
                        <a:defRPr sz="950" b="1">
                          <a:solidFill>
                            <a:srgbClr val="F8FAFC"/>
                          </a:solidFill>
                          <a:latin typeface="Segoe UI"/>
                        </a:defRPr>
                      </a:pPr>
                      <a:r>
                        <a:t>Store 7</a:t>
                      </a:r>
                    </a:p>
                  </a:txBody>
                  <a:tcPr>
                    <a:solidFill>
                      <a:srgbClr val="18202F"/>
                    </a:solidFill>
                  </a:tcPr>
                </a:tc>
                <a:tc>
                  <a:txBody>
                    <a:bodyPr/>
                    <a:lstStyle/>
                    <a:p>
                      <a:pPr>
                        <a:defRPr sz="950" b="0">
                          <a:solidFill>
                            <a:srgbClr val="F87171"/>
                          </a:solidFill>
                          <a:latin typeface="Segoe UI"/>
                        </a:defRPr>
                      </a:pPr>
                      <a:r>
                        <a:t>- 969 082 $</a:t>
                      </a:r>
                    </a:p>
                  </a:txBody>
                  <a:tcPr>
                    <a:solidFill>
                      <a:srgbClr val="18202F"/>
                    </a:solidFill>
                  </a:tcPr>
                </a:tc>
                <a:tc>
                  <a:txBody>
                    <a:bodyPr/>
                    <a:lstStyle/>
                    <a:p>
                      <a:pPr>
                        <a:defRPr sz="950" b="0">
                          <a:solidFill>
                            <a:srgbClr val="F8FAFC"/>
                          </a:solidFill>
                          <a:latin typeface="Segoe UI"/>
                        </a:defRPr>
                      </a:pPr>
                      <a:r>
                        <a:t>Impact négatif fort</a:t>
                      </a:r>
                    </a:p>
                  </a:txBody>
                  <a:tcPr>
                    <a:solidFill>
                      <a:srgbClr val="18202F"/>
                    </a:solidFill>
                  </a:tcPr>
                </a:tc>
              </a:tr>
              <a:tr h="436880">
                <a:tc>
                  <a:txBody>
                    <a:bodyPr/>
                    <a:lstStyle/>
                    <a:p>
                      <a:pPr>
                        <a:defRPr sz="950" b="1">
                          <a:solidFill>
                            <a:srgbClr val="F8FAFC"/>
                          </a:solidFill>
                          <a:latin typeface="Segoe UI"/>
                        </a:defRPr>
                      </a:pPr>
                      <a:r>
                        <a:t>Unemployment</a:t>
                      </a:r>
                    </a:p>
                  </a:txBody>
                  <a:tcPr>
                    <a:solidFill>
                      <a:srgbClr val="1E293B"/>
                    </a:solidFill>
                  </a:tcPr>
                </a:tc>
                <a:tc>
                  <a:txBody>
                    <a:bodyPr/>
                    <a:lstStyle/>
                    <a:p>
                      <a:pPr>
                        <a:defRPr sz="950" b="0">
                          <a:solidFill>
                            <a:srgbClr val="F87171"/>
                          </a:solidFill>
                          <a:latin typeface="Segoe UI"/>
                        </a:defRPr>
                      </a:pPr>
                      <a:r>
                        <a:t>- 42 150 $ / std</a:t>
                      </a:r>
                    </a:p>
                  </a:txBody>
                  <a:tcPr>
                    <a:solidFill>
                      <a:srgbClr val="1E293B"/>
                    </a:solidFill>
                  </a:tcPr>
                </a:tc>
                <a:tc>
                  <a:txBody>
                    <a:bodyPr/>
                    <a:lstStyle/>
                    <a:p>
                      <a:pPr>
                        <a:defRPr sz="950" b="0">
                          <a:solidFill>
                            <a:srgbClr val="F8FAFC"/>
                          </a:solidFill>
                          <a:latin typeface="Segoe UI"/>
                        </a:defRPr>
                      </a:pPr>
                      <a:r>
                        <a:t>Sensibilité économique</a:t>
                      </a:r>
                    </a:p>
                  </a:txBody>
                  <a:tcPr>
                    <a:solidFill>
                      <a:srgbClr val="1E293B"/>
                    </a:solidFill>
                  </a:tcPr>
                </a:tc>
              </a:tr>
              <a:tr h="436880">
                <a:tc>
                  <a:txBody>
                    <a:bodyPr/>
                    <a:lstStyle/>
                    <a:p>
                      <a:pPr>
                        <a:defRPr sz="950" b="1">
                          <a:solidFill>
                            <a:srgbClr val="F8FAFC"/>
                          </a:solidFill>
                          <a:latin typeface="Segoe UI"/>
                        </a:defRPr>
                      </a:pPr>
                      <a:r>
                        <a:t>CPI (Inflation)</a:t>
                      </a:r>
                    </a:p>
                  </a:txBody>
                  <a:tcPr>
                    <a:solidFill>
                      <a:srgbClr val="18202F"/>
                    </a:solidFill>
                  </a:tcPr>
                </a:tc>
                <a:tc>
                  <a:txBody>
                    <a:bodyPr/>
                    <a:lstStyle/>
                    <a:p>
                      <a:pPr>
                        <a:defRPr sz="950" b="0">
                          <a:solidFill>
                            <a:srgbClr val="F87171"/>
                          </a:solidFill>
                          <a:latin typeface="Segoe UI"/>
                        </a:defRPr>
                      </a:pPr>
                      <a:r>
                        <a:t>- 28 640 $ / std</a:t>
                      </a:r>
                    </a:p>
                  </a:txBody>
                  <a:tcPr>
                    <a:solidFill>
                      <a:srgbClr val="18202F"/>
                    </a:solidFill>
                  </a:tcPr>
                </a:tc>
                <a:tc>
                  <a:txBody>
                    <a:bodyPr/>
                    <a:lstStyle/>
                    <a:p>
                      <a:pPr>
                        <a:defRPr sz="950" b="0">
                          <a:solidFill>
                            <a:srgbClr val="F8FAFC"/>
                          </a:solidFill>
                          <a:latin typeface="Segoe UI"/>
                        </a:defRPr>
                      </a:pPr>
                      <a:r>
                        <a:t>Arbitrage panier</a:t>
                      </a:r>
                    </a:p>
                  </a:txBody>
                  <a:tcPr>
                    <a:solidFill>
                      <a:srgbClr val="18202F"/>
                    </a:solidFill>
                  </a:tcPr>
                </a:tc>
              </a:tr>
              <a:tr h="436880">
                <a:tc>
                  <a:txBody>
                    <a:bodyPr/>
                    <a:lstStyle/>
                    <a:p>
                      <a:pPr>
                        <a:defRPr sz="950" b="1">
                          <a:solidFill>
                            <a:srgbClr val="F8FAFC"/>
                          </a:solidFill>
                          <a:latin typeface="Segoe UI"/>
                        </a:defRPr>
                      </a:pPr>
                      <a:r>
                        <a:t>Holiday_Flag</a:t>
                      </a:r>
                    </a:p>
                  </a:txBody>
                  <a:tcPr>
                    <a:solidFill>
                      <a:srgbClr val="1E293B"/>
                    </a:solidFill>
                  </a:tcPr>
                </a:tc>
                <a:tc>
                  <a:txBody>
                    <a:bodyPr/>
                    <a:lstStyle/>
                    <a:p>
                      <a:pPr>
                        <a:defRPr sz="950" b="0">
                          <a:solidFill>
                            <a:srgbClr val="10B981"/>
                          </a:solidFill>
                          <a:latin typeface="Segoe UI"/>
                        </a:defRPr>
                      </a:pPr>
                      <a:r>
                        <a:t>+ 48 900 $</a:t>
                      </a:r>
                    </a:p>
                  </a:txBody>
                  <a:tcPr>
                    <a:solidFill>
                      <a:srgbClr val="1E293B"/>
                    </a:solidFill>
                  </a:tcPr>
                </a:tc>
                <a:tc>
                  <a:txBody>
                    <a:bodyPr/>
                    <a:lstStyle/>
                    <a:p>
                      <a:pPr>
                        <a:defRPr sz="950" b="0">
                          <a:solidFill>
                            <a:srgbClr val="F8FAFC"/>
                          </a:solidFill>
                          <a:latin typeface="Segoe UI"/>
                        </a:defRPr>
                      </a:pPr>
                      <a:r>
                        <a:t>Boost semaines fériées</a:t>
                      </a:r>
                    </a:p>
                  </a:txBody>
                  <a:tcPr>
                    <a:solidFill>
                      <a:srgbClr val="1E293B"/>
                    </a:solidFill>
                  </a:tcPr>
                </a:tc>
              </a:tr>
            </a:tbl>
          </a:graphicData>
        </a:graphic>
      </p:graphicFrame>
      <p:sp>
        <p:nvSpPr>
          <p:cNvPr id="10" name="Rounded Rectangle 9"/>
          <p:cNvSpPr/>
          <p:nvPr/>
        </p:nvSpPr>
        <p:spPr>
          <a:xfrm>
            <a:off x="6217920" y="1371600"/>
            <a:ext cx="52422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4876495" cy="365760"/>
          </a:xfrm>
          <a:prstGeom prst="rect">
            <a:avLst/>
          </a:prstGeom>
          <a:noFill/>
        </p:spPr>
        <p:txBody>
          <a:bodyPr wrap="square" lIns="0" tIns="0" rIns="0" bIns="0">
            <a:spAutoFit/>
          </a:bodyPr>
          <a:lstStyle/>
          <a:p>
            <a:pPr>
              <a:defRPr sz="1200" b="1">
                <a:solidFill>
                  <a:srgbClr val="38BDF8"/>
                </a:solidFill>
                <a:latin typeface="Segoe UI"/>
              </a:defRPr>
            </a:pPr>
            <a:r>
              <a:t>ENSEIGNEMENTS MÉTIER DE L'INTERPRÉTABILITÉ</a:t>
            </a:r>
          </a:p>
        </p:txBody>
      </p:sp>
      <p:sp>
        <p:nvSpPr>
          <p:cNvPr id="12" name="TextBox 11"/>
          <p:cNvSpPr txBox="1"/>
          <p:nvPr/>
        </p:nvSpPr>
        <p:spPr>
          <a:xfrm>
            <a:off x="6400800" y="1920240"/>
            <a:ext cx="4846320" cy="3931920"/>
          </a:xfrm>
          <a:prstGeom prst="rect">
            <a:avLst/>
          </a:prstGeom>
          <a:noFill/>
        </p:spPr>
        <p:txBody>
          <a:bodyPr wrap="square">
            <a:spAutoFit/>
          </a:bodyPr>
          <a:lstStyle/>
          <a:p>
            <a:pPr>
              <a:defRPr sz="1100" b="1">
                <a:solidFill>
                  <a:srgbClr val="38BDF8"/>
                </a:solidFill>
                <a:latin typeface="Segoe UI"/>
              </a:defRPr>
            </a:pPr>
            <a:r>
              <a:t>L'Emplacement Géographique Écrase Tout :</a:t>
            </a:r>
          </a:p>
          <a:p>
            <a:pPr>
              <a:defRPr sz="1000">
                <a:solidFill>
                  <a:srgbClr val="F8FAFC"/>
                </a:solidFill>
                <a:latin typeface="Segoe UI"/>
              </a:defRPr>
            </a:pPr>
            <a:r>
              <a:t>Les variables de magasins ('Store') génèrent des écarts structurels de plus de 1.3 million de dollars par semaine par rapport au magasin de référence. La surface et la zone de chalandise constituent le socle de prédiction.</a:t>
            </a:r>
          </a:p>
          <a:p>
            <a:pPr>
              <a:defRPr sz="1100" b="1">
                <a:solidFill>
                  <a:srgbClr val="38BDF8"/>
                </a:solidFill>
                <a:latin typeface="Segoe UI"/>
              </a:defRPr>
            </a:pPr>
            <a:r>
              <a:t>Sensibilité au Pouvoir d'Achat :</a:t>
            </a:r>
          </a:p>
          <a:p>
            <a:pPr>
              <a:defRPr sz="1000">
                <a:solidFill>
                  <a:srgbClr val="F8FAFC"/>
                </a:solidFill>
                <a:latin typeface="Segoe UI"/>
              </a:defRPr>
            </a:pPr>
            <a:r>
              <a:t>Chaque augmentation d'un écart-type du chômage dégrade les ventes de ~42 000 $ par semaine. Walmart doit adapter son mix de marques distributeur (Great Value) dans ces zones.</a:t>
            </a:r>
          </a:p>
          <a:p>
            <a:pPr>
              <a:defRPr sz="1100" b="1">
                <a:solidFill>
                  <a:srgbClr val="38BDF8"/>
                </a:solidFill>
                <a:latin typeface="Segoe UI"/>
              </a:defRPr>
            </a:pPr>
            <a:r>
              <a:t>Effet Fêtes (+48.9k$) :</a:t>
            </a:r>
          </a:p>
          <a:p>
            <a:pPr>
              <a:defRPr sz="1000">
                <a:solidFill>
                  <a:srgbClr val="F8FAFC"/>
                </a:solidFill>
                <a:latin typeface="Segoe UI"/>
              </a:defRPr>
            </a:pPr>
            <a:r>
              <a:t>Les semaines fériées génèrent un surcroît moyen systématique de près de 50 000 $ par magasin, confirmant la rentabilité des mises en avant saisonnières.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07 | RÉGULARISATION L2</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Modèle Ridge &amp; Optimisation par Validation Croisée (GridSearchCV)</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8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365760"/>
          </a:xfrm>
          <a:prstGeom prst="rect">
            <a:avLst/>
          </a:prstGeom>
          <a:noFill/>
        </p:spPr>
        <p:txBody>
          <a:bodyPr wrap="square" lIns="0" tIns="0" rIns="0" bIns="0">
            <a:spAutoFit/>
          </a:bodyPr>
          <a:lstStyle/>
          <a:p>
            <a:pPr>
              <a:defRPr sz="1200" b="1">
                <a:solidFill>
                  <a:srgbClr val="38BDF8"/>
                </a:solidFill>
                <a:latin typeface="Segoe UI"/>
              </a:defRPr>
            </a:pPr>
            <a:r>
              <a:t>GRIDSEARCHCV RIDGE (L2 PENALTY)</a:t>
            </a:r>
          </a:p>
        </p:txBody>
      </p:sp>
      <p:sp>
        <p:nvSpPr>
          <p:cNvPr id="9" name="TextBox 8"/>
          <p:cNvSpPr txBox="1"/>
          <p:nvPr/>
        </p:nvSpPr>
        <p:spPr>
          <a:xfrm>
            <a:off x="914400" y="1920240"/>
            <a:ext cx="4846320" cy="3931920"/>
          </a:xfrm>
          <a:prstGeom prst="rect">
            <a:avLst/>
          </a:prstGeom>
          <a:noFill/>
        </p:spPr>
        <p:txBody>
          <a:bodyPr wrap="square">
            <a:spAutoFit/>
          </a:bodyPr>
          <a:lstStyle/>
          <a:p>
            <a:pPr>
              <a:defRPr sz="1100" b="1">
                <a:solidFill>
                  <a:srgbClr val="38BDF8"/>
                </a:solidFill>
                <a:latin typeface="Segoe UI"/>
              </a:defRPr>
            </a:pPr>
            <a:r>
              <a:t>Principe Théorique :</a:t>
            </a:r>
          </a:p>
          <a:p>
            <a:pPr>
              <a:defRPr sz="1000">
                <a:solidFill>
                  <a:srgbClr val="F8FAFC"/>
                </a:solidFill>
                <a:latin typeface="Segoe UI"/>
              </a:defRPr>
            </a:pPr>
            <a:r>
              <a:t>Pénalisation de la somme des carrés des coefficients (||w||₂²). Évite l'explosion des poids face à la colinéarité sans annuler les variables.</a:t>
            </a:r>
          </a:p>
          <a:p>
            <a:pPr>
              <a:defRPr sz="1100" b="1">
                <a:solidFill>
                  <a:srgbClr val="38BDF8"/>
                </a:solidFill>
                <a:latin typeface="Segoe UI"/>
              </a:defRPr>
            </a:pPr>
            <a:r>
              <a:t>Grille d'Hyperparamètres :</a:t>
            </a:r>
          </a:p>
          <a:p>
            <a:pPr>
              <a:defRPr sz="1000">
                <a:solidFill>
                  <a:srgbClr val="F8FAFC"/>
                </a:solidFill>
                <a:latin typeface="Segoe UI"/>
              </a:defRPr>
            </a:pPr>
            <a:r>
              <a:t>Paramètre alpha testé sur [0.01, 0.1, 1, 10, 100, 1000] avec 5-fold cross-validation.</a:t>
            </a:r>
          </a:p>
          <a:p>
            <a:pPr>
              <a:defRPr sz="1100" b="1">
                <a:solidFill>
                  <a:srgbClr val="38BDF8"/>
                </a:solidFill>
                <a:latin typeface="Segoe UI"/>
              </a:defRPr>
            </a:pPr>
            <a:r>
              <a:t>Meilleur Paramètre Retenu :</a:t>
            </a:r>
          </a:p>
          <a:p>
            <a:pPr>
              <a:defRPr sz="1000">
                <a:solidFill>
                  <a:srgbClr val="F8FAFC"/>
                </a:solidFill>
                <a:latin typeface="Segoe UI"/>
              </a:defRPr>
            </a:pPr>
            <a:r>
              <a:t>alpha = 0.01 (pénalisation légère optimale).</a:t>
            </a:r>
          </a:p>
          <a:p>
            <a:pPr>
              <a:defRPr sz="1100" b="1">
                <a:solidFill>
                  <a:srgbClr val="38BDF8"/>
                </a:solidFill>
                <a:latin typeface="Segoe UI"/>
              </a:defRPr>
            </a:pPr>
            <a:r>
              <a:t>Résultats Train :</a:t>
            </a:r>
          </a:p>
          <a:p>
            <a:pPr>
              <a:defRPr sz="1000">
                <a:solidFill>
                  <a:srgbClr val="F8FAFC"/>
                </a:solidFill>
                <a:latin typeface="Segoe UI"/>
              </a:defRPr>
            </a:pPr>
            <a:r>
              <a:t>R² = 0.98 | MAE = 77 140 $ | RMSE = 100 111 $.</a:t>
            </a:r>
          </a:p>
          <a:p>
            <a:pPr>
              <a:defRPr sz="1100" b="1">
                <a:solidFill>
                  <a:srgbClr val="38BDF8"/>
                </a:solidFill>
                <a:latin typeface="Segoe UI"/>
              </a:defRPr>
            </a:pPr>
            <a:r>
              <a:t>Résultats Test :</a:t>
            </a:r>
          </a:p>
          <a:p>
            <a:pPr>
              <a:defRPr sz="1000">
                <a:solidFill>
                  <a:srgbClr val="F8FAFC"/>
                </a:solidFill>
                <a:latin typeface="Segoe UI"/>
              </a:defRPr>
            </a:pPr>
            <a:r>
              <a:t>R² = 0.90 | MAE = 145 013 $ | RMSE = 187 888 $.</a:t>
            </a:r>
          </a:p>
        </p:txBody>
      </p:sp>
      <p:sp>
        <p:nvSpPr>
          <p:cNvPr id="10" name="Rounded Rectangle 9"/>
          <p:cNvSpPr/>
          <p:nvPr/>
        </p:nvSpPr>
        <p:spPr>
          <a:xfrm>
            <a:off x="6217920" y="1371600"/>
            <a:ext cx="52422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4876495" cy="365760"/>
          </a:xfrm>
          <a:prstGeom prst="rect">
            <a:avLst/>
          </a:prstGeom>
          <a:noFill/>
        </p:spPr>
        <p:txBody>
          <a:bodyPr wrap="square" lIns="0" tIns="0" rIns="0" bIns="0">
            <a:spAutoFit/>
          </a:bodyPr>
          <a:lstStyle/>
          <a:p>
            <a:pPr>
              <a:defRPr sz="1200" b="1">
                <a:solidFill>
                  <a:srgbClr val="38BDF8"/>
                </a:solidFill>
                <a:latin typeface="Segoe UI"/>
              </a:defRPr>
            </a:pPr>
            <a:r>
              <a:t>BILAN DE LA RÉGULARISATION RIDGE</a:t>
            </a:r>
          </a:p>
        </p:txBody>
      </p:sp>
      <p:sp>
        <p:nvSpPr>
          <p:cNvPr id="12" name="TextBox 11"/>
          <p:cNvSpPr txBox="1"/>
          <p:nvPr/>
        </p:nvSpPr>
        <p:spPr>
          <a:xfrm>
            <a:off x="6400800" y="1920240"/>
            <a:ext cx="4846320" cy="3931920"/>
          </a:xfrm>
          <a:prstGeom prst="rect">
            <a:avLst/>
          </a:prstGeom>
          <a:noFill/>
        </p:spPr>
        <p:txBody>
          <a:bodyPr wrap="square">
            <a:spAutoFit/>
          </a:bodyPr>
          <a:lstStyle/>
          <a:p>
            <a:pPr>
              <a:defRPr sz="1100" b="1">
                <a:solidFill>
                  <a:srgbClr val="FACC15"/>
                </a:solidFill>
                <a:latin typeface="Segoe UI"/>
              </a:defRPr>
            </a:pPr>
            <a:r>
              <a:t>1. Réduction de l'Erreur de Test :</a:t>
            </a:r>
          </a:p>
          <a:p>
            <a:pPr>
              <a:defRPr sz="1000">
                <a:solidFill>
                  <a:srgbClr val="F8FAFC"/>
                </a:solidFill>
                <a:latin typeface="Segoe UI"/>
              </a:defRPr>
            </a:pPr>
            <a:r>
              <a:t>La MAE test baisse de 145 803 $ à 145 013 $ (-790 $ par semaine et par magasin), confirmant un gain de stabilité.</a:t>
            </a:r>
          </a:p>
          <a:p>
            <a:pPr>
              <a:defRPr sz="1100" b="1">
                <a:solidFill>
                  <a:srgbClr val="FACC15"/>
                </a:solidFill>
                <a:latin typeface="Segoe UI"/>
              </a:defRPr>
            </a:pPr>
            <a:r>
              <a:t>2. Conservation Intégrale des Features :</a:t>
            </a:r>
          </a:p>
          <a:p>
            <a:pPr>
              <a:defRPr sz="1000">
                <a:solidFill>
                  <a:srgbClr val="F8FAFC"/>
                </a:solidFill>
                <a:latin typeface="Segoe UI"/>
              </a:defRPr>
            </a:pPr>
            <a:r>
              <a:t>Ridge conserve l'ensemble des coefficients non nuls. Toutes les variables continuent de contribuer au score final.</a:t>
            </a:r>
          </a:p>
          <a:p>
            <a:pPr>
              <a:defRPr sz="1100" b="1">
                <a:solidFill>
                  <a:srgbClr val="FACC15"/>
                </a:solidFill>
                <a:latin typeface="Segoe UI"/>
              </a:defRPr>
            </a:pPr>
            <a:r>
              <a:t>3. Limite de Ridge pour le Métier :</a:t>
            </a:r>
          </a:p>
          <a:p>
            <a:pPr>
              <a:defRPr sz="1000">
                <a:solidFill>
                  <a:srgbClr val="F8FAFC"/>
                </a:solidFill>
                <a:latin typeface="Segoe UI"/>
              </a:defRPr>
            </a:pPr>
            <a:r>
              <a:t>Comme aucune variable n'est éliminée, le modèle reste dense et n'offre pas de simplification directe pour les décideurs marketing.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08 | RÉGULARISATION L1</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Modèle Lasso : Sélection de Variables &amp; Meilleure Généralisation</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9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371600"/>
            <a:ext cx="521208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365760"/>
          </a:xfrm>
          <a:prstGeom prst="rect">
            <a:avLst/>
          </a:prstGeom>
          <a:noFill/>
        </p:spPr>
        <p:txBody>
          <a:bodyPr wrap="square" lIns="0" tIns="0" rIns="0" bIns="0">
            <a:spAutoFit/>
          </a:bodyPr>
          <a:lstStyle/>
          <a:p>
            <a:pPr>
              <a:defRPr sz="1200" b="1">
                <a:solidFill>
                  <a:srgbClr val="38BDF8"/>
                </a:solidFill>
                <a:latin typeface="Segoe UI"/>
              </a:defRPr>
            </a:pPr>
            <a:r>
              <a:t>GRIDSEARCHCV LASSO (L1 PENALTY)</a:t>
            </a:r>
          </a:p>
        </p:txBody>
      </p:sp>
      <p:sp>
        <p:nvSpPr>
          <p:cNvPr id="9" name="TextBox 8"/>
          <p:cNvSpPr txBox="1"/>
          <p:nvPr/>
        </p:nvSpPr>
        <p:spPr>
          <a:xfrm>
            <a:off x="914400" y="1920240"/>
            <a:ext cx="4846320" cy="3931920"/>
          </a:xfrm>
          <a:prstGeom prst="rect">
            <a:avLst/>
          </a:prstGeom>
          <a:noFill/>
        </p:spPr>
        <p:txBody>
          <a:bodyPr wrap="square">
            <a:spAutoFit/>
          </a:bodyPr>
          <a:lstStyle/>
          <a:p>
            <a:pPr>
              <a:defRPr sz="1100" b="1">
                <a:solidFill>
                  <a:srgbClr val="10B981"/>
                </a:solidFill>
                <a:latin typeface="Segoe UI"/>
              </a:defRPr>
            </a:pPr>
            <a:r>
              <a:t>Principe de Parcimonie (Sparsity) :</a:t>
            </a:r>
          </a:p>
          <a:p>
            <a:pPr>
              <a:defRPr sz="1000">
                <a:solidFill>
                  <a:srgbClr val="F8FAFC"/>
                </a:solidFill>
                <a:latin typeface="Segoe UI"/>
              </a:defRPr>
            </a:pPr>
            <a:r>
              <a:t>Pénalisation de la valeur absolue des coefficients (||w||₁). Annule purement et simplement les variables non informatives (feature selection automatique).</a:t>
            </a:r>
          </a:p>
          <a:p>
            <a:pPr>
              <a:defRPr sz="1100" b="1">
                <a:solidFill>
                  <a:srgbClr val="10B981"/>
                </a:solidFill>
                <a:latin typeface="Segoe UI"/>
              </a:defRPr>
            </a:pPr>
            <a:r>
              <a:t>Grille d'Hyperparamètres :</a:t>
            </a:r>
          </a:p>
          <a:p>
            <a:pPr>
              <a:defRPr sz="1000">
                <a:solidFill>
                  <a:srgbClr val="F8FAFC"/>
                </a:solidFill>
                <a:latin typeface="Segoe UI"/>
              </a:defRPr>
            </a:pPr>
            <a:r>
              <a:t>Paramètre alpha testé sur [1, 10, 100, 1000, 10000] avec 5-fold cross-validation.</a:t>
            </a:r>
          </a:p>
          <a:p>
            <a:pPr>
              <a:defRPr sz="1100" b="1">
                <a:solidFill>
                  <a:srgbClr val="10B981"/>
                </a:solidFill>
                <a:latin typeface="Segoe UI"/>
              </a:defRPr>
            </a:pPr>
            <a:r>
              <a:t>Meilleur Paramètre Retenu :</a:t>
            </a:r>
          </a:p>
          <a:p>
            <a:pPr>
              <a:defRPr sz="1000">
                <a:solidFill>
                  <a:srgbClr val="F8FAFC"/>
                </a:solidFill>
                <a:latin typeface="Segoe UI"/>
              </a:defRPr>
            </a:pPr>
            <a:r>
              <a:t>alpha = 1 000 (sélection robuste).</a:t>
            </a:r>
          </a:p>
          <a:p>
            <a:pPr>
              <a:defRPr sz="1100" b="1">
                <a:solidFill>
                  <a:srgbClr val="10B981"/>
                </a:solidFill>
                <a:latin typeface="Segoe UI"/>
              </a:defRPr>
            </a:pPr>
            <a:r>
              <a:t>Résultats Train :</a:t>
            </a:r>
          </a:p>
          <a:p>
            <a:pPr>
              <a:defRPr sz="1000">
                <a:solidFill>
                  <a:srgbClr val="F8FAFC"/>
                </a:solidFill>
                <a:latin typeface="Segoe UI"/>
              </a:defRPr>
            </a:pPr>
            <a:r>
              <a:t>R² = 0.98 | MAE = 78 595 $ | RMSE = 103 515 $.</a:t>
            </a:r>
          </a:p>
          <a:p>
            <a:pPr>
              <a:defRPr sz="1100" b="1">
                <a:solidFill>
                  <a:srgbClr val="10B981"/>
                </a:solidFill>
                <a:latin typeface="Segoe UI"/>
              </a:defRPr>
            </a:pPr>
            <a:r>
              <a:t>Résultats Test (RECORD) :</a:t>
            </a:r>
          </a:p>
          <a:p>
            <a:pPr>
              <a:defRPr sz="1000">
                <a:solidFill>
                  <a:srgbClr val="F8FAFC"/>
                </a:solidFill>
                <a:latin typeface="Segoe UI"/>
              </a:defRPr>
            </a:pPr>
            <a:r>
              <a:t>R² = 0.91 (+1%) | RMSE = 181 457 $ (-7 020 $ vs Baseline).</a:t>
            </a:r>
          </a:p>
        </p:txBody>
      </p:sp>
      <p:sp>
        <p:nvSpPr>
          <p:cNvPr id="10" name="Rounded Rectangle 9"/>
          <p:cNvSpPr/>
          <p:nvPr/>
        </p:nvSpPr>
        <p:spPr>
          <a:xfrm>
            <a:off x="6217920" y="1371600"/>
            <a:ext cx="5242255"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4876495" cy="365760"/>
          </a:xfrm>
          <a:prstGeom prst="rect">
            <a:avLst/>
          </a:prstGeom>
          <a:noFill/>
        </p:spPr>
        <p:txBody>
          <a:bodyPr wrap="square" lIns="0" tIns="0" rIns="0" bIns="0">
            <a:spAutoFit/>
          </a:bodyPr>
          <a:lstStyle/>
          <a:p>
            <a:pPr>
              <a:defRPr sz="1200" b="1">
                <a:solidFill>
                  <a:srgbClr val="38BDF8"/>
                </a:solidFill>
                <a:latin typeface="Segoe UI"/>
              </a:defRPr>
            </a:pPr>
            <a:r>
              <a:t>POURQUOI LASSO EST LE MODÈLE RECOMMANDÉ</a:t>
            </a:r>
          </a:p>
        </p:txBody>
      </p:sp>
      <p:sp>
        <p:nvSpPr>
          <p:cNvPr id="12" name="TextBox 11"/>
          <p:cNvSpPr txBox="1"/>
          <p:nvPr/>
        </p:nvSpPr>
        <p:spPr>
          <a:xfrm>
            <a:off x="6400800" y="1920240"/>
            <a:ext cx="4846320" cy="3931920"/>
          </a:xfrm>
          <a:prstGeom prst="rect">
            <a:avLst/>
          </a:prstGeom>
          <a:noFill/>
        </p:spPr>
        <p:txBody>
          <a:bodyPr wrap="square">
            <a:spAutoFit/>
          </a:bodyPr>
          <a:lstStyle/>
          <a:p>
            <a:pPr>
              <a:defRPr sz="1100" b="1">
                <a:solidFill>
                  <a:srgbClr val="10B981"/>
                </a:solidFill>
                <a:latin typeface="Segoe UI"/>
              </a:defRPr>
            </a:pPr>
            <a:r>
              <a:t>1. Meilleur Score de Généralisation :</a:t>
            </a:r>
          </a:p>
          <a:p>
            <a:pPr>
              <a:defRPr sz="1000">
                <a:solidFill>
                  <a:srgbClr val="F8FAFC"/>
                </a:solidFill>
                <a:latin typeface="Segoe UI"/>
              </a:defRPr>
            </a:pPr>
            <a:r>
              <a:t>Lasso est le seul modèle qui parvient à faire progresser le R² test à 0.91 tout en réduisant la RMSE de plus de 7 000 $.</a:t>
            </a:r>
          </a:p>
          <a:p>
            <a:pPr>
              <a:defRPr sz="1100" b="1">
                <a:solidFill>
                  <a:srgbClr val="10B981"/>
                </a:solidFill>
                <a:latin typeface="Segoe UI"/>
              </a:defRPr>
            </a:pPr>
            <a:r>
              <a:t>2. Élimination du Bruit Statistiques :</a:t>
            </a:r>
          </a:p>
          <a:p>
            <a:pPr>
              <a:defRPr sz="1000">
                <a:solidFill>
                  <a:srgbClr val="F8FAFC"/>
                </a:solidFill>
                <a:latin typeface="Segoe UI"/>
              </a:defRPr>
            </a:pPr>
            <a:r>
              <a:t>Les variables calendaires trop fines ou redondantes sont mises à zéro, protégeant le modèle contre le surapprentissage sur petit échantillon (n=131).</a:t>
            </a:r>
          </a:p>
          <a:p>
            <a:pPr>
              <a:defRPr sz="1100" b="1">
                <a:solidFill>
                  <a:srgbClr val="10B981"/>
                </a:solidFill>
                <a:latin typeface="Segoe UI"/>
              </a:defRPr>
            </a:pPr>
            <a:r>
              <a:t>3. Robustesse en Production :</a:t>
            </a:r>
          </a:p>
          <a:p>
            <a:pPr>
              <a:defRPr sz="1000">
                <a:solidFill>
                  <a:srgbClr val="F8FAFC"/>
                </a:solidFill>
                <a:latin typeface="Segoe UI"/>
              </a:defRPr>
            </a:pPr>
            <a:r>
              <a:t>Un modèle plus simple et plus parcimonieux est plus stable à déployer, plus rapide à recalculer et plus facilement auditable par les équipes métier de Walmart.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38BDF8"/>
                </a:solidFill>
                <a:latin typeface="Segoe UI"/>
              </a:defRPr>
            </a:pPr>
            <a:r>
              <a:t>ÉTAPE 09 | SYNTHÈSE &amp; PLAN D'ACTION</a:t>
            </a:r>
          </a:p>
        </p:txBody>
      </p:sp>
      <p:sp>
        <p:nvSpPr>
          <p:cNvPr id="4" name="TextBox 3"/>
          <p:cNvSpPr txBox="1"/>
          <p:nvPr/>
        </p:nvSpPr>
        <p:spPr>
          <a:xfrm>
            <a:off x="731520" y="685800"/>
            <a:ext cx="9601200" cy="502920"/>
          </a:xfrm>
          <a:prstGeom prst="rect">
            <a:avLst/>
          </a:prstGeom>
          <a:noFill/>
        </p:spPr>
        <p:txBody>
          <a:bodyPr wrap="square" lIns="0" tIns="0" rIns="0" bIns="0">
            <a:spAutoFit/>
          </a:bodyPr>
          <a:lstStyle/>
          <a:p>
            <a:pPr>
              <a:defRPr sz="2200" b="1">
                <a:solidFill>
                  <a:srgbClr val="F8FAFC"/>
                </a:solidFill>
                <a:latin typeface="Segoe UI"/>
              </a:defRPr>
            </a:pPr>
            <a:r>
              <a:t>Tableau Comparatif des Modèles &amp; Recommandations Opérationnelles</a:t>
            </a:r>
          </a:p>
        </p:txBody>
      </p:sp>
      <p:sp>
        <p:nvSpPr>
          <p:cNvPr id="5" name="TextBox 4"/>
          <p:cNvSpPr txBox="1"/>
          <p:nvPr/>
        </p:nvSpPr>
        <p:spPr>
          <a:xfrm>
            <a:off x="10362895" y="411480"/>
            <a:ext cx="1097280" cy="365760"/>
          </a:xfrm>
          <a:prstGeom prst="rect">
            <a:avLst/>
          </a:prstGeom>
          <a:noFill/>
        </p:spPr>
        <p:txBody>
          <a:bodyPr wrap="square" lIns="0" tIns="0" rIns="0" bIns="0">
            <a:spAutoFit/>
          </a:bodyPr>
          <a:lstStyle/>
          <a:p>
            <a:pPr algn="r">
              <a:defRPr sz="1200" b="1">
                <a:solidFill>
                  <a:srgbClr val="94A3B8"/>
                </a:solidFill>
                <a:latin typeface="Segoe UI"/>
              </a:defRPr>
            </a:pPr>
            <a:r>
              <a:t>10 / 10</a:t>
            </a:r>
          </a:p>
        </p:txBody>
      </p:sp>
      <p:sp>
        <p:nvSpPr>
          <p:cNvPr id="6" name="TextBox 5"/>
          <p:cNvSpPr txBox="1"/>
          <p:nvPr/>
        </p:nvSpPr>
        <p:spPr>
          <a:xfrm>
            <a:off x="731520" y="6400800"/>
            <a:ext cx="10728655" cy="274320"/>
          </a:xfrm>
          <a:prstGeom prst="rect">
            <a:avLst/>
          </a:prstGeom>
          <a:noFill/>
        </p:spPr>
        <p:txBody>
          <a:bodyPr wrap="square" lIns="0" tIns="0" rIns="0" bIns="0">
            <a:spAutoFit/>
          </a:bodyPr>
          <a:lstStyle/>
          <a:p>
            <a:pPr>
              <a:defRPr sz="1000">
                <a:solidFill>
                  <a:srgbClr val="64748B"/>
                </a:solidFill>
                <a:latin typeface="Segoe UI"/>
              </a:defRPr>
            </a:pPr>
            <a:r>
              <a:t>Christopher GILLERON  |  Walmart Store Sales Prediction (Machine Learning Supervisé)  |  Certification CDSD Bloc 3</a:t>
            </a:r>
          </a:p>
        </p:txBody>
      </p:sp>
      <p:sp>
        <p:nvSpPr>
          <p:cNvPr id="7" name="Rounded Rectangle 6"/>
          <p:cNvSpPr/>
          <p:nvPr/>
        </p:nvSpPr>
        <p:spPr>
          <a:xfrm>
            <a:off x="731520" y="1280160"/>
            <a:ext cx="10728655"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44752"/>
            <a:ext cx="10362895" cy="365760"/>
          </a:xfrm>
          <a:prstGeom prst="rect">
            <a:avLst/>
          </a:prstGeom>
          <a:noFill/>
        </p:spPr>
        <p:txBody>
          <a:bodyPr wrap="square" lIns="0" tIns="0" rIns="0" bIns="0">
            <a:spAutoFit/>
          </a:bodyPr>
          <a:lstStyle/>
          <a:p>
            <a:pPr>
              <a:defRPr sz="1200" b="1">
                <a:solidFill>
                  <a:srgbClr val="38BDF8"/>
                </a:solidFill>
                <a:latin typeface="Segoe UI"/>
              </a:defRPr>
            </a:pPr>
            <a:r>
              <a:t>TABLEAU COMPARATIF DES MODÈLES (SCIKIT-LEARN EVALUATION)</a:t>
            </a:r>
          </a:p>
        </p:txBody>
      </p:sp>
      <p:graphicFrame>
        <p:nvGraphicFramePr>
          <p:cNvPr id="9" name="Table 8"/>
          <p:cNvGraphicFramePr>
            <a:graphicFrameLocks noGrp="1"/>
          </p:cNvGraphicFramePr>
          <p:nvPr/>
        </p:nvGraphicFramePr>
        <p:xfrm>
          <a:off x="914400" y="1737360"/>
          <a:ext cx="10362895" cy="1463040"/>
        </p:xfrm>
        <a:graphic>
          <a:graphicData uri="http://schemas.openxmlformats.org/drawingml/2006/table">
            <a:tbl>
              <a:tblPr firstRow="1" bandRow="1">
                <a:tableStyleId>{5C22544A-7EE6-4342-B048-85BDC9FD1C3A}</a:tableStyleId>
              </a:tblPr>
              <a:tblGrid>
                <a:gridCol w="1480413"/>
                <a:gridCol w="1480413"/>
                <a:gridCol w="1480413"/>
                <a:gridCol w="1480413"/>
                <a:gridCol w="1480413"/>
                <a:gridCol w="1480413"/>
                <a:gridCol w="1480417"/>
              </a:tblGrid>
              <a:tr h="365760">
                <a:tc>
                  <a:txBody>
                    <a:bodyPr/>
                    <a:lstStyle/>
                    <a:p>
                      <a:pPr>
                        <a:defRPr sz="1050" b="1">
                          <a:solidFill>
                            <a:srgbClr val="38BDF8"/>
                          </a:solidFill>
                          <a:latin typeface="Segoe UI"/>
                        </a:defRPr>
                      </a:pPr>
                      <a:r>
                        <a:t>Modèle</a:t>
                      </a:r>
                    </a:p>
                  </a:txBody>
                  <a:tcPr>
                    <a:solidFill>
                      <a:srgbClr val="0F172A"/>
                    </a:solidFill>
                  </a:tcPr>
                </a:tc>
                <a:tc>
                  <a:txBody>
                    <a:bodyPr/>
                    <a:lstStyle/>
                    <a:p>
                      <a:pPr>
                        <a:defRPr sz="1050" b="1">
                          <a:solidFill>
                            <a:srgbClr val="38BDF8"/>
                          </a:solidFill>
                          <a:latin typeface="Segoe UI"/>
                        </a:defRPr>
                      </a:pPr>
                      <a:r>
                        <a:t>Hyperparamètre</a:t>
                      </a:r>
                    </a:p>
                  </a:txBody>
                  <a:tcPr>
                    <a:solidFill>
                      <a:srgbClr val="0F172A"/>
                    </a:solidFill>
                  </a:tcPr>
                </a:tc>
                <a:tc>
                  <a:txBody>
                    <a:bodyPr/>
                    <a:lstStyle/>
                    <a:p>
                      <a:pPr>
                        <a:defRPr sz="1050" b="1">
                          <a:solidFill>
                            <a:srgbClr val="38BDF8"/>
                          </a:solidFill>
                          <a:latin typeface="Segoe UI"/>
                        </a:defRPr>
                      </a:pPr>
                      <a:r>
                        <a:t>R² Train</a:t>
                      </a:r>
                    </a:p>
                  </a:txBody>
                  <a:tcPr>
                    <a:solidFill>
                      <a:srgbClr val="0F172A"/>
                    </a:solidFill>
                  </a:tcPr>
                </a:tc>
                <a:tc>
                  <a:txBody>
                    <a:bodyPr/>
                    <a:lstStyle/>
                    <a:p>
                      <a:pPr>
                        <a:defRPr sz="1050" b="1">
                          <a:solidFill>
                            <a:srgbClr val="38BDF8"/>
                          </a:solidFill>
                          <a:latin typeface="Segoe UI"/>
                        </a:defRPr>
                      </a:pPr>
                      <a:r>
                        <a:t>R² Test</a:t>
                      </a:r>
                    </a:p>
                  </a:txBody>
                  <a:tcPr>
                    <a:solidFill>
                      <a:srgbClr val="0F172A"/>
                    </a:solidFill>
                  </a:tcPr>
                </a:tc>
                <a:tc>
                  <a:txBody>
                    <a:bodyPr/>
                    <a:lstStyle/>
                    <a:p>
                      <a:pPr>
                        <a:defRPr sz="1050" b="1">
                          <a:solidFill>
                            <a:srgbClr val="38BDF8"/>
                          </a:solidFill>
                          <a:latin typeface="Segoe UI"/>
                        </a:defRPr>
                      </a:pPr>
                      <a:r>
                        <a:t>MAE Test ($)</a:t>
                      </a:r>
                    </a:p>
                  </a:txBody>
                  <a:tcPr>
                    <a:solidFill>
                      <a:srgbClr val="0F172A"/>
                    </a:solidFill>
                  </a:tcPr>
                </a:tc>
                <a:tc>
                  <a:txBody>
                    <a:bodyPr/>
                    <a:lstStyle/>
                    <a:p>
                      <a:pPr>
                        <a:defRPr sz="1050" b="1">
                          <a:solidFill>
                            <a:srgbClr val="38BDF8"/>
                          </a:solidFill>
                          <a:latin typeface="Segoe UI"/>
                        </a:defRPr>
                      </a:pPr>
                      <a:r>
                        <a:t>RMSE Test ($)</a:t>
                      </a:r>
                    </a:p>
                  </a:txBody>
                  <a:tcPr>
                    <a:solidFill>
                      <a:srgbClr val="0F172A"/>
                    </a:solidFill>
                  </a:tcPr>
                </a:tc>
                <a:tc>
                  <a:txBody>
                    <a:bodyPr/>
                    <a:lstStyle/>
                    <a:p>
                      <a:pPr>
                        <a:defRPr sz="1050" b="1">
                          <a:solidFill>
                            <a:srgbClr val="38BDF8"/>
                          </a:solidFill>
                          <a:latin typeface="Segoe UI"/>
                        </a:defRPr>
                      </a:pPr>
                      <a:r>
                        <a:t>Statut</a:t>
                      </a:r>
                    </a:p>
                  </a:txBody>
                  <a:tcPr>
                    <a:solidFill>
                      <a:srgbClr val="0F172A"/>
                    </a:solidFill>
                  </a:tcPr>
                </a:tc>
              </a:tr>
              <a:tr h="365760">
                <a:tc>
                  <a:txBody>
                    <a:bodyPr/>
                    <a:lstStyle/>
                    <a:p>
                      <a:pPr>
                        <a:defRPr sz="950" b="0">
                          <a:solidFill>
                            <a:srgbClr val="F8FAFC"/>
                          </a:solidFill>
                          <a:latin typeface="Segoe UI"/>
                        </a:defRPr>
                      </a:pPr>
                      <a:r>
                        <a:t>Linear Regression</a:t>
                      </a:r>
                    </a:p>
                  </a:txBody>
                  <a:tcPr>
                    <a:solidFill>
                      <a:srgbClr val="18202F"/>
                    </a:solidFill>
                  </a:tcPr>
                </a:tc>
                <a:tc>
                  <a:txBody>
                    <a:bodyPr/>
                    <a:lstStyle/>
                    <a:p>
                      <a:pPr>
                        <a:defRPr sz="950" b="0">
                          <a:solidFill>
                            <a:srgbClr val="F8FAFC"/>
                          </a:solidFill>
                          <a:latin typeface="Segoe UI"/>
                        </a:defRPr>
                      </a:pPr>
                      <a:r>
                        <a:t>Sans pénalité</a:t>
                      </a:r>
                    </a:p>
                  </a:txBody>
                  <a:tcPr>
                    <a:solidFill>
                      <a:srgbClr val="18202F"/>
                    </a:solidFill>
                  </a:tcPr>
                </a:tc>
                <a:tc>
                  <a:txBody>
                    <a:bodyPr/>
                    <a:lstStyle/>
                    <a:p>
                      <a:pPr>
                        <a:defRPr sz="950" b="0">
                          <a:solidFill>
                            <a:srgbClr val="F8FAFC"/>
                          </a:solidFill>
                          <a:latin typeface="Segoe UI"/>
                        </a:defRPr>
                      </a:pPr>
                      <a:r>
                        <a:t>0.98</a:t>
                      </a:r>
                    </a:p>
                  </a:txBody>
                  <a:tcPr>
                    <a:solidFill>
                      <a:srgbClr val="18202F"/>
                    </a:solidFill>
                  </a:tcPr>
                </a:tc>
                <a:tc>
                  <a:txBody>
                    <a:bodyPr/>
                    <a:lstStyle/>
                    <a:p>
                      <a:pPr>
                        <a:defRPr sz="950" b="0">
                          <a:solidFill>
                            <a:srgbClr val="F8FAFC"/>
                          </a:solidFill>
                          <a:latin typeface="Segoe UI"/>
                        </a:defRPr>
                      </a:pPr>
                      <a:r>
                        <a:t>0.90</a:t>
                      </a:r>
                    </a:p>
                  </a:txBody>
                  <a:tcPr>
                    <a:solidFill>
                      <a:srgbClr val="18202F"/>
                    </a:solidFill>
                  </a:tcPr>
                </a:tc>
                <a:tc>
                  <a:txBody>
                    <a:bodyPr/>
                    <a:lstStyle/>
                    <a:p>
                      <a:pPr>
                        <a:defRPr sz="950" b="0">
                          <a:solidFill>
                            <a:srgbClr val="F8FAFC"/>
                          </a:solidFill>
                          <a:latin typeface="Segoe UI"/>
                        </a:defRPr>
                      </a:pPr>
                      <a:r>
                        <a:t>145 803 $</a:t>
                      </a:r>
                    </a:p>
                  </a:txBody>
                  <a:tcPr>
                    <a:solidFill>
                      <a:srgbClr val="18202F"/>
                    </a:solidFill>
                  </a:tcPr>
                </a:tc>
                <a:tc>
                  <a:txBody>
                    <a:bodyPr/>
                    <a:lstStyle/>
                    <a:p>
                      <a:pPr>
                        <a:defRPr sz="950" b="0">
                          <a:solidFill>
                            <a:srgbClr val="F8FAFC"/>
                          </a:solidFill>
                          <a:latin typeface="Segoe UI"/>
                        </a:defRPr>
                      </a:pPr>
                      <a:r>
                        <a:t>188 478 $</a:t>
                      </a:r>
                    </a:p>
                  </a:txBody>
                  <a:tcPr>
                    <a:solidFill>
                      <a:srgbClr val="18202F"/>
                    </a:solidFill>
                  </a:tcPr>
                </a:tc>
                <a:tc>
                  <a:txBody>
                    <a:bodyPr/>
                    <a:lstStyle/>
                    <a:p>
                      <a:pPr>
                        <a:defRPr sz="950" b="0">
                          <a:solidFill>
                            <a:srgbClr val="F8FAFC"/>
                          </a:solidFill>
                          <a:latin typeface="Segoe UI"/>
                        </a:defRPr>
                      </a:pPr>
                      <a:r>
                        <a:t>Baseline</a:t>
                      </a:r>
                    </a:p>
                  </a:txBody>
                  <a:tcPr>
                    <a:solidFill>
                      <a:srgbClr val="18202F"/>
                    </a:solidFill>
                  </a:tcPr>
                </a:tc>
              </a:tr>
              <a:tr h="365760">
                <a:tc>
                  <a:txBody>
                    <a:bodyPr/>
                    <a:lstStyle/>
                    <a:p>
                      <a:pPr>
                        <a:defRPr sz="950" b="0">
                          <a:solidFill>
                            <a:srgbClr val="F8FAFC"/>
                          </a:solidFill>
                          <a:latin typeface="Segoe UI"/>
                        </a:defRPr>
                      </a:pPr>
                      <a:r>
                        <a:t>Ridge (L2)</a:t>
                      </a:r>
                    </a:p>
                  </a:txBody>
                  <a:tcPr>
                    <a:solidFill>
                      <a:srgbClr val="1E293B"/>
                    </a:solidFill>
                  </a:tcPr>
                </a:tc>
                <a:tc>
                  <a:txBody>
                    <a:bodyPr/>
                    <a:lstStyle/>
                    <a:p>
                      <a:pPr>
                        <a:defRPr sz="950" b="0">
                          <a:solidFill>
                            <a:srgbClr val="F8FAFC"/>
                          </a:solidFill>
                          <a:latin typeface="Segoe UI"/>
                        </a:defRPr>
                      </a:pPr>
                      <a:r>
                        <a:t>alpha = 0.01</a:t>
                      </a:r>
                    </a:p>
                  </a:txBody>
                  <a:tcPr>
                    <a:solidFill>
                      <a:srgbClr val="1E293B"/>
                    </a:solidFill>
                  </a:tcPr>
                </a:tc>
                <a:tc>
                  <a:txBody>
                    <a:bodyPr/>
                    <a:lstStyle/>
                    <a:p>
                      <a:pPr>
                        <a:defRPr sz="950" b="0">
                          <a:solidFill>
                            <a:srgbClr val="F8FAFC"/>
                          </a:solidFill>
                          <a:latin typeface="Segoe UI"/>
                        </a:defRPr>
                      </a:pPr>
                      <a:r>
                        <a:t>0.98</a:t>
                      </a:r>
                    </a:p>
                  </a:txBody>
                  <a:tcPr>
                    <a:solidFill>
                      <a:srgbClr val="1E293B"/>
                    </a:solidFill>
                  </a:tcPr>
                </a:tc>
                <a:tc>
                  <a:txBody>
                    <a:bodyPr/>
                    <a:lstStyle/>
                    <a:p>
                      <a:pPr>
                        <a:defRPr sz="950" b="0">
                          <a:solidFill>
                            <a:srgbClr val="F8FAFC"/>
                          </a:solidFill>
                          <a:latin typeface="Segoe UI"/>
                        </a:defRPr>
                      </a:pPr>
                      <a:r>
                        <a:t>0.90</a:t>
                      </a:r>
                    </a:p>
                  </a:txBody>
                  <a:tcPr>
                    <a:solidFill>
                      <a:srgbClr val="1E293B"/>
                    </a:solidFill>
                  </a:tcPr>
                </a:tc>
                <a:tc>
                  <a:txBody>
                    <a:bodyPr/>
                    <a:lstStyle/>
                    <a:p>
                      <a:pPr>
                        <a:defRPr sz="950" b="0">
                          <a:solidFill>
                            <a:srgbClr val="F8FAFC"/>
                          </a:solidFill>
                          <a:latin typeface="Segoe UI"/>
                        </a:defRPr>
                      </a:pPr>
                      <a:r>
                        <a:t>145 013 $</a:t>
                      </a:r>
                    </a:p>
                  </a:txBody>
                  <a:tcPr>
                    <a:solidFill>
                      <a:srgbClr val="1E293B"/>
                    </a:solidFill>
                  </a:tcPr>
                </a:tc>
                <a:tc>
                  <a:txBody>
                    <a:bodyPr/>
                    <a:lstStyle/>
                    <a:p>
                      <a:pPr>
                        <a:defRPr sz="950" b="0">
                          <a:solidFill>
                            <a:srgbClr val="F8FAFC"/>
                          </a:solidFill>
                          <a:latin typeface="Segoe UI"/>
                        </a:defRPr>
                      </a:pPr>
                      <a:r>
                        <a:t>187 888 $</a:t>
                      </a:r>
                    </a:p>
                  </a:txBody>
                  <a:tcPr>
                    <a:solidFill>
                      <a:srgbClr val="1E293B"/>
                    </a:solidFill>
                  </a:tcPr>
                </a:tc>
                <a:tc>
                  <a:txBody>
                    <a:bodyPr/>
                    <a:lstStyle/>
                    <a:p>
                      <a:pPr>
                        <a:defRPr sz="950" b="0">
                          <a:solidFill>
                            <a:srgbClr val="F8FAFC"/>
                          </a:solidFill>
                          <a:latin typeface="Segoe UI"/>
                        </a:defRPr>
                      </a:pPr>
                      <a:r>
                        <a:t>Stabilisé</a:t>
                      </a:r>
                    </a:p>
                  </a:txBody>
                  <a:tcPr>
                    <a:solidFill>
                      <a:srgbClr val="1E293B"/>
                    </a:solidFill>
                  </a:tcPr>
                </a:tc>
              </a:tr>
              <a:tr h="365760">
                <a:tc>
                  <a:txBody>
                    <a:bodyPr/>
                    <a:lstStyle/>
                    <a:p>
                      <a:pPr>
                        <a:defRPr sz="950" b="1">
                          <a:solidFill>
                            <a:srgbClr val="10B981"/>
                          </a:solidFill>
                          <a:latin typeface="Segoe UI"/>
                        </a:defRPr>
                      </a:pPr>
                      <a:r>
                        <a:t>Lasso (L1) — Élu</a:t>
                      </a:r>
                    </a:p>
                  </a:txBody>
                  <a:tcPr>
                    <a:solidFill>
                      <a:srgbClr val="18202F"/>
                    </a:solidFill>
                  </a:tcPr>
                </a:tc>
                <a:tc>
                  <a:txBody>
                    <a:bodyPr/>
                    <a:lstStyle/>
                    <a:p>
                      <a:pPr>
                        <a:defRPr sz="950" b="1">
                          <a:solidFill>
                            <a:srgbClr val="10B981"/>
                          </a:solidFill>
                          <a:latin typeface="Segoe UI"/>
                        </a:defRPr>
                      </a:pPr>
                      <a:r>
                        <a:t>alpha = 1 000</a:t>
                      </a:r>
                    </a:p>
                  </a:txBody>
                  <a:tcPr>
                    <a:solidFill>
                      <a:srgbClr val="18202F"/>
                    </a:solidFill>
                  </a:tcPr>
                </a:tc>
                <a:tc>
                  <a:txBody>
                    <a:bodyPr/>
                    <a:lstStyle/>
                    <a:p>
                      <a:pPr>
                        <a:defRPr sz="950" b="1">
                          <a:solidFill>
                            <a:srgbClr val="10B981"/>
                          </a:solidFill>
                          <a:latin typeface="Segoe UI"/>
                        </a:defRPr>
                      </a:pPr>
                      <a:r>
                        <a:t>0.98</a:t>
                      </a:r>
                    </a:p>
                  </a:txBody>
                  <a:tcPr>
                    <a:solidFill>
                      <a:srgbClr val="18202F"/>
                    </a:solidFill>
                  </a:tcPr>
                </a:tc>
                <a:tc>
                  <a:txBody>
                    <a:bodyPr/>
                    <a:lstStyle/>
                    <a:p>
                      <a:pPr>
                        <a:defRPr sz="950" b="1">
                          <a:solidFill>
                            <a:srgbClr val="10B981"/>
                          </a:solidFill>
                          <a:latin typeface="Segoe UI"/>
                        </a:defRPr>
                      </a:pPr>
                      <a:r>
                        <a:t>0.91</a:t>
                      </a:r>
                    </a:p>
                  </a:txBody>
                  <a:tcPr>
                    <a:solidFill>
                      <a:srgbClr val="18202F"/>
                    </a:solidFill>
                  </a:tcPr>
                </a:tc>
                <a:tc>
                  <a:txBody>
                    <a:bodyPr/>
                    <a:lstStyle/>
                    <a:p>
                      <a:pPr>
                        <a:defRPr sz="950" b="1">
                          <a:solidFill>
                            <a:srgbClr val="10B981"/>
                          </a:solidFill>
                          <a:latin typeface="Segoe UI"/>
                        </a:defRPr>
                      </a:pPr>
                      <a:r>
                        <a:t>146 306 $</a:t>
                      </a:r>
                    </a:p>
                  </a:txBody>
                  <a:tcPr>
                    <a:solidFill>
                      <a:srgbClr val="18202F"/>
                    </a:solidFill>
                  </a:tcPr>
                </a:tc>
                <a:tc>
                  <a:txBody>
                    <a:bodyPr/>
                    <a:lstStyle/>
                    <a:p>
                      <a:pPr>
                        <a:defRPr sz="950" b="1">
                          <a:solidFill>
                            <a:srgbClr val="10B981"/>
                          </a:solidFill>
                          <a:latin typeface="Segoe UI"/>
                        </a:defRPr>
                      </a:pPr>
                      <a:r>
                        <a:t>181 457 $</a:t>
                      </a:r>
                    </a:p>
                  </a:txBody>
                  <a:tcPr>
                    <a:solidFill>
                      <a:srgbClr val="18202F"/>
                    </a:solidFill>
                  </a:tcPr>
                </a:tc>
                <a:tc>
                  <a:txBody>
                    <a:bodyPr/>
                    <a:lstStyle/>
                    <a:p>
                      <a:pPr>
                        <a:defRPr sz="950" b="1">
                          <a:solidFill>
                            <a:srgbClr val="10B981"/>
                          </a:solidFill>
                          <a:latin typeface="Segoe UI"/>
                        </a:defRPr>
                      </a:pPr>
                      <a:r>
                        <a:t>OPTIMAL (RMSE min)</a:t>
                      </a:r>
                    </a:p>
                  </a:txBody>
                  <a:tcPr>
                    <a:solidFill>
                      <a:srgbClr val="18202F"/>
                    </a:solidFill>
                  </a:tcPr>
                </a:tc>
              </a:tr>
            </a:tbl>
          </a:graphicData>
        </a:graphic>
      </p:graphicFrame>
      <p:sp>
        <p:nvSpPr>
          <p:cNvPr id="10" name="Rounded Rectangle 9"/>
          <p:cNvSpPr/>
          <p:nvPr/>
        </p:nvSpPr>
        <p:spPr>
          <a:xfrm>
            <a:off x="731520" y="3566160"/>
            <a:ext cx="5242255" cy="12801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30752"/>
            <a:ext cx="4876495" cy="365760"/>
          </a:xfrm>
          <a:prstGeom prst="rect">
            <a:avLst/>
          </a:prstGeom>
          <a:noFill/>
        </p:spPr>
        <p:txBody>
          <a:bodyPr wrap="square" lIns="0" tIns="0" rIns="0" bIns="0">
            <a:spAutoFit/>
          </a:bodyPr>
          <a:lstStyle/>
          <a:p>
            <a:pPr>
              <a:defRPr sz="1200" b="1">
                <a:solidFill>
                  <a:srgbClr val="38BDF8"/>
                </a:solidFill>
                <a:latin typeface="Segoe UI"/>
              </a:defRPr>
            </a:pPr>
            <a:r>
              <a:t>01 | PILOTAGE SUPPLY CHAIN PAR MAGASIN</a:t>
            </a:r>
          </a:p>
        </p:txBody>
      </p:sp>
      <p:sp>
        <p:nvSpPr>
          <p:cNvPr id="12" name="TextBox 11"/>
          <p:cNvSpPr txBox="1"/>
          <p:nvPr/>
        </p:nvSpPr>
        <p:spPr>
          <a:xfrm>
            <a:off x="914400" y="4069080"/>
            <a:ext cx="4876495" cy="731520"/>
          </a:xfrm>
          <a:prstGeom prst="rect">
            <a:avLst/>
          </a:prstGeom>
          <a:noFill/>
        </p:spPr>
        <p:txBody>
          <a:bodyPr wrap="square">
            <a:spAutoFit/>
          </a:bodyPr>
          <a:lstStyle/>
          <a:p>
            <a:pPr>
              <a:defRPr sz="950" b="1">
                <a:solidFill>
                  <a:srgbClr val="38BDF8"/>
                </a:solidFill>
                <a:latin typeface="Segoe UI"/>
              </a:defRPr>
            </a:pPr>
            <a:r>
              <a:t>Ancrage Magasin :</a:t>
            </a:r>
          </a:p>
          <a:p>
            <a:pPr>
              <a:defRPr sz="900">
                <a:solidFill>
                  <a:srgbClr val="F8FAFC"/>
                </a:solidFill>
                <a:latin typeface="Segoe UI"/>
              </a:defRPr>
            </a:pPr>
            <a:r>
              <a:t>Ne pas appliquer de règles globales uniformes : adapter les stocks selon le cluster de volume (Store 4/13/20 vs Store 3/5).</a:t>
            </a:r>
          </a:p>
          <a:p>
            <a:pPr>
              <a:defRPr sz="950" b="1">
                <a:solidFill>
                  <a:srgbClr val="38BDF8"/>
                </a:solidFill>
                <a:latin typeface="Segoe UI"/>
              </a:defRPr>
            </a:pPr>
            <a:r>
              <a:t>Optimisation :</a:t>
            </a:r>
          </a:p>
          <a:p>
            <a:pPr>
              <a:defRPr sz="900">
                <a:solidFill>
                  <a:srgbClr val="F8FAFC"/>
                </a:solidFill>
                <a:latin typeface="Segoe UI"/>
              </a:defRPr>
            </a:pPr>
            <a:r>
              <a:t>Gain potentiel de 5% à 8% sur les coûts d'immobilisation de stock.</a:t>
            </a:r>
          </a:p>
        </p:txBody>
      </p:sp>
      <p:sp>
        <p:nvSpPr>
          <p:cNvPr id="13" name="Rounded Rectangle 12"/>
          <p:cNvSpPr/>
          <p:nvPr/>
        </p:nvSpPr>
        <p:spPr>
          <a:xfrm>
            <a:off x="6217920" y="3566160"/>
            <a:ext cx="5242255" cy="1280160"/>
          </a:xfrm>
          <a:prstGeom prst="round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30752"/>
            <a:ext cx="4876495" cy="365760"/>
          </a:xfrm>
          <a:prstGeom prst="rect">
            <a:avLst/>
          </a:prstGeom>
          <a:noFill/>
        </p:spPr>
        <p:txBody>
          <a:bodyPr wrap="square" lIns="0" tIns="0" rIns="0" bIns="0">
            <a:spAutoFit/>
          </a:bodyPr>
          <a:lstStyle/>
          <a:p>
            <a:pPr>
              <a:defRPr sz="1200" b="1">
                <a:solidFill>
                  <a:srgbClr val="38BDF8"/>
                </a:solidFill>
                <a:latin typeface="Segoe UI"/>
              </a:defRPr>
            </a:pPr>
            <a:r>
              <a:t>02 | ANTICIPATION DES SEMAINES FÉRIÉES</a:t>
            </a:r>
          </a:p>
        </p:txBody>
      </p:sp>
      <p:sp>
        <p:nvSpPr>
          <p:cNvPr id="15" name="TextBox 14"/>
          <p:cNvSpPr txBox="1"/>
          <p:nvPr/>
        </p:nvSpPr>
        <p:spPr>
          <a:xfrm>
            <a:off x="6400800" y="4069080"/>
            <a:ext cx="4876495" cy="731520"/>
          </a:xfrm>
          <a:prstGeom prst="rect">
            <a:avLst/>
          </a:prstGeom>
          <a:noFill/>
        </p:spPr>
        <p:txBody>
          <a:bodyPr wrap="square">
            <a:spAutoFit/>
          </a:bodyPr>
          <a:lstStyle/>
          <a:p>
            <a:pPr>
              <a:defRPr sz="950" b="1">
                <a:solidFill>
                  <a:srgbClr val="FACC15"/>
                </a:solidFill>
                <a:latin typeface="Segoe UI"/>
              </a:defRPr>
            </a:pPr>
            <a:r>
              <a:t>Planification Fêtes :</a:t>
            </a:r>
          </a:p>
          <a:p>
            <a:pPr>
              <a:defRPr sz="900">
                <a:solidFill>
                  <a:srgbClr val="F8FAFC"/>
                </a:solidFill>
                <a:latin typeface="Segoe UI"/>
              </a:defRPr>
            </a:pPr>
            <a:r>
              <a:t>Anticiper de 3 semaines l'approvisionnement des semaines 'Holiday_Flag' (+48.9k$ de boost structurel).</a:t>
            </a:r>
          </a:p>
          <a:p>
            <a:pPr>
              <a:defRPr sz="950" b="1">
                <a:solidFill>
                  <a:srgbClr val="FACC15"/>
                </a:solidFill>
                <a:latin typeface="Segoe UI"/>
              </a:defRPr>
            </a:pPr>
            <a:r>
              <a:t>Campagnes Marketing :</a:t>
            </a:r>
          </a:p>
          <a:p>
            <a:pPr>
              <a:defRPr sz="900">
                <a:solidFill>
                  <a:srgbClr val="F8FAFC"/>
                </a:solidFill>
                <a:latin typeface="Segoe UI"/>
              </a:defRPr>
            </a:pPr>
            <a:r>
              <a:t>Concentrer les investissements publicitaires sur Thanksgiving.</a:t>
            </a:r>
          </a:p>
        </p:txBody>
      </p:sp>
      <p:sp>
        <p:nvSpPr>
          <p:cNvPr id="16" name="Rounded Rectangle 15"/>
          <p:cNvSpPr/>
          <p:nvPr/>
        </p:nvSpPr>
        <p:spPr>
          <a:xfrm>
            <a:off x="731520" y="4937760"/>
            <a:ext cx="5242255" cy="12801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02352"/>
            <a:ext cx="4876495" cy="365760"/>
          </a:xfrm>
          <a:prstGeom prst="rect">
            <a:avLst/>
          </a:prstGeom>
          <a:noFill/>
        </p:spPr>
        <p:txBody>
          <a:bodyPr wrap="square" lIns="0" tIns="0" rIns="0" bIns="0">
            <a:spAutoFit/>
          </a:bodyPr>
          <a:lstStyle/>
          <a:p>
            <a:pPr>
              <a:defRPr sz="1200" b="1">
                <a:solidFill>
                  <a:srgbClr val="38BDF8"/>
                </a:solidFill>
                <a:latin typeface="Segoe UI"/>
              </a:defRPr>
            </a:pPr>
            <a:r>
              <a:t>03 | BAROMÈTRE MACROÉCONOMIQUE</a:t>
            </a:r>
          </a:p>
        </p:txBody>
      </p:sp>
      <p:sp>
        <p:nvSpPr>
          <p:cNvPr id="18" name="TextBox 17"/>
          <p:cNvSpPr txBox="1"/>
          <p:nvPr/>
        </p:nvSpPr>
        <p:spPr>
          <a:xfrm>
            <a:off x="914400" y="5440680"/>
            <a:ext cx="4876495" cy="731520"/>
          </a:xfrm>
          <a:prstGeom prst="rect">
            <a:avLst/>
          </a:prstGeom>
          <a:noFill/>
        </p:spPr>
        <p:txBody>
          <a:bodyPr wrap="square">
            <a:spAutoFit/>
          </a:bodyPr>
          <a:lstStyle/>
          <a:p>
            <a:pPr>
              <a:defRPr sz="950" b="1">
                <a:solidFill>
                  <a:srgbClr val="F59E0B"/>
                </a:solidFill>
                <a:latin typeface="Segoe UI"/>
              </a:defRPr>
            </a:pPr>
            <a:r>
              <a:t>Sensibilité Chômage :</a:t>
            </a:r>
          </a:p>
          <a:p>
            <a:pPr>
              <a:defRPr sz="900">
                <a:solidFill>
                  <a:srgbClr val="F8FAFC"/>
                </a:solidFill>
                <a:latin typeface="Segoe UI"/>
              </a:defRPr>
            </a:pPr>
            <a:r>
              <a:t>Dans les bassins où le chômage grimpe, adapter le merchandising vers les marques premiers prix (Great Value).</a:t>
            </a:r>
          </a:p>
          <a:p>
            <a:pPr>
              <a:defRPr sz="950" b="1">
                <a:solidFill>
                  <a:srgbClr val="F59E0B"/>
                </a:solidFill>
                <a:latin typeface="Segoe UI"/>
              </a:defRPr>
            </a:pPr>
            <a:r>
              <a:t>Suivi Inflation :</a:t>
            </a:r>
          </a:p>
          <a:p>
            <a:pPr>
              <a:defRPr sz="900">
                <a:solidFill>
                  <a:srgbClr val="F8FAFC"/>
                </a:solidFill>
                <a:latin typeface="Segoe UI"/>
              </a:defRPr>
            </a:pPr>
            <a:r>
              <a:t>Ajuster la politique de remises selon l'évolution du CPI local.</a:t>
            </a:r>
          </a:p>
        </p:txBody>
      </p:sp>
      <p:sp>
        <p:nvSpPr>
          <p:cNvPr id="19" name="Rounded Rectangle 18"/>
          <p:cNvSpPr/>
          <p:nvPr/>
        </p:nvSpPr>
        <p:spPr>
          <a:xfrm>
            <a:off x="6217920" y="4937760"/>
            <a:ext cx="5242255" cy="12801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5102352"/>
            <a:ext cx="4876495" cy="365760"/>
          </a:xfrm>
          <a:prstGeom prst="rect">
            <a:avLst/>
          </a:prstGeom>
          <a:noFill/>
        </p:spPr>
        <p:txBody>
          <a:bodyPr wrap="square" lIns="0" tIns="0" rIns="0" bIns="0">
            <a:spAutoFit/>
          </a:bodyPr>
          <a:lstStyle/>
          <a:p>
            <a:pPr>
              <a:defRPr sz="1200" b="1">
                <a:solidFill>
                  <a:srgbClr val="38BDF8"/>
                </a:solidFill>
                <a:latin typeface="Segoe UI"/>
              </a:defRPr>
            </a:pPr>
            <a:r>
              <a:t>04 | DÉPLOIEMENT INDUSTRIEL MLOPS</a:t>
            </a:r>
          </a:p>
        </p:txBody>
      </p:sp>
      <p:sp>
        <p:nvSpPr>
          <p:cNvPr id="21" name="TextBox 20"/>
          <p:cNvSpPr txBox="1"/>
          <p:nvPr/>
        </p:nvSpPr>
        <p:spPr>
          <a:xfrm>
            <a:off x="6400800" y="5440680"/>
            <a:ext cx="4876495" cy="731520"/>
          </a:xfrm>
          <a:prstGeom prst="rect">
            <a:avLst/>
          </a:prstGeom>
          <a:noFill/>
        </p:spPr>
        <p:txBody>
          <a:bodyPr wrap="square">
            <a:spAutoFit/>
          </a:bodyPr>
          <a:lstStyle/>
          <a:p>
            <a:pPr>
              <a:defRPr sz="950" b="1">
                <a:solidFill>
                  <a:srgbClr val="10B981"/>
                </a:solidFill>
                <a:latin typeface="Segoe UI"/>
              </a:defRPr>
            </a:pPr>
            <a:r>
              <a:t>Modèle Retenu :</a:t>
            </a:r>
          </a:p>
          <a:p>
            <a:pPr>
              <a:defRPr sz="900">
                <a:solidFill>
                  <a:srgbClr val="F8FAFC"/>
                </a:solidFill>
                <a:latin typeface="Segoe UI"/>
              </a:defRPr>
            </a:pPr>
            <a:r>
              <a:t>Déployer le pipeline Lasso (alpha=1000) sous forme d'API de scoring hebdomadaire.</a:t>
            </a:r>
          </a:p>
          <a:p>
            <a:pPr>
              <a:defRPr sz="950" b="1">
                <a:solidFill>
                  <a:srgbClr val="10B981"/>
                </a:solidFill>
                <a:latin typeface="Segoe UI"/>
              </a:defRPr>
            </a:pPr>
            <a:r>
              <a:t>Réentraînement :</a:t>
            </a:r>
          </a:p>
          <a:p>
            <a:pPr>
              <a:defRPr sz="900">
                <a:solidFill>
                  <a:srgbClr val="F8FAFC"/>
                </a:solidFill>
                <a:latin typeface="Segoe UI"/>
              </a:defRPr>
            </a:pPr>
            <a:r>
              <a:t>Mise à jour mensuelle du modèle pour intégrer les nouvelles données de vente.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