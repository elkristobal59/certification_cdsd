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1675"/>
  <p:notesSz cx="6858000" cy="9144000"/>
  <p:embeddedFontLst>
    <p:embeddedFont>
      <p:font typeface="Inter SemiBold"/>
      <p:regular r:id="rId15"/>
      <p:bold r:id="rId16"/>
      <p:italic r:id="rId17"/>
      <p:boldItalic r:id="rId18"/>
    </p:embeddedFont>
    <p:embeddedFont>
      <p:font typeface="Inter"/>
      <p:regular r:id="rId19"/>
      <p:bold r:id="rId20"/>
      <p:italic r:id="rId21"/>
      <p:boldItalic r:id="rId22"/>
    </p:embeddedFont>
    <p:embeddedFont>
      <p:font typeface="Inter ExtraBold"/>
      <p:bold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hsm5FrKNRdB5jLS6VeVz8wltUs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4F687C2-024C-4EB9-85E4-643ACDEC51A6}">
  <a:tblStyle styleId="{64F687C2-024C-4EB9-85E4-643ACDEC51A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font" Target="fonts/InterSemiBold-regular.fntdata"/><Relationship Id="rId16" Type="http://schemas.openxmlformats.org/officeDocument/2006/relationships/font" Target="fonts/InterSemiBold-bold.fntdata"/><Relationship Id="rId17" Type="http://schemas.openxmlformats.org/officeDocument/2006/relationships/font" Target="fonts/InterSemiBold-italic.fntdata"/><Relationship Id="rId18" Type="http://schemas.openxmlformats.org/officeDocument/2006/relationships/font" Target="fonts/InterSemiBold-boldItalic.fntdata"/><Relationship Id="rId19" Type="http://schemas.openxmlformats.org/officeDocument/2006/relationships/font" Target="fonts/Inter-regular.fntdata"/><Relationship Id="rId20" Type="http://schemas.openxmlformats.org/officeDocument/2006/relationships/font" Target="fonts/Inter-bold.fntdata"/><Relationship Id="rId21" Type="http://schemas.openxmlformats.org/officeDocument/2006/relationships/font" Target="fonts/Inter-italic.fntdata"/><Relationship Id="rId22" Type="http://schemas.openxmlformats.org/officeDocument/2006/relationships/font" Target="fonts/Inter-boldItalic.fntdata"/><Relationship Id="rId23" Type="http://schemas.openxmlformats.org/officeDocument/2006/relationships/font" Target="fonts/InterExtraBold-bold.fntdata"/><Relationship Id="rId24" Type="http://schemas.openxmlformats.org/officeDocument/2006/relationships/font" Target="fonts/InterExtraBold-boldItalic.fntdata"/><Relationship Id="rId25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54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762000" y="762000"/>
            <a:ext cx="3048000" cy="342900"/>
          </a:xfrm>
          <a:prstGeom prst="roundRect">
            <a:avLst>
              <a:gd fmla="val 16666" name="adj"/>
            </a:avLst>
          </a:prstGeom>
          <a:solidFill>
            <a:srgbClr val="103458"/>
          </a:solidFill>
          <a:ln cap="flat" cmpd="sng" w="14300">
            <a:solidFill>
              <a:srgbClr val="00A8E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A8E0"/>
                </a:solidFill>
                <a:latin typeface="Inter"/>
                <a:ea typeface="Inter"/>
                <a:cs typeface="Inter"/>
                <a:sym typeface="Inter"/>
              </a:rPr>
              <a:t>AT&amp;T TELECOM • CERTIFICATION CDSD</a:t>
            </a:r>
            <a:endParaRPr b="1" i="0" sz="1000" u="none" cap="none" strike="noStrike">
              <a:solidFill>
                <a:srgbClr val="00A8E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762000" y="1524000"/>
            <a:ext cx="10668000" cy="1221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0" i="0" lang="en-US" sz="52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SMS Spam Detector</a:t>
            </a:r>
            <a:endParaRPr b="0" i="0" sz="5200" u="none" cap="none" strike="noStrike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A8E0"/>
                </a:solidFill>
                <a:latin typeface="Inter"/>
                <a:ea typeface="Inter"/>
                <a:cs typeface="Inter"/>
                <a:sym typeface="Inter"/>
              </a:rPr>
              <a:t>Filtrage intelligent des menaces mobiles par Deep Learning &amp; Réseaux Récurrents (Bi-LSTM)</a:t>
            </a:r>
            <a:endParaRPr b="0" i="0" sz="1800" u="none" cap="none" strike="noStrike">
              <a:solidFill>
                <a:srgbClr val="00A8E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762000" y="4191000"/>
            <a:ext cx="10668000" cy="1714500"/>
          </a:xfrm>
          <a:prstGeom prst="roundRect">
            <a:avLst>
              <a:gd fmla="val 8888" name="adj"/>
            </a:avLst>
          </a:prstGeom>
          <a:solidFill>
            <a:srgbClr val="103458"/>
          </a:solidFill>
          <a:ln cap="flat" cmpd="sng" w="14300">
            <a:solidFill>
              <a:srgbClr val="00A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143000" y="4524375"/>
            <a:ext cx="26670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A8E0"/>
                </a:solidFill>
                <a:latin typeface="Inter"/>
                <a:ea typeface="Inter"/>
                <a:cs typeface="Inter"/>
                <a:sym typeface="Inter"/>
              </a:rPr>
              <a:t>Présenté par</a:t>
            </a:r>
            <a:endParaRPr b="1" i="0" sz="1000" u="none" cap="none" strike="noStrike">
              <a:solidFill>
                <a:srgbClr val="00A8E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Christopher Gilleron</a:t>
            </a:r>
            <a:endParaRPr b="1" i="0" sz="18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4572000" y="4524375"/>
            <a:ext cx="26670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A8E0"/>
                </a:solidFill>
                <a:latin typeface="Inter"/>
                <a:ea typeface="Inter"/>
                <a:cs typeface="Inter"/>
                <a:sym typeface="Inter"/>
              </a:rPr>
              <a:t>Date de session</a:t>
            </a:r>
            <a:endParaRPr b="1" i="0" sz="1000" u="none" cap="none" strike="noStrike">
              <a:solidFill>
                <a:srgbClr val="00A8E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8 octobre 2026</a:t>
            </a:r>
            <a:endParaRPr b="1" i="0" sz="18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8001000" y="4524375"/>
            <a:ext cx="30480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A8E0"/>
                </a:solidFill>
                <a:latin typeface="Inter"/>
                <a:ea typeface="Inter"/>
                <a:cs typeface="Inter"/>
                <a:sym typeface="Inter"/>
              </a:rPr>
              <a:t>Certification</a:t>
            </a:r>
            <a:endParaRPr b="1" i="0" sz="1000" u="none" cap="none" strike="noStrike">
              <a:solidFill>
                <a:srgbClr val="00A8E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FDAD2"/>
                </a:solidFill>
                <a:latin typeface="Inter"/>
                <a:ea typeface="Inter"/>
                <a:cs typeface="Inter"/>
                <a:sym typeface="Inter"/>
              </a:rPr>
              <a:t>CDSD BLOC 4</a:t>
            </a:r>
            <a:endParaRPr b="1" i="0" sz="1800" u="none" cap="none" strike="noStrike">
              <a:solidFill>
                <a:srgbClr val="3FDAD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10" t="0"/>
          <a:stretch/>
        </p:blipFill>
        <p:spPr>
          <a:xfrm>
            <a:off x="10708958" y="762000"/>
            <a:ext cx="720900" cy="75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/>
        </p:nvSpPr>
        <p:spPr>
          <a:xfrm>
            <a:off x="731520" y="457200"/>
            <a:ext cx="1069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A8E0"/>
                </a:solidFill>
                <a:latin typeface="Calibri"/>
                <a:ea typeface="Calibri"/>
                <a:cs typeface="Calibri"/>
                <a:sym typeface="Calibri"/>
              </a:rPr>
              <a:t>1. CONTEXTE &amp; ENJEU MÉTIER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Le défi du Smishing : un coût d'erreur asymétrique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731520" y="1645920"/>
            <a:ext cx="3383280" cy="457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914400" y="1828800"/>
            <a:ext cx="301752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🚨 L'Explosion du Smishing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• Hameçonnage bancaire, faux colis, escroqueries au gain d'argent.</a:t>
            </a:r>
            <a:b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• Dégradation de la confiance abonnés envers le réseau AT&amp;T.</a:t>
            </a:r>
            <a:b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• Nécessité absolue d'un filtrage automatique en amont à la réception.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4389120" y="1645920"/>
            <a:ext cx="3383280" cy="457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4572000" y="1828800"/>
            <a:ext cx="301752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⚖️ La Contrainte Métier Clé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• Faux Négatif (Spam qui passe) :</a:t>
            </a:r>
            <a:b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 -&gt; Simple désagrément, l'utilisateur efface le message.</a:t>
            </a:r>
            <a:b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• Faux Positif (SMS légitime bloqué) :</a:t>
            </a:r>
            <a:b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 -&gt; Rejet d'un code 2FA bancaire, confirmation médicale ou alerte d'urgence.</a:t>
            </a:r>
            <a:b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 -&gt; INACCEPTABLE pour un opérateur.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8046720" y="1645920"/>
            <a:ext cx="3383280" cy="457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A8E0"/>
                </a:solidFill>
                <a:latin typeface="Calibri"/>
                <a:ea typeface="Calibri"/>
                <a:cs typeface="Calibri"/>
                <a:sym typeface="Calibri"/>
              </a:rPr>
              <a:t>🎯 Spécifications Cibles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1. Comprendre la sémantique et la séquence des mots (dépasser les filtres par mots-clés).</a:t>
            </a:r>
            <a:b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2. Maximiser le Recall sur les spams tout en garantissant un taux de Faux Positifs &lt; 0,5 %.</a:t>
            </a:r>
            <a:b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3. Fournir une inférence temps réel ultra-légère pour le réseau.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/>
        </p:nvSpPr>
        <p:spPr>
          <a:xfrm>
            <a:off x="731520" y="381000"/>
            <a:ext cx="106986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A8E0"/>
                </a:solidFill>
                <a:latin typeface="Inter"/>
                <a:ea typeface="Inter"/>
                <a:cs typeface="Inter"/>
                <a:sym typeface="Inter"/>
              </a:rPr>
              <a:t>2. ANALYSE EXPLORATOIRE</a:t>
            </a:r>
            <a:endParaRPr b="1" sz="1100">
              <a:solidFill>
                <a:srgbClr val="00A8E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731520" y="666750"/>
            <a:ext cx="10698600" cy="36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A254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Dataset AT&amp;T : 5 572 SMS et forte asymétrie de classes</a:t>
            </a:r>
            <a:endParaRPr b="0" sz="2400">
              <a:solidFill>
                <a:srgbClr val="0A254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731520" y="1333500"/>
            <a:ext cx="3383400" cy="1190700"/>
          </a:xfrm>
          <a:prstGeom prst="roundRect">
            <a:avLst>
              <a:gd fmla="val 128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914400" y="1428750"/>
            <a:ext cx="3017400" cy="66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000">
                <a:solidFill>
                  <a:srgbClr val="0A254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5 572</a:t>
            </a:r>
            <a:endParaRPr b="0" sz="3000">
              <a:solidFill>
                <a:srgbClr val="0A254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A556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SMS analysés </a:t>
            </a:r>
            <a:r>
              <a:rPr b="0" lang="en-US" sz="1100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rPr>
              <a:t>(100% étiquetés)</a:t>
            </a:r>
            <a:endParaRPr b="0" sz="1100">
              <a:solidFill>
                <a:srgbClr val="4A556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4389120" y="1333500"/>
            <a:ext cx="3383400" cy="1190700"/>
          </a:xfrm>
          <a:prstGeom prst="roundRect">
            <a:avLst>
              <a:gd fmla="val 128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4572000" y="1428750"/>
            <a:ext cx="3017400" cy="66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000">
                <a:solidFill>
                  <a:srgbClr val="10B98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86,6 %</a:t>
            </a:r>
            <a:endParaRPr b="0" sz="3000">
              <a:solidFill>
                <a:srgbClr val="10B98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A556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Messages légitimes </a:t>
            </a:r>
            <a:r>
              <a:rPr b="0" lang="en-US" sz="1100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rPr>
              <a:t>(4 825 Ham)</a:t>
            </a:r>
            <a:endParaRPr b="0" sz="1100">
              <a:solidFill>
                <a:srgbClr val="4A556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046720" y="1333500"/>
            <a:ext cx="3383400" cy="1190700"/>
          </a:xfrm>
          <a:prstGeom prst="roundRect">
            <a:avLst>
              <a:gd fmla="val 128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8229600" y="1428750"/>
            <a:ext cx="3017400" cy="66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000">
                <a:solidFill>
                  <a:srgbClr val="EF444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13,4 %</a:t>
            </a:r>
            <a:endParaRPr b="0" sz="3000">
              <a:solidFill>
                <a:srgbClr val="EF4444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A556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Spams malveillants </a:t>
            </a:r>
            <a:r>
              <a:rPr b="0" lang="en-US" sz="1100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rPr>
              <a:t>(747 Spam)</a:t>
            </a:r>
            <a:endParaRPr b="0" sz="1100">
              <a:solidFill>
                <a:srgbClr val="4A556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731550" y="3307500"/>
            <a:ext cx="5524500" cy="24429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993750" y="3529350"/>
            <a:ext cx="5158800" cy="199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A2540"/>
                </a:solidFill>
                <a:latin typeface="Inter"/>
                <a:ea typeface="Inter"/>
                <a:cs typeface="Inter"/>
                <a:sym typeface="Inter"/>
              </a:rPr>
              <a:t>Morphologie &amp; Enjeux de Modélisation</a:t>
            </a:r>
            <a:endParaRPr b="1" sz="1500">
              <a:solidFill>
                <a:srgbClr val="0A25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A2540"/>
                </a:solidFill>
                <a:highlight>
                  <a:srgbClr val="F8FAFC"/>
                </a:highlight>
                <a:latin typeface="Inter"/>
                <a:ea typeface="Inter"/>
                <a:cs typeface="Inter"/>
                <a:sym typeface="Inter"/>
              </a:rPr>
              <a:t>📊 Longueur des textes</a:t>
            </a:r>
            <a:endParaRPr b="1" sz="1100">
              <a:solidFill>
                <a:srgbClr val="0A2540"/>
              </a:solidFill>
              <a:highlight>
                <a:srgbClr val="F8FAFC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A5568"/>
                </a:solidFill>
                <a:highlight>
                  <a:srgbClr val="F8FAFC"/>
                </a:highlight>
                <a:latin typeface="Inter"/>
                <a:ea typeface="Inter"/>
                <a:cs typeface="Inter"/>
                <a:sym typeface="Inter"/>
              </a:rPr>
              <a:t>Spams calibrés et longs (moy. = 139 car., σ = 29), saturés d'appels à l'action. Hams courts et variables (moy. = 71 car., σ = 58).</a:t>
            </a:r>
            <a:endParaRPr b="0" sz="1000">
              <a:solidFill>
                <a:srgbClr val="4A5568"/>
              </a:solidFill>
              <a:highlight>
                <a:srgbClr val="F8FAFC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B45309"/>
                </a:solidFill>
                <a:highlight>
                  <a:srgbClr val="FFFBEB"/>
                </a:highlight>
                <a:latin typeface="Inter"/>
                <a:ea typeface="Inter"/>
                <a:cs typeface="Inter"/>
                <a:sym typeface="Inter"/>
              </a:rPr>
              <a:t>⚠️ Piège de l'Accuracy</a:t>
            </a:r>
            <a:endParaRPr b="1" sz="1100">
              <a:solidFill>
                <a:srgbClr val="B45309"/>
              </a:solidFill>
              <a:highlight>
                <a:srgbClr val="FFFBEB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78350F"/>
                </a:solidFill>
                <a:highlight>
                  <a:srgbClr val="FFFBEB"/>
                </a:highlight>
                <a:latin typeface="Inter"/>
                <a:ea typeface="Inter"/>
                <a:cs typeface="Inter"/>
                <a:sym typeface="Inter"/>
              </a:rPr>
              <a:t>Un modèle prédisant systématiquement 'Ham' atteindrait 86,6 % d'accuracy tout en ayant 0 % d'utilité pratique.</a:t>
            </a:r>
            <a:endParaRPr b="0" sz="1000">
              <a:solidFill>
                <a:srgbClr val="78350F"/>
              </a:solidFill>
              <a:highlight>
                <a:srgbClr val="FFFBEB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A2540"/>
                </a:solidFill>
                <a:highlight>
                  <a:srgbClr val="F8FAFC"/>
                </a:highlight>
                <a:latin typeface="Inter"/>
                <a:ea typeface="Inter"/>
                <a:cs typeface="Inter"/>
                <a:sym typeface="Inter"/>
              </a:rPr>
              <a:t>🎯 Rigueur méthodologique</a:t>
            </a:r>
            <a:endParaRPr b="1" sz="1100">
              <a:solidFill>
                <a:srgbClr val="0A2540"/>
              </a:solidFill>
              <a:highlight>
                <a:srgbClr val="F8FAFC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A5568"/>
                </a:solidFill>
                <a:highlight>
                  <a:srgbClr val="F8FAFC"/>
                </a:highlight>
                <a:latin typeface="Inter"/>
                <a:ea typeface="Inter"/>
                <a:cs typeface="Inter"/>
                <a:sym typeface="Inter"/>
              </a:rPr>
              <a:t>Partition Train/Test 80/20 avec stratification (stratify=y) pour maintenir exactement le ratio 86,6 / 13,4.</a:t>
            </a:r>
            <a:endParaRPr b="0" sz="1000">
              <a:solidFill>
                <a:srgbClr val="4A5568"/>
              </a:solidFill>
              <a:highlight>
                <a:srgbClr val="F8FAFC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6446520" y="2714625"/>
            <a:ext cx="4983600" cy="3810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3675" y="3267075"/>
            <a:ext cx="4787700" cy="270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"/>
          <p:cNvSpPr/>
          <p:nvPr/>
        </p:nvSpPr>
        <p:spPr>
          <a:xfrm>
            <a:off x="731520" y="1333500"/>
            <a:ext cx="3383400" cy="38100"/>
          </a:xfrm>
          <a:prstGeom prst="roundRect">
            <a:avLst>
              <a:gd fmla="val 50000" name="adj"/>
            </a:avLst>
          </a:prstGeom>
          <a:solidFill>
            <a:srgbClr val="00A8E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4389120" y="1333500"/>
            <a:ext cx="3383400" cy="381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8046720" y="1333500"/>
            <a:ext cx="3383400" cy="3810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/>
          <p:nvPr/>
        </p:nvSpPr>
        <p:spPr>
          <a:xfrm>
            <a:off x="731520" y="457200"/>
            <a:ext cx="1069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A8E0"/>
                </a:solidFill>
                <a:latin typeface="Calibri"/>
                <a:ea typeface="Calibri"/>
                <a:cs typeface="Calibri"/>
                <a:sym typeface="Calibri"/>
              </a:rPr>
              <a:t>3. BENCHMARK &amp; BASELINE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Baseline classique : TF-IDF + Régression Logistique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731525" y="1314925"/>
            <a:ext cx="5120700" cy="4902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1051590" y="1556750"/>
            <a:ext cx="45720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Approche Sac de Mots (N-Grammes)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1. Nettoyage &amp; Normalisation textuelle.</a:t>
            </a:r>
            <a:b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2. Vectorisation TF-IDF (mots + bigrammes, max_features=5 000).</a:t>
            </a:r>
            <a:b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  -&gt; Capte les paires révélatrices ('claim prize', 'call now', 'txt stop').</a:t>
            </a:r>
            <a:b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3. Classifieur linéaire : Régression Logistique (L2 penalty).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3E3E"/>
                </a:solidFill>
                <a:latin typeface="Calibri"/>
                <a:ea typeface="Calibri"/>
                <a:cs typeface="Calibri"/>
                <a:sym typeface="Calibri"/>
              </a:rPr>
              <a:t>⚠️ Limite structurelle de la Baseline :</a:t>
            </a:r>
            <a:br>
              <a:rPr b="0" i="0" lang="en-US" sz="1200" u="none" cap="none" strike="noStrike">
                <a:solidFill>
                  <a:srgbClr val="E53E3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E53E3E"/>
                </a:solidFill>
                <a:latin typeface="Calibri"/>
                <a:ea typeface="Calibri"/>
                <a:cs typeface="Calibri"/>
                <a:sym typeface="Calibri"/>
              </a:rPr>
              <a:t>Elle traite les mots comme des sacs indépendants, sans ordre ni dépendances séquentielles lointaines.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6138570" y="1371595"/>
            <a:ext cx="5212200" cy="457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1051588" y="3773150"/>
            <a:ext cx="4663500" cy="23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>Performances de Référence (Seuil 0,50)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>• Accuracy globale : 97,2 % • Précision (Spam) : 99,2 % (1 seul faux positif sur 966 hams) • Rappel / Recall (Spam) : 79,9 % (30 spams non détectés sur 149) • F1-Score (Spam) : 0,885 • ROC-AUC : 0,986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>Verdict Baseline : Précision quasi-parfaite (99,2 %), mais le rappel laisse s'échapper 20,1 % des spams malveillants (30 spams ratés sur 149). Un modèle séquentiel profond est indispensable.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2212" y="1900975"/>
            <a:ext cx="4663500" cy="3730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 txBox="1"/>
          <p:nvPr/>
        </p:nvSpPr>
        <p:spPr>
          <a:xfrm>
            <a:off x="731520" y="381000"/>
            <a:ext cx="106986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A8E0"/>
                </a:solidFill>
                <a:latin typeface="Inter"/>
                <a:ea typeface="Inter"/>
                <a:cs typeface="Inter"/>
                <a:sym typeface="Inter"/>
              </a:rPr>
              <a:t>4. ARCHITECTURE DEEP LEARNING</a:t>
            </a:r>
            <a:endParaRPr b="1" sz="1300">
              <a:solidFill>
                <a:srgbClr val="00A8E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731520" y="666750"/>
            <a:ext cx="10698600" cy="3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0A254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Réseau Récurrent Bidirectionnel (Embedding + Bi-LSTM)</a:t>
            </a:r>
            <a:endParaRPr b="0" sz="2200">
              <a:solidFill>
                <a:srgbClr val="0A254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39" name="Google Shape;139;p5"/>
          <p:cNvGrpSpPr/>
          <p:nvPr/>
        </p:nvGrpSpPr>
        <p:grpSpPr>
          <a:xfrm>
            <a:off x="731520" y="1285875"/>
            <a:ext cx="4953000" cy="4572075"/>
            <a:chOff x="731520" y="1285875"/>
            <a:chExt cx="4953000" cy="4572075"/>
          </a:xfrm>
        </p:grpSpPr>
        <p:pic>
          <p:nvPicPr>
            <p:cNvPr id="140" name="Google Shape;140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28713" y="1714500"/>
              <a:ext cx="28500" cy="3372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1" name="Google Shape;141;p5"/>
            <p:cNvGrpSpPr/>
            <p:nvPr/>
          </p:nvGrpSpPr>
          <p:grpSpPr>
            <a:xfrm>
              <a:off x="731520" y="1285875"/>
              <a:ext cx="4953000" cy="1000200"/>
              <a:chOff x="0" y="0"/>
              <a:chExt cx="4953000" cy="1000200"/>
            </a:xfrm>
          </p:grpSpPr>
          <p:sp>
            <p:nvSpPr>
              <p:cNvPr id="142" name="Google Shape;142;p5"/>
              <p:cNvSpPr/>
              <p:nvPr/>
            </p:nvSpPr>
            <p:spPr>
              <a:xfrm>
                <a:off x="0" y="0"/>
                <a:ext cx="4953000" cy="1000200"/>
              </a:xfrm>
              <a:prstGeom prst="roundRect">
                <a:avLst>
                  <a:gd fmla="val 13333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5"/>
              <p:cNvSpPr/>
              <p:nvPr/>
            </p:nvSpPr>
            <p:spPr>
              <a:xfrm>
                <a:off x="0" y="0"/>
                <a:ext cx="57300" cy="1000200"/>
              </a:xfrm>
              <a:prstGeom prst="roundRect">
                <a:avLst>
                  <a:gd fmla="val 50000" name="adj"/>
                </a:avLst>
              </a:prstGeom>
              <a:solidFill>
                <a:srgbClr val="00A8E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5"/>
              <p:cNvSpPr/>
              <p:nvPr/>
            </p:nvSpPr>
            <p:spPr>
              <a:xfrm>
                <a:off x="219075" y="309563"/>
                <a:ext cx="381000" cy="381000"/>
              </a:xfrm>
              <a:prstGeom prst="ellipse">
                <a:avLst/>
              </a:prstGeom>
              <a:solidFill>
                <a:srgbClr val="E0F2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5"/>
              <p:cNvSpPr txBox="1"/>
              <p:nvPr/>
            </p:nvSpPr>
            <p:spPr>
              <a:xfrm>
                <a:off x="219075" y="309563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00A8E0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01</a:t>
                </a:r>
                <a:endParaRPr b="0" sz="1300">
                  <a:solidFill>
                    <a:srgbClr val="00A8E0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  <p:sp>
            <p:nvSpPr>
              <p:cNvPr id="146" name="Google Shape;146;p5"/>
              <p:cNvSpPr txBox="1"/>
              <p:nvPr/>
            </p:nvSpPr>
            <p:spPr>
              <a:xfrm>
                <a:off x="762000" y="142875"/>
                <a:ext cx="40005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0A2540"/>
                    </a:solidFill>
                    <a:latin typeface="Inter"/>
                    <a:ea typeface="Inter"/>
                    <a:cs typeface="Inter"/>
                    <a:sym typeface="Inter"/>
                  </a:rPr>
                  <a:t>1. Tokenizer &amp; Padding</a:t>
                </a:r>
                <a:endParaRPr b="1" sz="1400">
                  <a:solidFill>
                    <a:srgbClr val="0A254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Vocabulaire 10 000 mots + &lt;OOV&gt;</a:t>
                </a:r>
                <a:br>
                  <a:rPr lang="en-US" sz="11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</a:br>
                <a:r>
                  <a:rPr lang="en-US" sz="11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Padding fixe maxlen=100 tokens</a:t>
                </a:r>
                <a:endParaRPr sz="11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47" name="Google Shape;147;p5"/>
            <p:cNvGrpSpPr/>
            <p:nvPr/>
          </p:nvGrpSpPr>
          <p:grpSpPr>
            <a:xfrm>
              <a:off x="731520" y="2476500"/>
              <a:ext cx="4953000" cy="1000200"/>
              <a:chOff x="0" y="0"/>
              <a:chExt cx="4953000" cy="1000200"/>
            </a:xfrm>
          </p:grpSpPr>
          <p:sp>
            <p:nvSpPr>
              <p:cNvPr id="148" name="Google Shape;148;p5"/>
              <p:cNvSpPr/>
              <p:nvPr/>
            </p:nvSpPr>
            <p:spPr>
              <a:xfrm>
                <a:off x="0" y="0"/>
                <a:ext cx="4953000" cy="1000200"/>
              </a:xfrm>
              <a:prstGeom prst="roundRect">
                <a:avLst>
                  <a:gd fmla="val 13333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5"/>
              <p:cNvSpPr/>
              <p:nvPr/>
            </p:nvSpPr>
            <p:spPr>
              <a:xfrm>
                <a:off x="0" y="0"/>
                <a:ext cx="57300" cy="1000200"/>
              </a:xfrm>
              <a:prstGeom prst="roundRect">
                <a:avLst>
                  <a:gd fmla="val 50000" name="adj"/>
                </a:avLst>
              </a:prstGeom>
              <a:solidFill>
                <a:srgbClr val="00A8E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219075" y="309563"/>
                <a:ext cx="381000" cy="381000"/>
              </a:xfrm>
              <a:prstGeom prst="ellipse">
                <a:avLst/>
              </a:prstGeom>
              <a:solidFill>
                <a:srgbClr val="E0F2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5"/>
              <p:cNvSpPr txBox="1"/>
              <p:nvPr/>
            </p:nvSpPr>
            <p:spPr>
              <a:xfrm>
                <a:off x="219075" y="309563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00A8E0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02</a:t>
                </a:r>
                <a:endParaRPr b="0" sz="1300">
                  <a:solidFill>
                    <a:srgbClr val="00A8E0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  <p:sp>
            <p:nvSpPr>
              <p:cNvPr id="152" name="Google Shape;152;p5"/>
              <p:cNvSpPr txBox="1"/>
              <p:nvPr/>
            </p:nvSpPr>
            <p:spPr>
              <a:xfrm>
                <a:off x="762000" y="142875"/>
                <a:ext cx="40005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0A2540"/>
                    </a:solidFill>
                    <a:latin typeface="Inter"/>
                    <a:ea typeface="Inter"/>
                    <a:cs typeface="Inter"/>
                    <a:sym typeface="Inter"/>
                  </a:rPr>
                  <a:t>2. Embedding Layer</a:t>
                </a:r>
                <a:endParaRPr b="1" sz="1400">
                  <a:solidFill>
                    <a:srgbClr val="0A254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Espace dense 32 dimensions</a:t>
                </a:r>
                <a:br>
                  <a:rPr lang="en-US" sz="11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</a:br>
                <a:r>
                  <a:rPr lang="en-US" sz="11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Apprentissage des proximités sémantiques</a:t>
                </a:r>
                <a:endParaRPr sz="11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731520" y="3667125"/>
              <a:ext cx="4953000" cy="1000200"/>
              <a:chOff x="0" y="0"/>
              <a:chExt cx="4953000" cy="100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0" y="0"/>
                <a:ext cx="4953000" cy="1000200"/>
              </a:xfrm>
              <a:prstGeom prst="roundRect">
                <a:avLst>
                  <a:gd fmla="val 13333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0" y="0"/>
                <a:ext cx="57300" cy="1000200"/>
              </a:xfrm>
              <a:prstGeom prst="roundRect">
                <a:avLst>
                  <a:gd fmla="val 50000" name="adj"/>
                </a:avLst>
              </a:prstGeom>
              <a:solidFill>
                <a:srgbClr val="00A8E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219075" y="309563"/>
                <a:ext cx="381000" cy="381000"/>
              </a:xfrm>
              <a:prstGeom prst="ellipse">
                <a:avLst/>
              </a:prstGeom>
              <a:solidFill>
                <a:srgbClr val="E0F2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5"/>
              <p:cNvSpPr txBox="1"/>
              <p:nvPr/>
            </p:nvSpPr>
            <p:spPr>
              <a:xfrm>
                <a:off x="219075" y="309563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00A8E0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03</a:t>
                </a:r>
                <a:endParaRPr b="0" sz="1300">
                  <a:solidFill>
                    <a:srgbClr val="00A8E0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  <p:sp>
            <p:nvSpPr>
              <p:cNvPr id="158" name="Google Shape;158;p5"/>
              <p:cNvSpPr txBox="1"/>
              <p:nvPr/>
            </p:nvSpPr>
            <p:spPr>
              <a:xfrm>
                <a:off x="762000" y="142875"/>
                <a:ext cx="40005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0A2540"/>
                    </a:solidFill>
                    <a:latin typeface="Inter"/>
                    <a:ea typeface="Inter"/>
                    <a:cs typeface="Inter"/>
                    <a:sym typeface="Inter"/>
                  </a:rPr>
                  <a:t>3. Bidirectional LSTM</a:t>
                </a:r>
                <a:endParaRPr b="1" sz="1400">
                  <a:solidFill>
                    <a:srgbClr val="0A254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32 unités par sens (64 features)</a:t>
                </a:r>
                <a:br>
                  <a:rPr lang="en-US" sz="11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</a:br>
                <a:r>
                  <a:rPr lang="en-US" sz="11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Capture du contexte gauche &amp; droite</a:t>
                </a:r>
                <a:endParaRPr sz="11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59" name="Google Shape;159;p5"/>
            <p:cNvGrpSpPr/>
            <p:nvPr/>
          </p:nvGrpSpPr>
          <p:grpSpPr>
            <a:xfrm>
              <a:off x="731520" y="4857750"/>
              <a:ext cx="4953000" cy="1000200"/>
              <a:chOff x="0" y="0"/>
              <a:chExt cx="4953000" cy="1000200"/>
            </a:xfrm>
          </p:grpSpPr>
          <p:sp>
            <p:nvSpPr>
              <p:cNvPr id="160" name="Google Shape;160;p5"/>
              <p:cNvSpPr/>
              <p:nvPr/>
            </p:nvSpPr>
            <p:spPr>
              <a:xfrm>
                <a:off x="0" y="0"/>
                <a:ext cx="4953000" cy="1000200"/>
              </a:xfrm>
              <a:prstGeom prst="roundRect">
                <a:avLst>
                  <a:gd fmla="val 13333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5"/>
              <p:cNvSpPr/>
              <p:nvPr/>
            </p:nvSpPr>
            <p:spPr>
              <a:xfrm>
                <a:off x="0" y="0"/>
                <a:ext cx="57300" cy="1000200"/>
              </a:xfrm>
              <a:prstGeom prst="roundRect">
                <a:avLst>
                  <a:gd fmla="val 50000" name="adj"/>
                </a:avLst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5"/>
              <p:cNvSpPr/>
              <p:nvPr/>
            </p:nvSpPr>
            <p:spPr>
              <a:xfrm>
                <a:off x="219075" y="309563"/>
                <a:ext cx="381000" cy="381000"/>
              </a:xfrm>
              <a:prstGeom prst="ellipse">
                <a:avLst/>
              </a:prstGeom>
              <a:solidFill>
                <a:srgbClr val="D1FAE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5"/>
              <p:cNvSpPr txBox="1"/>
              <p:nvPr/>
            </p:nvSpPr>
            <p:spPr>
              <a:xfrm>
                <a:off x="219075" y="309563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10B981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04</a:t>
                </a:r>
                <a:endParaRPr b="0" sz="1300">
                  <a:solidFill>
                    <a:srgbClr val="10B981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  <p:sp>
            <p:nvSpPr>
              <p:cNvPr id="164" name="Google Shape;164;p5"/>
              <p:cNvSpPr txBox="1"/>
              <p:nvPr/>
            </p:nvSpPr>
            <p:spPr>
              <a:xfrm>
                <a:off x="762000" y="142875"/>
                <a:ext cx="40005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0A2540"/>
                    </a:solidFill>
                    <a:latin typeface="Inter"/>
                    <a:ea typeface="Inter"/>
                    <a:cs typeface="Inter"/>
                    <a:sym typeface="Inter"/>
                  </a:rPr>
                  <a:t>4. Dense + Dropout + Output</a:t>
                </a:r>
                <a:endParaRPr b="1" sz="1400">
                  <a:solidFill>
                    <a:srgbClr val="0A254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Dense ReLU 32 -&gt; Dropout 0.2</a:t>
                </a:r>
                <a:br>
                  <a:rPr lang="en-US" sz="11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</a:br>
                <a:r>
                  <a:rPr lang="en-US" sz="11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Dense Sigmoid 1 -&gt; P(Spam) [0, 1]</a:t>
                </a:r>
                <a:endParaRPr sz="11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65" name="Google Shape;165;p5"/>
          <p:cNvGrpSpPr/>
          <p:nvPr/>
        </p:nvGrpSpPr>
        <p:grpSpPr>
          <a:xfrm>
            <a:off x="6031230" y="1238250"/>
            <a:ext cx="5429400" cy="4619513"/>
            <a:chOff x="6031230" y="1238250"/>
            <a:chExt cx="5429400" cy="4619513"/>
          </a:xfrm>
        </p:grpSpPr>
        <p:sp>
          <p:nvSpPr>
            <p:cNvPr id="166" name="Google Shape;166;p5"/>
            <p:cNvSpPr txBox="1"/>
            <p:nvPr/>
          </p:nvSpPr>
          <p:spPr>
            <a:xfrm>
              <a:off x="6031230" y="1238250"/>
              <a:ext cx="5429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0A2540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Atouts Clés de l'Architecture</a:t>
              </a:r>
              <a:endParaRPr b="0" sz="1500">
                <a:solidFill>
                  <a:srgbClr val="0A2540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grpSp>
          <p:nvGrpSpPr>
            <p:cNvPr id="167" name="Google Shape;167;p5"/>
            <p:cNvGrpSpPr/>
            <p:nvPr/>
          </p:nvGrpSpPr>
          <p:grpSpPr>
            <a:xfrm>
              <a:off x="6031230" y="1643063"/>
              <a:ext cx="5429400" cy="1285800"/>
              <a:chOff x="0" y="0"/>
              <a:chExt cx="5429400" cy="1285800"/>
            </a:xfrm>
          </p:grpSpPr>
          <p:sp>
            <p:nvSpPr>
              <p:cNvPr id="168" name="Google Shape;168;p5"/>
              <p:cNvSpPr/>
              <p:nvPr/>
            </p:nvSpPr>
            <p:spPr>
              <a:xfrm>
                <a:off x="0" y="0"/>
                <a:ext cx="5429400" cy="1285800"/>
              </a:xfrm>
              <a:prstGeom prst="roundRect">
                <a:avLst>
                  <a:gd fmla="val 10370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5"/>
              <p:cNvSpPr/>
              <p:nvPr/>
            </p:nvSpPr>
            <p:spPr>
              <a:xfrm>
                <a:off x="190500" y="171450"/>
                <a:ext cx="952500" cy="228600"/>
              </a:xfrm>
              <a:prstGeom prst="roundRect">
                <a:avLst>
                  <a:gd fmla="val 50000" name="adj"/>
                </a:avLst>
              </a:prstGeom>
              <a:solidFill>
                <a:srgbClr val="E0F2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5"/>
              <p:cNvSpPr txBox="1"/>
              <p:nvPr/>
            </p:nvSpPr>
            <p:spPr>
              <a:xfrm>
                <a:off x="190500" y="171450"/>
                <a:ext cx="952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00A8E0"/>
                    </a:solidFill>
                    <a:latin typeface="Inter"/>
                    <a:ea typeface="Inter"/>
                    <a:cs typeface="Inter"/>
                    <a:sym typeface="Inter"/>
                  </a:rPr>
                  <a:t>EMBEDDING</a:t>
                </a:r>
                <a:endParaRPr b="1" sz="900">
                  <a:solidFill>
                    <a:srgbClr val="00A8E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1" name="Google Shape;171;p5"/>
              <p:cNvSpPr txBox="1"/>
              <p:nvPr/>
            </p:nvSpPr>
            <p:spPr>
              <a:xfrm>
                <a:off x="190500" y="457200"/>
                <a:ext cx="50484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0A2540"/>
                    </a:solidFill>
                    <a:latin typeface="Inter"/>
                    <a:ea typeface="Inter"/>
                    <a:cs typeface="Inter"/>
                    <a:sym typeface="Inter"/>
                  </a:rPr>
                  <a:t>Pourquoi l'Embedding ?</a:t>
                </a:r>
                <a:endParaRPr b="1" sz="1300">
                  <a:solidFill>
                    <a:srgbClr val="0A254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Remplace le one-hot sparse par des vecteurs sémantiques riches. Deux mots proches en sens ont des vecteurs voisins.</a:t>
                </a:r>
                <a:endParaRPr sz="11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72" name="Google Shape;172;p5"/>
            <p:cNvGrpSpPr/>
            <p:nvPr/>
          </p:nvGrpSpPr>
          <p:grpSpPr>
            <a:xfrm>
              <a:off x="6031230" y="3071813"/>
              <a:ext cx="5429400" cy="1285800"/>
              <a:chOff x="0" y="0"/>
              <a:chExt cx="5429400" cy="1285800"/>
            </a:xfrm>
          </p:grpSpPr>
          <p:sp>
            <p:nvSpPr>
              <p:cNvPr id="173" name="Google Shape;173;p5"/>
              <p:cNvSpPr/>
              <p:nvPr/>
            </p:nvSpPr>
            <p:spPr>
              <a:xfrm>
                <a:off x="0" y="0"/>
                <a:ext cx="5429400" cy="1285800"/>
              </a:xfrm>
              <a:prstGeom prst="roundRect">
                <a:avLst>
                  <a:gd fmla="val 10370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5"/>
              <p:cNvSpPr/>
              <p:nvPr/>
            </p:nvSpPr>
            <p:spPr>
              <a:xfrm>
                <a:off x="190500" y="171450"/>
                <a:ext cx="1047900" cy="228600"/>
              </a:xfrm>
              <a:prstGeom prst="roundRect">
                <a:avLst>
                  <a:gd fmla="val 50000" name="adj"/>
                </a:avLst>
              </a:prstGeom>
              <a:solidFill>
                <a:srgbClr val="E0F2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5"/>
              <p:cNvSpPr txBox="1"/>
              <p:nvPr/>
            </p:nvSpPr>
            <p:spPr>
              <a:xfrm>
                <a:off x="190500" y="171450"/>
                <a:ext cx="1047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00A8E0"/>
                    </a:solidFill>
                    <a:latin typeface="Inter"/>
                    <a:ea typeface="Inter"/>
                    <a:cs typeface="Inter"/>
                    <a:sym typeface="Inter"/>
                  </a:rPr>
                  <a:t>BIDIRECTIONNEL</a:t>
                </a:r>
                <a:endParaRPr b="1" sz="900">
                  <a:solidFill>
                    <a:srgbClr val="00A8E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6" name="Google Shape;176;p5"/>
              <p:cNvSpPr txBox="1"/>
              <p:nvPr/>
            </p:nvSpPr>
            <p:spPr>
              <a:xfrm>
                <a:off x="190500" y="457200"/>
                <a:ext cx="50484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0A2540"/>
                    </a:solidFill>
                    <a:latin typeface="Inter"/>
                    <a:ea typeface="Inter"/>
                    <a:cs typeface="Inter"/>
                    <a:sym typeface="Inter"/>
                  </a:rPr>
                  <a:t>Pourquoi Bidirectionnel ?</a:t>
                </a:r>
                <a:endParaRPr b="1" sz="1300">
                  <a:solidFill>
                    <a:srgbClr val="0A254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Dans un SMS de phishing, le lien d'arnaque est souvent à la fin mais modifie le sens des mots du début ('Urgent, vérifiez ici').</a:t>
                </a:r>
                <a:endParaRPr sz="11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77" name="Google Shape;177;p5"/>
            <p:cNvGrpSpPr/>
            <p:nvPr/>
          </p:nvGrpSpPr>
          <p:grpSpPr>
            <a:xfrm>
              <a:off x="6031230" y="4500563"/>
              <a:ext cx="5429400" cy="1357200"/>
              <a:chOff x="0" y="0"/>
              <a:chExt cx="5429400" cy="1357200"/>
            </a:xfrm>
          </p:grpSpPr>
          <p:sp>
            <p:nvSpPr>
              <p:cNvPr id="178" name="Google Shape;178;p5"/>
              <p:cNvSpPr/>
              <p:nvPr/>
            </p:nvSpPr>
            <p:spPr>
              <a:xfrm>
                <a:off x="0" y="0"/>
                <a:ext cx="5429400" cy="1357200"/>
              </a:xfrm>
              <a:prstGeom prst="roundRect">
                <a:avLst>
                  <a:gd fmla="val 982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5"/>
              <p:cNvSpPr/>
              <p:nvPr/>
            </p:nvSpPr>
            <p:spPr>
              <a:xfrm>
                <a:off x="190500" y="171450"/>
                <a:ext cx="1143000" cy="228600"/>
              </a:xfrm>
              <a:prstGeom prst="roundRect">
                <a:avLst>
                  <a:gd fmla="val 50000" name="adj"/>
                </a:avLst>
              </a:prstGeom>
              <a:solidFill>
                <a:srgbClr val="FEF3C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5"/>
              <p:cNvSpPr txBox="1"/>
              <p:nvPr/>
            </p:nvSpPr>
            <p:spPr>
              <a:xfrm>
                <a:off x="190500" y="171450"/>
                <a:ext cx="1143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D97706"/>
                    </a:solidFill>
                    <a:latin typeface="Inter"/>
                    <a:ea typeface="Inter"/>
                    <a:cs typeface="Inter"/>
                    <a:sym typeface="Inter"/>
                  </a:rPr>
                  <a:t>RÉGULARISATION</a:t>
                </a:r>
                <a:endParaRPr b="1" sz="900">
                  <a:solidFill>
                    <a:srgbClr val="D9770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1" name="Google Shape;181;p5"/>
              <p:cNvSpPr txBox="1"/>
              <p:nvPr/>
            </p:nvSpPr>
            <p:spPr>
              <a:xfrm>
                <a:off x="190500" y="457200"/>
                <a:ext cx="5048400" cy="78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0A2540"/>
                    </a:solidFill>
                    <a:latin typeface="Inter"/>
                    <a:ea typeface="Inter"/>
                    <a:cs typeface="Inter"/>
                    <a:sym typeface="Inter"/>
                  </a:rPr>
                  <a:t>Régularisation &amp; Early Stopping</a:t>
                </a:r>
                <a:endParaRPr b="1" sz="1300">
                  <a:solidFill>
                    <a:srgbClr val="0A254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Dropout 20 % et arrêt automatique avec restauration des meilleurs poids pour éliminer tout surapprentissage.</a:t>
                </a:r>
                <a:endParaRPr sz="11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 txBox="1"/>
          <p:nvPr/>
        </p:nvSpPr>
        <p:spPr>
          <a:xfrm>
            <a:off x="731520" y="381000"/>
            <a:ext cx="106986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A8E0"/>
                </a:solidFill>
                <a:latin typeface="Calibri"/>
                <a:ea typeface="Calibri"/>
                <a:cs typeface="Calibri"/>
                <a:sym typeface="Calibri"/>
              </a:rPr>
              <a:t>5. ÉVALUATION DES PERFORMANCES</a:t>
            </a:r>
            <a:endParaRPr b="1" sz="2000">
              <a:solidFill>
                <a:srgbClr val="00A8E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 txBox="1"/>
          <p:nvPr/>
        </p:nvSpPr>
        <p:spPr>
          <a:xfrm>
            <a:off x="731520" y="647700"/>
            <a:ext cx="10698600" cy="3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Gain substantiel sur le rappel des spams sans perte de précision</a:t>
            </a:r>
            <a:endParaRPr b="1" sz="2200">
              <a:solidFill>
                <a:srgbClr val="0A25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731520" y="1143000"/>
            <a:ext cx="5334000" cy="53340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89" name="Google Shape;189;p6"/>
          <p:cNvGraphicFramePr/>
          <p:nvPr/>
        </p:nvGraphicFramePr>
        <p:xfrm>
          <a:off x="922020" y="1285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{64F687C2-024C-4EB9-85E4-643ACDEC51A6}</a:tableStyleId>
              </a:tblPr>
              <a:tblGrid>
                <a:gridCol w="1651000"/>
                <a:gridCol w="1651000"/>
                <a:gridCol w="1651000"/>
              </a:tblGrid>
              <a:tr h="631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Métrique</a:t>
                      </a:r>
                      <a:endParaRPr b="1">
                        <a:solidFill>
                          <a:srgbClr val="47556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38100" marL="38100">
                    <a:lnB cap="flat" cmpd="sng" w="190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Baseline LogReg</a:t>
                      </a:r>
                    </a:p>
                  </a:txBody>
                  <a:tcPr marT="76200" marB="76200" marR="38100" marL="38100">
                    <a:lnB cap="flat" cmpd="sng" w="190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Bi-LSTM Keras</a:t>
                      </a:r>
                    </a:p>
                  </a:txBody>
                  <a:tcPr marT="76200" marB="76200" marR="38100" marL="38100">
                    <a:lnB cap="flat" cmpd="sng" w="190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1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>
                        <a:solidFill>
                          <a:srgbClr val="33415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38100" marL="38100">
                    <a:lnT cap="flat" cmpd="sng" w="190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97,2 %</a:t>
                      </a:r>
                    </a:p>
                  </a:txBody>
                  <a:tcPr marT="76200" marB="76200" marR="38100" marL="38100">
                    <a:lnT cap="flat" cmpd="sng" w="190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98,6 %</a:t>
                      </a:r>
                    </a:p>
                  </a:txBody>
                  <a:tcPr marT="76200" marB="76200" marR="38100" marL="38100">
                    <a:lnT cap="flat" cmpd="sng" w="190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1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Précision (Spam)</a:t>
                      </a:r>
                      <a:endParaRPr>
                        <a:solidFill>
                          <a:srgbClr val="33415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99,2 %</a:t>
                      </a:r>
                    </a:p>
                  </a:txBody>
                  <a:tcPr marT="76200" marB="76200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95,2 %</a:t>
                      </a:r>
                    </a:p>
                  </a:txBody>
                  <a:tcPr marT="76200" marB="76200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1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0369A1"/>
                          </a:solidFill>
                          <a:highlight>
                            <a:srgbClr val="F0F9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Rappel / Recall (Spam)</a:t>
                      </a:r>
                      <a:endParaRPr b="1">
                        <a:solidFill>
                          <a:srgbClr val="0369A1"/>
                        </a:solidFill>
                        <a:highlight>
                          <a:srgbClr val="F0F9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79,9 %</a:t>
                      </a:r>
                    </a:p>
                  </a:txBody>
                  <a:tcPr marT="76200" marB="76200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94,0 % (+14,1 pts)</a:t>
                      </a:r>
                    </a:p>
                  </a:txBody>
                  <a:tcPr marT="76200" marB="76200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</a:tr>
              <a:tr h="631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0369A1"/>
                          </a:solidFill>
                          <a:highlight>
                            <a:srgbClr val="F0F9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F1-Score (Spam)</a:t>
                      </a:r>
                      <a:endParaRPr b="1">
                        <a:solidFill>
                          <a:srgbClr val="0369A1"/>
                        </a:solidFill>
                        <a:highlight>
                          <a:srgbClr val="F0F9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0,885</a:t>
                      </a:r>
                    </a:p>
                  </a:txBody>
                  <a:tcPr marT="76200" marB="76200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0,946 (+0,061 pt)</a:t>
                      </a:r>
                    </a:p>
                  </a:txBody>
                  <a:tcPr marT="76200" marB="76200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</a:tr>
              <a:tr h="631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ROC-AUC</a:t>
                      </a:r>
                      <a:endParaRPr>
                        <a:solidFill>
                          <a:srgbClr val="33415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0,986</a:t>
                      </a:r>
                    </a:p>
                  </a:txBody>
                  <a:tcPr marT="76200" marB="76200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0,992</a:t>
                      </a:r>
                    </a:p>
                  </a:txBody>
                  <a:tcPr marT="76200" marB="76200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1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991B1B"/>
                          </a:solidFill>
                          <a:highlight>
                            <a:srgbClr val="FEF2F2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Faux Négatifs (Ratés)</a:t>
                      </a:r>
                      <a:endParaRPr b="1">
                        <a:solidFill>
                          <a:srgbClr val="991B1B"/>
                        </a:solidFill>
                        <a:highlight>
                          <a:srgbClr val="FEF2F2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 marT="76200" marB="76200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 (divisé par 3,3 !)</a:t>
                      </a:r>
                    </a:p>
                  </a:txBody>
                  <a:tcPr marT="76200" marB="76200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</a:tr>
              <a:tr h="631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Faux Positifs (Erreurs)</a:t>
                      </a:r>
                      <a:endParaRPr>
                        <a:solidFill>
                          <a:srgbClr val="33415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T="76200" marB="76200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T="76200" marB="76200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190" name="Google Shape;190;p6"/>
          <p:cNvSpPr/>
          <p:nvPr/>
        </p:nvSpPr>
        <p:spPr>
          <a:xfrm>
            <a:off x="6256020" y="1143000"/>
            <a:ext cx="5364600" cy="2524200"/>
          </a:xfrm>
          <a:prstGeom prst="roundRect">
            <a:avLst>
              <a:gd fmla="val 6037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 txBox="1"/>
          <p:nvPr/>
        </p:nvSpPr>
        <p:spPr>
          <a:xfrm>
            <a:off x="6446520" y="1285875"/>
            <a:ext cx="4983600" cy="22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Analyse Opérationnelle</a:t>
            </a:r>
            <a:endParaRPr b="1" sz="1600">
              <a:solidFill>
                <a:srgbClr val="00A8E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>1. Détection accrue</a:t>
            </a:r>
            <a:endParaRPr b="1" sz="11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t>Le Bi-LSTM divise par plus de trois le volume de spams non interceptés (de 30 à seulement 9 spams manqués sur 149).</a:t>
            </a:r>
            <a:endParaRPr sz="105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t>2. Compréhension du contexte</a:t>
            </a:r>
            <a:endParaRPr b="1" sz="11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t>Le modèle neutralise les variantes lexicales et repère les structures grammaticales types du hameçonnage.</a:t>
            </a:r>
            <a:endParaRPr sz="105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t>3. Stabilité</a:t>
            </a:r>
            <a:endParaRPr b="1" sz="11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t>La courbe de validation montre une convergence rapide sans divergence entre train_loss et val_loss.</a:t>
            </a:r>
            <a:endParaRPr sz="105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2" name="Google Shape;192;p6"/>
          <p:cNvGrpSpPr/>
          <p:nvPr/>
        </p:nvGrpSpPr>
        <p:grpSpPr>
          <a:xfrm>
            <a:off x="6256020" y="3810000"/>
            <a:ext cx="5364600" cy="2667000"/>
            <a:chOff x="0" y="0"/>
            <a:chExt cx="5364600" cy="2667000"/>
          </a:xfrm>
        </p:grpSpPr>
        <p:sp>
          <p:nvSpPr>
            <p:cNvPr id="193" name="Google Shape;193;p6"/>
            <p:cNvSpPr/>
            <p:nvPr/>
          </p:nvSpPr>
          <p:spPr>
            <a:xfrm>
              <a:off x="0" y="0"/>
              <a:ext cx="5364600" cy="26670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4" name="Google Shape;194;p6"/>
            <p:cNvPicPr preferRelativeResize="0"/>
            <p:nvPr/>
          </p:nvPicPr>
          <p:blipFill rotWithShape="1">
            <a:blip r:embed="rId3">
              <a:alphaModFix/>
            </a:blip>
            <a:srcRect b="0" l="8160" r="8151" t="0"/>
            <a:stretch/>
          </p:blipFill>
          <p:spPr>
            <a:xfrm>
              <a:off x="114300" y="114300"/>
              <a:ext cx="5136000" cy="2438400"/>
            </a:xfrm>
            <a:prstGeom prst="roundRect">
              <a:avLst>
                <a:gd fmla="val 3906" name="adj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"/>
          <p:cNvSpPr txBox="1"/>
          <p:nvPr/>
        </p:nvSpPr>
        <p:spPr>
          <a:xfrm>
            <a:off x="731520" y="342900"/>
            <a:ext cx="106986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A8E0"/>
                </a:solidFill>
                <a:latin typeface="Calibri"/>
                <a:ea typeface="Calibri"/>
                <a:cs typeface="Calibri"/>
                <a:sym typeface="Calibri"/>
              </a:rPr>
              <a:t>6. DÉPLOIEMENT &amp; AJUSTEMENT MÉTIER</a:t>
            </a:r>
            <a:endParaRPr b="1" sz="2000">
              <a:solidFill>
                <a:srgbClr val="00A8E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731520" y="609600"/>
            <a:ext cx="10698600" cy="3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Pilotage du seuil de décision &amp; Application Streamlit</a:t>
            </a:r>
            <a:endParaRPr b="1" sz="2200">
              <a:solidFill>
                <a:srgbClr val="0A25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731520" y="1143000"/>
            <a:ext cx="5219700" cy="2190900"/>
          </a:xfrm>
          <a:prstGeom prst="roundRect">
            <a:avLst>
              <a:gd fmla="val 695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6240780" y="1143000"/>
            <a:ext cx="5219700" cy="2190900"/>
          </a:xfrm>
          <a:prstGeom prst="roundRect">
            <a:avLst>
              <a:gd fmla="val 695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731520" y="3486150"/>
            <a:ext cx="10728900" cy="3086100"/>
          </a:xfrm>
          <a:prstGeom prst="roundRect">
            <a:avLst>
              <a:gd fmla="val 493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 txBox="1"/>
          <p:nvPr/>
        </p:nvSpPr>
        <p:spPr>
          <a:xfrm>
            <a:off x="883920" y="1257300"/>
            <a:ext cx="4914900" cy="1439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Le Seuil comme Curseur Métier</a:t>
            </a:r>
            <a:endParaRPr b="1" sz="1500">
              <a:solidFill>
                <a:srgbClr val="0A25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●"/>
            </a:pPr>
            <a:r>
              <a:t>• Politique Équilibrée (Seuil = 0,67 - 0,70) : Optimum F1-score à 0,959. Capture 93,3 % des spams (139/149) avec seulement 2 faux positifs sur 966 hams.</a:t>
            </a:r>
            <a:endParaRPr b="0" sz="11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45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●"/>
            </a:pPr>
            <a:r>
              <a:t>• Politique Défensive AT&amp;T (Seuil = 0,90) : Priorité absolue : 0 Faux Positif garanti (100 % précision). Seuls les spams formellement certifiés sont bloqués. Taux de capture = 91,3 %.</a:t>
            </a:r>
            <a:endParaRPr b="0" sz="11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45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●"/>
            </a:pPr>
            <a:r>
              <a:t>• En production (Architecture 3 zones) : P &lt; 0,30 : Boîte directe. 0,30 ≤ P &lt; 0,70 : Dossier Quarantaine / Indésirables. P ≥ 0,70 (ou 0,90) : Blocage réseau direct.</a:t>
            </a:r>
            <a:endParaRPr b="0" sz="11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 txBox="1"/>
          <p:nvPr/>
        </p:nvSpPr>
        <p:spPr>
          <a:xfrm>
            <a:off x="6393180" y="1257300"/>
            <a:ext cx="4914900" cy="1562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A8E0"/>
                </a:solidFill>
                <a:latin typeface="Calibri"/>
                <a:ea typeface="Calibri"/>
                <a:cs typeface="Calibri"/>
                <a:sym typeface="Calibri"/>
              </a:rPr>
              <a:t>Interface Interactive Streamlit (app.py)</a:t>
            </a:r>
            <a:endParaRPr b="1" sz="1500">
              <a:solidFill>
                <a:srgbClr val="00A8E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rtl="0" algn="l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Char char="●"/>
            </a:pPr>
            <a:r>
              <a:rPr b="0"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Analyse en direct d'un SMS saisi ou test d'exemples types.</a:t>
            </a:r>
            <a:endParaRPr b="0" sz="11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rtl="0" algn="l">
              <a:spcBef>
                <a:spcPts val="375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Char char="●"/>
            </a:pPr>
            <a:r>
              <a:rPr b="0"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Jauge visuelle de probabilité de spam.</a:t>
            </a:r>
            <a:endParaRPr b="0" sz="11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rtl="0" algn="l">
              <a:spcBef>
                <a:spcPts val="375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Char char="●"/>
            </a:pPr>
            <a:r>
              <a:rPr b="0"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Curseur dynamique de seuil ajustable pour simuler les politiques de sécurité du réseau.</a:t>
            </a:r>
            <a:endParaRPr b="0" sz="11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rtl="0" algn="l">
              <a:spcBef>
                <a:spcPts val="375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Char char="●"/>
            </a:pPr>
            <a:r>
              <a:rPr b="0"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Surlignage immédiat des mots et patterns suspects.</a:t>
            </a:r>
            <a:endParaRPr b="0" sz="11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rtl="0" algn="l">
              <a:spcBef>
                <a:spcPts val="375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Char char="●"/>
            </a:pPr>
            <a:r>
              <a:rPr b="0"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Démonstration opérationnelle à disposition du jury.</a:t>
            </a:r>
            <a:endParaRPr b="0" sz="11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5925" y="3638550"/>
            <a:ext cx="8820600" cy="277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540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"/>
          <p:cNvSpPr txBox="1"/>
          <p:nvPr/>
        </p:nvSpPr>
        <p:spPr>
          <a:xfrm>
            <a:off x="731520" y="457200"/>
            <a:ext cx="1069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A8E0"/>
                </a:solidFill>
                <a:latin typeface="Calibri"/>
                <a:ea typeface="Calibri"/>
                <a:cs typeface="Calibri"/>
                <a:sym typeface="Calibri"/>
              </a:rPr>
              <a:t>7. SYNTHÈSE &amp; PERSPECTIVES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8"/>
          <p:cNvSpPr txBox="1"/>
          <p:nvPr/>
        </p:nvSpPr>
        <p:spPr>
          <a:xfrm>
            <a:off x="731520" y="777240"/>
            <a:ext cx="10698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Bilan du Bloc 4 et trajectoire industrielle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731520" y="1645920"/>
            <a:ext cx="3383400" cy="4572000"/>
          </a:xfrm>
          <a:prstGeom prst="roundRect">
            <a:avLst>
              <a:gd fmla="val 16667" name="adj"/>
            </a:avLst>
          </a:prstGeom>
          <a:solidFill>
            <a:srgbClr val="103458"/>
          </a:solidFill>
          <a:ln cap="flat" cmpd="sng" w="12700">
            <a:solidFill>
              <a:srgbClr val="00A8E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 txBox="1"/>
          <p:nvPr/>
        </p:nvSpPr>
        <p:spPr>
          <a:xfrm>
            <a:off x="914400" y="1828800"/>
            <a:ext cx="30174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🏆 Bilan du Projet</a:t>
            </a:r>
            <a:endParaRPr b="1" i="0" sz="2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>• Pipeline Deep Learning séquentiel complet validé. • F1-score de 0,946 et Recall de 94,0 % sur la classe minoritaire. • Maîtrise prouvée des mécanismes d'Embedding, Bi-LSTM et régularisation.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4389120" y="1645920"/>
            <a:ext cx="3383400" cy="4572000"/>
          </a:xfrm>
          <a:prstGeom prst="roundRect">
            <a:avLst>
              <a:gd fmla="val 16667" name="adj"/>
            </a:avLst>
          </a:prstGeom>
          <a:solidFill>
            <a:srgbClr val="103458"/>
          </a:solidFill>
          <a:ln cap="flat" cmpd="sng" w="12700">
            <a:solidFill>
              <a:srgbClr val="00A8E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 txBox="1"/>
          <p:nvPr/>
        </p:nvSpPr>
        <p:spPr>
          <a:xfrm>
            <a:off x="4572000" y="1828800"/>
            <a:ext cx="30174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 Déploiement &amp; Latence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BED7F0"/>
                </a:solidFill>
                <a:latin typeface="Calibri"/>
                <a:ea typeface="Calibri"/>
                <a:cs typeface="Calibri"/>
                <a:sym typeface="Calibri"/>
              </a:rPr>
              <a:t>• Modèle ultra-léger (&lt; 150k paramètres) assurant une inférence &lt; 5 ms par SMS.</a:t>
            </a:r>
            <a:br>
              <a:rPr b="0" i="0" lang="en-US" sz="1600" u="none" cap="none" strike="noStrike">
                <a:solidFill>
                  <a:srgbClr val="BED7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BED7F0"/>
                </a:solidFill>
                <a:latin typeface="Calibri"/>
                <a:ea typeface="Calibri"/>
                <a:cs typeface="Calibri"/>
                <a:sym typeface="Calibri"/>
              </a:rPr>
              <a:t>• Possibilité d'export TensorFlow Lite pour un filtrage 'on-device' sur le smartphone (respect de la vie privée).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8046720" y="1645920"/>
            <a:ext cx="3383400" cy="4572000"/>
          </a:xfrm>
          <a:prstGeom prst="roundRect">
            <a:avLst>
              <a:gd fmla="val 16667" name="adj"/>
            </a:avLst>
          </a:prstGeom>
          <a:solidFill>
            <a:srgbClr val="103458"/>
          </a:solidFill>
          <a:ln cap="flat" cmpd="sng" w="12700">
            <a:solidFill>
              <a:srgbClr val="00A8E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 txBox="1"/>
          <p:nvPr/>
        </p:nvSpPr>
        <p:spPr>
          <a:xfrm>
            <a:off x="8229600" y="1828800"/>
            <a:ext cx="30174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🚀 Évolutions Futures</a:t>
            </a:r>
            <a:endParaRPr b="1" i="0" sz="2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BED7F0"/>
                </a:solidFill>
                <a:latin typeface="Calibri"/>
                <a:ea typeface="Calibri"/>
                <a:cs typeface="Calibri"/>
                <a:sym typeface="Calibri"/>
              </a:rPr>
              <a:t>• Gestion multilingue : extension aux corpus multilingues (espagnol, français).</a:t>
            </a:r>
            <a:br>
              <a:rPr b="0" i="0" lang="en-US" sz="1600" u="none" cap="none" strike="noStrike">
                <a:solidFill>
                  <a:srgbClr val="BED7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BED7F0"/>
                </a:solidFill>
                <a:latin typeface="Calibri"/>
                <a:ea typeface="Calibri"/>
                <a:cs typeface="Calibri"/>
                <a:sym typeface="Calibri"/>
              </a:rPr>
              <a:t>• Transformers : fine-tuning d'un DistilBERT pour une compréhension encore plus fine du leetspeak.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