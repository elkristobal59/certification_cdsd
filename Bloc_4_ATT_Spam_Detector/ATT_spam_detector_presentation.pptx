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officedocument.obfuscatedFont" Extension="odttf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binary" PartName="/ppt/metadata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package.core-properties+xml" PartName="/docProps/core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  <Override ContentType="application/vnd.openxmlformats-officedocument.presentationml.viewProps+xml" PartName="/ppt/viewProps.xml"/>
</Types>
</file>

<file path=_rels/.rels><?xml version="1.0" encoding="UTF-8" standalone="yes"?><Relationships xmlns="http://schemas.openxmlformats.org/package/2006/relationships"><Relationship Id="rId1" Type="http://schemas.openxmlformats.org/package/2006/relationships/metadata/core-properties" Target="docProps/core.xml"/><Relationship Id="rId2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autoCompressPictures="0" embedTrueTypeFonts="1" strictFirstAndLastChars="0" saveSubsetFonts="1">
  <p:sldMasterIdLst>
    <p:sldMasterId id="2147483648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y="6858000" cx="12191675"/>
  <p:notesSz cx="6858000" cy="9144000"/>
  <p:embeddedFontLst>
    <p:embeddedFont>
      <p:font typeface="Inter"/>
      <p:bold r:id="rId14"/>
      <p:boldItalic r:id="rId15"/>
    </p:embeddedFont>
    <p:embeddedFont>
      <p:font typeface="Inter ExtraBold"/>
      <p:bold r:id="rId16"/>
      <p:boldItalic r:id="rId17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  <p:extLst>
    <p:ext uri="{EFAFB233-063F-42B5-8137-9DF3F51BA10A}">
      <p15:sldGuideLst>
        <p15:guide id="1" orient="horz" pos="2160">
          <p15:clr>
            <a:srgbClr val="000000"/>
          </p15:clr>
        </p15:guide>
        <p15:guide id="2" pos="2880">
          <p15:clr>
            <a:srgbClr val="000000"/>
          </p15:clr>
        </p15:guide>
      </p15:sldGuideLst>
    </p:ext>
    <p:ext uri="GoogleSlidesCustomDataVersion2">
      <go:slidesCustomData xmlns:go="http://customooxmlschemas.google.com/" r:id="rId18" roundtripDataSignature="AMtx7mgH9ABUIaDHVes0URLlhGjr1T7IrQ==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/>
</file>

<file path=ppt/viewProps.xml><?xml version="1.0" encoding="utf-8"?>
<p:view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Comments="0">
  <p:slideViewPr>
    <p:cSldViewPr snapToGrid="0">
      <p:cViewPr varScale="1">
        <p:scale>
          <a:sx n="100" d="100"/>
          <a:sy n="100" d="100"/>
        </p:scale>
        <p:origin x="0" y="0"/>
      </p:cViewPr>
      <p:guideLst>
        <p:guide pos="2160" orient="horz"/>
        <p:guide pos="2880"/>
      </p:guideLst>
    </p:cSldViewPr>
  </p:slideViewPr>
</p:viewPr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viewProps" Target="viewProps.xml"/><Relationship Id="rId3" Type="http://schemas.openxmlformats.org/officeDocument/2006/relationships/presProps" Target="presProp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Inter-boldItalic.fntdata"/><Relationship Id="rId14" Type="http://schemas.openxmlformats.org/officeDocument/2006/relationships/font" Target="fonts/Inter-bold.fntdata"/><Relationship Id="rId17" Type="http://schemas.openxmlformats.org/officeDocument/2006/relationships/font" Target="fonts/InterExtraBold-boldItalic.fntdata"/><Relationship Id="rId16" Type="http://schemas.openxmlformats.org/officeDocument/2006/relationships/font" Target="fonts/InterExtraBold-bold.fntdata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18" Type="http://customschemas.google.com/relationships/presentationmetadata" Target="metadata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1pPr>
            <a:lvl2pPr indent="-298450" lvl="1" marL="9144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2pPr>
            <a:lvl3pPr indent="-298450" lvl="2" marL="13716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3pPr>
            <a:lvl4pPr indent="-298450" lvl="3" marL="18288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4pPr>
            <a:lvl5pPr indent="-298450" lvl="4" marL="22860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5pPr>
            <a:lvl6pPr indent="-298450" lvl="5" marL="27432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6pPr>
            <a:lvl7pPr indent="-298450" lvl="6" marL="3200400">
              <a:spcBef>
                <a:spcPts val="0"/>
              </a:spcBef>
              <a:spcAft>
                <a:spcPts val="0"/>
              </a:spcAft>
              <a:buSzPts val="1100"/>
              <a:buChar char="●"/>
              <a:defRPr sz="1100"/>
            </a:lvl7pPr>
            <a:lvl8pPr indent="-298450" lvl="7" marL="3657600">
              <a:spcBef>
                <a:spcPts val="0"/>
              </a:spcBef>
              <a:spcAft>
                <a:spcPts val="0"/>
              </a:spcAft>
              <a:buSzPts val="1100"/>
              <a:buChar char="○"/>
              <a:defRPr sz="1100"/>
            </a:lvl8pPr>
            <a:lvl9pPr indent="-298450" lvl="8" marL="4114800">
              <a:spcBef>
                <a:spcPts val="0"/>
              </a:spcBef>
              <a:spcAft>
                <a:spcPts val="0"/>
              </a:spcAft>
              <a:buSzPts val="1100"/>
              <a:buChar char="■"/>
              <a:defRPr sz="1100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pc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2" name="Google Shape;82;p1:notes"/>
          <p:cNvSpPr/>
          <p:nvPr>
            <p:ph idx="2" type="sldImg"/>
          </p:nvPr>
        </p:nvSpPr>
        <p:spPr>
          <a:xfrm>
            <a:off x="1143225" y="685800"/>
            <a:ext cx="45723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2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4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9" name="Google Shape;129;p5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6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7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showMasterPhAnim="0" showMasterSp="0">
  <p:cSld>
    <p:spTree>
      <p:nvGrpSpPr>
        <p:cNvPr id="163" name="Shape 1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4" name="Google Shape;164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5" name="Google Shape;165;p8:notes"/>
          <p:cNvSpPr/>
          <p:nvPr>
            <p:ph idx="2" type="sldImg"/>
          </p:nvPr>
        </p:nvSpPr>
        <p:spPr>
          <a:xfrm>
            <a:off x="1143225" y="685800"/>
            <a:ext cx="457222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Blank" type="blank">
  <p:cSld name="BLANK">
    <p:spTree>
      <p:nvGrpSpPr>
        <p:cNvPr id="11" name="Shape 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" name="Google Shape;12;p1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3" name="Google Shape;13;p1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4" name="Google Shape;14;p1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Slide" type="title">
  <p:cSld name="TITLE">
    <p:spTree>
      <p:nvGrpSpPr>
        <p:cNvPr id="15" name="Shape 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" name="Google Shape;16;p11"/>
          <p:cNvSpPr txBox="1"/>
          <p:nvPr>
            <p:ph type="ctrTitle"/>
          </p:nvPr>
        </p:nvSpPr>
        <p:spPr>
          <a:xfrm>
            <a:off x="685800" y="2130425"/>
            <a:ext cx="7772400" cy="14700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7" name="Google Shape;17;p11"/>
          <p:cNvSpPr txBox="1"/>
          <p:nvPr>
            <p:ph idx="1" type="subTitle"/>
          </p:nvPr>
        </p:nvSpPr>
        <p:spPr>
          <a:xfrm>
            <a:off x="1371600" y="3886200"/>
            <a:ext cx="6400800" cy="1752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ctr">
              <a:spcBef>
                <a:spcPts val="640"/>
              </a:spcBef>
              <a:spcAft>
                <a:spcPts val="0"/>
              </a:spcAft>
              <a:buClr>
                <a:srgbClr val="888888"/>
              </a:buClr>
              <a:buSzPts val="3200"/>
              <a:buNone/>
              <a:defRPr>
                <a:solidFill>
                  <a:srgbClr val="888888"/>
                </a:solidFill>
              </a:defRPr>
            </a:lvl1pPr>
            <a:lvl2pPr lvl="1" algn="ctr">
              <a:spcBef>
                <a:spcPts val="560"/>
              </a:spcBef>
              <a:spcAft>
                <a:spcPts val="0"/>
              </a:spcAft>
              <a:buClr>
                <a:srgbClr val="888888"/>
              </a:buClr>
              <a:buSzPts val="2800"/>
              <a:buNone/>
              <a:defRPr>
                <a:solidFill>
                  <a:srgbClr val="888888"/>
                </a:solidFill>
              </a:defRPr>
            </a:lvl2pPr>
            <a:lvl3pPr lvl="2" algn="ctr">
              <a:spcBef>
                <a:spcPts val="480"/>
              </a:spcBef>
              <a:spcAft>
                <a:spcPts val="0"/>
              </a:spcAft>
              <a:buClr>
                <a:srgbClr val="888888"/>
              </a:buClr>
              <a:buSzPts val="2400"/>
              <a:buNone/>
              <a:defRPr>
                <a:solidFill>
                  <a:srgbClr val="888888"/>
                </a:solidFill>
              </a:defRPr>
            </a:lvl3pPr>
            <a:lvl4pPr lvl="3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4pPr>
            <a:lvl5pPr lvl="4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5pPr>
            <a:lvl6pPr lvl="5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6pPr>
            <a:lvl7pPr lvl="6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7pPr>
            <a:lvl8pPr lvl="7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8pPr>
            <a:lvl9pPr lvl="8" algn="ctr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18" name="Google Shape;18;p11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9" name="Google Shape;19;p11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11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Content" type="obj">
  <p:cSld name="OBJECT">
    <p:spTree>
      <p:nvGrpSpPr>
        <p:cNvPr id="21" name="Shape 2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22;p12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3" name="Google Shape;23;p12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24" name="Google Shape;24;p12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5" name="Google Shape;25;p12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12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Section Header" type="secHead">
  <p:cSld name="SECTION_HEADER">
    <p:spTree>
      <p:nvGrpSpPr>
        <p:cNvPr id="27" name="Shape 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Google Shape;28;p13"/>
          <p:cNvSpPr txBox="1"/>
          <p:nvPr>
            <p:ph type="title"/>
          </p:nvPr>
        </p:nvSpPr>
        <p:spPr>
          <a:xfrm>
            <a:off x="722313" y="4406900"/>
            <a:ext cx="7772400" cy="1362075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000"/>
              <a:buFont typeface="Calibri"/>
              <a:buNone/>
              <a:defRPr b="1" sz="4000" cap="none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13"/>
          <p:cNvSpPr txBox="1"/>
          <p:nvPr>
            <p:ph idx="1" type="body"/>
          </p:nvPr>
        </p:nvSpPr>
        <p:spPr>
          <a:xfrm>
            <a:off x="722313" y="2906713"/>
            <a:ext cx="7772400" cy="15001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00"/>
              </a:spcBef>
              <a:spcAft>
                <a:spcPts val="0"/>
              </a:spcAft>
              <a:buClr>
                <a:srgbClr val="888888"/>
              </a:buClr>
              <a:buSzPts val="2000"/>
              <a:buNone/>
              <a:defRPr sz="2000">
                <a:solidFill>
                  <a:srgbClr val="888888"/>
                </a:solidFill>
              </a:defRPr>
            </a:lvl1pPr>
            <a:lvl2pPr indent="-228600" lvl="1" marL="914400" algn="l">
              <a:spcBef>
                <a:spcPts val="360"/>
              </a:spcBef>
              <a:spcAft>
                <a:spcPts val="0"/>
              </a:spcAft>
              <a:buClr>
                <a:srgbClr val="888888"/>
              </a:buClr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spcBef>
                <a:spcPts val="320"/>
              </a:spcBef>
              <a:spcAft>
                <a:spcPts val="0"/>
              </a:spcAft>
              <a:buClr>
                <a:srgbClr val="888888"/>
              </a:buClr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spcBef>
                <a:spcPts val="280"/>
              </a:spcBef>
              <a:spcAft>
                <a:spcPts val="0"/>
              </a:spcAft>
              <a:buClr>
                <a:srgbClr val="888888"/>
              </a:buClr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0" name="Google Shape;30;p13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1" name="Google Shape;31;p13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13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wo Content" type="twoObj">
  <p:cSld name="TWO_OBJECTS">
    <p:spTree>
      <p:nvGrpSpPr>
        <p:cNvPr id="33" name="Shape 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4" name="Google Shape;34;p14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14"/>
          <p:cNvSpPr txBox="1"/>
          <p:nvPr>
            <p:ph idx="1" type="body"/>
          </p:nvPr>
        </p:nvSpPr>
        <p:spPr>
          <a:xfrm>
            <a:off x="457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6" name="Google Shape;36;p14"/>
          <p:cNvSpPr txBox="1"/>
          <p:nvPr>
            <p:ph idx="2" type="body"/>
          </p:nvPr>
        </p:nvSpPr>
        <p:spPr>
          <a:xfrm>
            <a:off x="4648200" y="1600200"/>
            <a:ext cx="4038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06400" lvl="0" marL="4572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•"/>
              <a:defRPr sz="2800"/>
            </a:lvl1pPr>
            <a:lvl2pPr indent="-381000" lvl="1" marL="9144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–"/>
              <a:defRPr sz="2400"/>
            </a:lvl2pPr>
            <a:lvl3pPr indent="-355600" lvl="2" marL="1371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 sz="1800"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 sz="1800"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9pPr>
          </a:lstStyle>
          <a:p/>
        </p:txBody>
      </p:sp>
      <p:sp>
        <p:nvSpPr>
          <p:cNvPr id="37" name="Google Shape;37;p14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14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14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mparison" type="twoTxTwoObj">
  <p:cSld name="TWO_OBJECTS_WITH_TEXT">
    <p:spTree>
      <p:nvGrpSpPr>
        <p:cNvPr id="40" name="Shape 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1" name="Google Shape;41;p15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15"/>
          <p:cNvSpPr txBox="1"/>
          <p:nvPr>
            <p:ph idx="1" type="body"/>
          </p:nvPr>
        </p:nvSpPr>
        <p:spPr>
          <a:xfrm>
            <a:off x="457200" y="1535113"/>
            <a:ext cx="4040188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3" name="Google Shape;43;p15"/>
          <p:cNvSpPr txBox="1"/>
          <p:nvPr>
            <p:ph idx="2" type="body"/>
          </p:nvPr>
        </p:nvSpPr>
        <p:spPr>
          <a:xfrm>
            <a:off x="457200" y="2174875"/>
            <a:ext cx="4040188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4" name="Google Shape;44;p15"/>
          <p:cNvSpPr txBox="1"/>
          <p:nvPr>
            <p:ph idx="3" type="body"/>
          </p:nvPr>
        </p:nvSpPr>
        <p:spPr>
          <a:xfrm>
            <a:off x="4645025" y="1535113"/>
            <a:ext cx="4041775" cy="639762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None/>
              <a:defRPr b="1" sz="2400"/>
            </a:lvl1pPr>
            <a:lvl2pPr indent="-228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None/>
              <a:defRPr b="1" sz="2000"/>
            </a:lvl2pPr>
            <a:lvl3pPr indent="-2286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 b="1" sz="1800"/>
            </a:lvl3pPr>
            <a:lvl4pPr indent="-2286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4pPr>
            <a:lvl5pPr indent="-2286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5pPr>
            <a:lvl6pPr indent="-2286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6pPr>
            <a:lvl7pPr indent="-2286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7pPr>
            <a:lvl8pPr indent="-2286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8pPr>
            <a:lvl9pPr indent="-2286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None/>
              <a:defRPr b="1" sz="1600"/>
            </a:lvl9pPr>
          </a:lstStyle>
          <a:p/>
        </p:txBody>
      </p:sp>
      <p:sp>
        <p:nvSpPr>
          <p:cNvPr id="45" name="Google Shape;45;p15"/>
          <p:cNvSpPr txBox="1"/>
          <p:nvPr>
            <p:ph idx="4" type="body"/>
          </p:nvPr>
        </p:nvSpPr>
        <p:spPr>
          <a:xfrm>
            <a:off x="4645025" y="2174875"/>
            <a:ext cx="4041775" cy="39512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81000" lvl="0" marL="4572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1pPr>
            <a:lvl2pPr indent="-355600" lvl="1" marL="914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 sz="1800"/>
            </a:lvl3pPr>
            <a:lvl4pPr indent="-330200" lvl="3" marL="1828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–"/>
              <a:defRPr sz="1600"/>
            </a:lvl4pPr>
            <a:lvl5pPr indent="-330200" lvl="4" marL="22860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»"/>
              <a:defRPr sz="1600"/>
            </a:lvl5pPr>
            <a:lvl6pPr indent="-330200" lvl="5" marL="27432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6pPr>
            <a:lvl7pPr indent="-330200" lvl="6" marL="32004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7pPr>
            <a:lvl8pPr indent="-330200" lvl="7" marL="36576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8pPr>
            <a:lvl9pPr indent="-330200" lvl="8" marL="4114800" algn="l">
              <a:spcBef>
                <a:spcPts val="320"/>
              </a:spcBef>
              <a:spcAft>
                <a:spcPts val="0"/>
              </a:spcAft>
              <a:buClr>
                <a:schemeClr val="dk1"/>
              </a:buClr>
              <a:buSzPts val="1600"/>
              <a:buChar char="•"/>
              <a:defRPr sz="1600"/>
            </a:lvl9pPr>
          </a:lstStyle>
          <a:p/>
        </p:txBody>
      </p:sp>
      <p:sp>
        <p:nvSpPr>
          <p:cNvPr id="46" name="Google Shape;46;p15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15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15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Only" type="titleOnly">
  <p:cSld name="TITLE_ONLY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16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16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16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16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Content with Caption" type="objTx">
  <p:cSld name="OBJECT_WITH_CAPTION_TEXT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17"/>
          <p:cNvSpPr txBox="1"/>
          <p:nvPr>
            <p:ph type="title"/>
          </p:nvPr>
        </p:nvSpPr>
        <p:spPr>
          <a:xfrm>
            <a:off x="457200" y="273050"/>
            <a:ext cx="3008313" cy="1162050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17"/>
          <p:cNvSpPr txBox="1"/>
          <p:nvPr>
            <p:ph idx="1" type="body"/>
          </p:nvPr>
        </p:nvSpPr>
        <p:spPr>
          <a:xfrm>
            <a:off x="3575050" y="273050"/>
            <a:ext cx="5111750" cy="5853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Char char="•"/>
              <a:defRPr sz="3200"/>
            </a:lvl1pPr>
            <a:lvl2pPr indent="-406400" lvl="1" marL="91440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Char char="–"/>
              <a:defRPr sz="2800"/>
            </a:lvl2pPr>
            <a:lvl3pPr indent="-381000" lvl="2" marL="137160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Char char="•"/>
              <a:defRPr sz="2400"/>
            </a:lvl3pPr>
            <a:lvl4pPr indent="-355600" lvl="3" marL="1828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–"/>
              <a:defRPr sz="2000"/>
            </a:lvl4pPr>
            <a:lvl5pPr indent="-355600" lvl="4" marL="22860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»"/>
              <a:defRPr sz="2000"/>
            </a:lvl5pPr>
            <a:lvl6pPr indent="-355600" lvl="5" marL="27432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6pPr>
            <a:lvl7pPr indent="-355600" lvl="6" marL="32004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7pPr>
            <a:lvl8pPr indent="-355600" lvl="7" marL="36576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8pPr>
            <a:lvl9pPr indent="-355600" lvl="8" marL="411480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Char char="•"/>
              <a:defRPr sz="2000"/>
            </a:lvl9pPr>
          </a:lstStyle>
          <a:p/>
        </p:txBody>
      </p:sp>
      <p:sp>
        <p:nvSpPr>
          <p:cNvPr id="57" name="Google Shape;57;p17"/>
          <p:cNvSpPr txBox="1"/>
          <p:nvPr>
            <p:ph idx="2" type="body"/>
          </p:nvPr>
        </p:nvSpPr>
        <p:spPr>
          <a:xfrm>
            <a:off x="457200" y="1435100"/>
            <a:ext cx="3008313" cy="46910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58" name="Google Shape;58;p17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17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17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Picture with Caption" type="picTx">
  <p:cSld name="PICTURE_WITH_CAPTION_TEXT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18"/>
          <p:cNvSpPr txBox="1"/>
          <p:nvPr>
            <p:ph type="title"/>
          </p:nvPr>
        </p:nvSpPr>
        <p:spPr>
          <a:xfrm>
            <a:off x="1792288" y="4800600"/>
            <a:ext cx="5486400" cy="566738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rm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Calibri"/>
              <a:buNone/>
              <a:defRPr b="1" sz="2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18"/>
          <p:cNvSpPr/>
          <p:nvPr>
            <p:ph idx="2" type="pic"/>
          </p:nvPr>
        </p:nvSpPr>
        <p:spPr>
          <a:xfrm>
            <a:off x="1792288" y="612775"/>
            <a:ext cx="5486400" cy="4114800"/>
          </a:xfrm>
          <a:prstGeom prst="rect">
            <a:avLst/>
          </a:prstGeom>
          <a:noFill/>
          <a:ln>
            <a:noFill/>
          </a:ln>
        </p:spPr>
      </p:sp>
      <p:sp>
        <p:nvSpPr>
          <p:cNvPr id="64" name="Google Shape;64;p18"/>
          <p:cNvSpPr txBox="1"/>
          <p:nvPr>
            <p:ph idx="1" type="body"/>
          </p:nvPr>
        </p:nvSpPr>
        <p:spPr>
          <a:xfrm>
            <a:off x="1792288" y="5367338"/>
            <a:ext cx="5486400" cy="80486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228600" lvl="0" marL="457200" algn="l">
              <a:spcBef>
                <a:spcPts val="280"/>
              </a:spcBef>
              <a:spcAft>
                <a:spcPts val="0"/>
              </a:spcAft>
              <a:buClr>
                <a:schemeClr val="dk1"/>
              </a:buClr>
              <a:buSzPts val="1400"/>
              <a:buNone/>
              <a:defRPr sz="1400"/>
            </a:lvl1pPr>
            <a:lvl2pPr indent="-228600" lvl="1" marL="914400" algn="l">
              <a:spcBef>
                <a:spcPts val="240"/>
              </a:spcBef>
              <a:spcAft>
                <a:spcPts val="0"/>
              </a:spcAft>
              <a:buClr>
                <a:schemeClr val="dk1"/>
              </a:buClr>
              <a:buSzPts val="1200"/>
              <a:buNone/>
              <a:defRPr sz="1200"/>
            </a:lvl2pPr>
            <a:lvl3pPr indent="-228600" lvl="2" marL="1371600" algn="l">
              <a:spcBef>
                <a:spcPts val="200"/>
              </a:spcBef>
              <a:spcAft>
                <a:spcPts val="0"/>
              </a:spcAft>
              <a:buClr>
                <a:schemeClr val="dk1"/>
              </a:buClr>
              <a:buSzPts val="1000"/>
              <a:buNone/>
              <a:defRPr sz="1000"/>
            </a:lvl3pPr>
            <a:lvl4pPr indent="-228600" lvl="3" marL="1828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4pPr>
            <a:lvl5pPr indent="-228600" lvl="4" marL="22860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5pPr>
            <a:lvl6pPr indent="-228600" lvl="5" marL="27432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6pPr>
            <a:lvl7pPr indent="-228600" lvl="6" marL="32004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7pPr>
            <a:lvl8pPr indent="-228600" lvl="7" marL="36576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8pPr>
            <a:lvl9pPr indent="-228600" lvl="8" marL="4114800" algn="l">
              <a:spcBef>
                <a:spcPts val="180"/>
              </a:spcBef>
              <a:spcAft>
                <a:spcPts val="0"/>
              </a:spcAft>
              <a:buClr>
                <a:schemeClr val="dk1"/>
              </a:buClr>
              <a:buSzPts val="900"/>
              <a:buNone/>
              <a:defRPr sz="900"/>
            </a:lvl9pPr>
          </a:lstStyle>
          <a:p/>
        </p:txBody>
      </p:sp>
      <p:sp>
        <p:nvSpPr>
          <p:cNvPr id="65" name="Google Shape;65;p18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6" name="Google Shape;66;p18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7" name="Google Shape;67;p18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Title and Vertical Text" type="vertTx">
  <p:cSld name="VERTICAL_TEXT">
    <p:spTree>
      <p:nvGrpSpPr>
        <p:cNvPr id="68" name="Shape 6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9" name="Google Shape;69;p1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0" name="Google Shape;70;p19"/>
          <p:cNvSpPr txBox="1"/>
          <p:nvPr>
            <p:ph idx="1" type="body"/>
          </p:nvPr>
        </p:nvSpPr>
        <p:spPr>
          <a:xfrm rot="5400000">
            <a:off x="2309019" y="-251618"/>
            <a:ext cx="4525963" cy="82296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1" name="Google Shape;71;p1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3" name="Google Shape;73;p1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 matchingName="Vertical Title and Text" type="vertTitleAndTx">
  <p:cSld name="VERTICAL_TITLE_AND_VERTICAL_TEXT"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20"/>
          <p:cNvSpPr txBox="1"/>
          <p:nvPr>
            <p:ph type="title"/>
          </p:nvPr>
        </p:nvSpPr>
        <p:spPr>
          <a:xfrm rot="5400000">
            <a:off x="4732338" y="2171701"/>
            <a:ext cx="5851525" cy="20574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20"/>
          <p:cNvSpPr txBox="1"/>
          <p:nvPr>
            <p:ph idx="1" type="body"/>
          </p:nvPr>
        </p:nvSpPr>
        <p:spPr>
          <a:xfrm rot="5400000">
            <a:off x="541338" y="190500"/>
            <a:ext cx="5851525" cy="6019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342900" lvl="0" marL="457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1pPr>
            <a:lvl2pPr indent="-342900" lvl="1" marL="914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2pPr>
            <a:lvl3pPr indent="-342900" lvl="2" marL="1371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3pPr>
            <a:lvl4pPr indent="-342900" lvl="3" marL="1828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–"/>
              <a:defRPr/>
            </a:lvl4pPr>
            <a:lvl5pPr indent="-342900" lvl="4" marL="22860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»"/>
              <a:defRPr/>
            </a:lvl5pPr>
            <a:lvl6pPr indent="-342900" lvl="5" marL="27432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6pPr>
            <a:lvl7pPr indent="-342900" lvl="6" marL="32004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7pPr>
            <a:lvl8pPr indent="-342900" lvl="7" marL="36576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8pPr>
            <a:lvl9pPr indent="-342900" lvl="8" marL="4114800" algn="l">
              <a:spcBef>
                <a:spcPts val="360"/>
              </a:spcBef>
              <a:spcAft>
                <a:spcPts val="0"/>
              </a:spcAft>
              <a:buClr>
                <a:schemeClr val="dk1"/>
              </a:buClr>
              <a:buSzPts val="1800"/>
              <a:buChar char="•"/>
              <a:defRPr/>
            </a:lvl9pPr>
          </a:lstStyle>
          <a:p/>
        </p:txBody>
      </p:sp>
      <p:sp>
        <p:nvSpPr>
          <p:cNvPr id="77" name="Google Shape;77;p20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8" name="Google Shape;78;p20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ct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20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r">
              <a:spcBef>
                <a:spcPts val="0"/>
              </a:spcBef>
              <a:buNone/>
              <a:defRPr/>
            </a:lvl1pPr>
            <a:lvl2pPr indent="0" lvl="1" marL="0" algn="r">
              <a:spcBef>
                <a:spcPts val="0"/>
              </a:spcBef>
              <a:buNone/>
              <a:defRPr/>
            </a:lvl2pPr>
            <a:lvl3pPr indent="0" lvl="2" marL="0" algn="r">
              <a:spcBef>
                <a:spcPts val="0"/>
              </a:spcBef>
              <a:buNone/>
              <a:defRPr/>
            </a:lvl3pPr>
            <a:lvl4pPr indent="0" lvl="3" marL="0" algn="r">
              <a:spcBef>
                <a:spcPts val="0"/>
              </a:spcBef>
              <a:buNone/>
              <a:defRPr/>
            </a:lvl4pPr>
            <a:lvl5pPr indent="0" lvl="4" marL="0" algn="r">
              <a:spcBef>
                <a:spcPts val="0"/>
              </a:spcBef>
              <a:buNone/>
              <a:defRPr/>
            </a:lvl5pPr>
            <a:lvl6pPr indent="0" lvl="5" marL="0" algn="r">
              <a:spcBef>
                <a:spcPts val="0"/>
              </a:spcBef>
              <a:buNone/>
              <a:defRPr/>
            </a:lvl6pPr>
            <a:lvl7pPr indent="0" lvl="6" marL="0" algn="r">
              <a:spcBef>
                <a:spcPts val="0"/>
              </a:spcBef>
              <a:buNone/>
              <a:defRPr/>
            </a:lvl7pPr>
            <a:lvl8pPr indent="0" lvl="7" marL="0" algn="r">
              <a:spcBef>
                <a:spcPts val="0"/>
              </a:spcBef>
              <a:buNone/>
              <a:defRPr/>
            </a:lvl8pPr>
            <a:lvl9pPr indent="0" lvl="8" marL="0" algn="r">
              <a:spcBef>
                <a:spcPts val="0"/>
              </a:spcBef>
              <a:buNone/>
              <a:defRPr/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9"/>
          <p:cNvSpPr txBox="1"/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rm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4400"/>
              <a:buFont typeface="Calibri"/>
              <a:buNone/>
              <a:defRPr b="0" i="0" sz="4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7" name="Google Shape;7;p9"/>
          <p:cNvSpPr txBox="1"/>
          <p:nvPr>
            <p:ph idx="1" type="body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rmAutofit/>
          </a:bodyPr>
          <a:lstStyle>
            <a:lvl1pPr indent="-431800" lvl="0" marL="457200" marR="0" rtl="0" algn="l">
              <a:spcBef>
                <a:spcPts val="640"/>
              </a:spcBef>
              <a:spcAft>
                <a:spcPts val="0"/>
              </a:spcAft>
              <a:buClr>
                <a:schemeClr val="dk1"/>
              </a:buClr>
              <a:buSzPts val="3200"/>
              <a:buFont typeface="Arial"/>
              <a:buChar char="•"/>
              <a:defRPr b="0" i="0" sz="3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406400" lvl="1" marL="914400" marR="0" rtl="0" algn="l">
              <a:spcBef>
                <a:spcPts val="56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Char char="–"/>
              <a:defRPr b="0" i="0" sz="2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381000" lvl="2" marL="1371600" marR="0" rtl="0" algn="l">
              <a:spcBef>
                <a:spcPts val="480"/>
              </a:spcBef>
              <a:spcAft>
                <a:spcPts val="0"/>
              </a:spcAft>
              <a:buClr>
                <a:schemeClr val="dk1"/>
              </a:buClr>
              <a:buSzPts val="2400"/>
              <a:buFont typeface="Arial"/>
              <a:buChar char="•"/>
              <a:defRPr b="0" i="0" sz="24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355600" lvl="3" marL="1828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–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355600" lvl="4" marL="22860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»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355600" lvl="5" marL="27432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355600" lvl="6" marL="32004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355600" lvl="7" marL="36576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355600" lvl="8" marL="4114800" marR="0" rtl="0" algn="l">
              <a:spcBef>
                <a:spcPts val="400"/>
              </a:spcBef>
              <a:spcAft>
                <a:spcPts val="0"/>
              </a:spcAft>
              <a:buClr>
                <a:schemeClr val="dk1"/>
              </a:buClr>
              <a:buSzPts val="2000"/>
              <a:buFont typeface="Arial"/>
              <a:buChar char="•"/>
              <a:defRPr b="0" i="0" sz="20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p9"/>
          <p:cNvSpPr txBox="1"/>
          <p:nvPr>
            <p:ph idx="10" type="dt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9" name="Google Shape;9;p9"/>
          <p:cNvSpPr txBox="1"/>
          <p:nvPr>
            <p:ph idx="11" type="ftr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ct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10" name="Google Shape;10;p9"/>
          <p:cNvSpPr txBox="1"/>
          <p:nvPr>
            <p:ph idx="12" type="sldNum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0" lvl="1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0" lvl="2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0" lvl="3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0" lvl="4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0" lvl="5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0" lvl="6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0" lvl="7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0" lvl="8" marL="0" marR="0" rtl="0" algn="r">
              <a:spcBef>
                <a:spcPts val="0"/>
              </a:spcBef>
              <a:buNone/>
              <a:defRPr b="0" i="0" sz="1200" u="none" cap="none" strike="noStrike">
                <a:solidFill>
                  <a:srgbClr val="888888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US"/>
              <a:t>‹#›</a:t>
            </a:fld>
            <a:endParaRPr/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pc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2540"/>
        </a:solidFill>
      </p:bgPr>
    </p:bg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"/>
          <p:cNvSpPr/>
          <p:nvPr/>
        </p:nvSpPr>
        <p:spPr>
          <a:xfrm>
            <a:off x="762000" y="762000"/>
            <a:ext cx="3048000" cy="342900"/>
          </a:xfrm>
          <a:prstGeom prst="roundRect">
            <a:avLst>
              <a:gd fmla="val 16666" name="adj"/>
            </a:avLst>
          </a:prstGeom>
          <a:solidFill>
            <a:srgbClr val="103458"/>
          </a:solidFill>
          <a:ln cap="flat" cmpd="sng" w="14300">
            <a:solidFill>
              <a:srgbClr val="00A8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A8E0"/>
                </a:solidFill>
                <a:latin typeface="Inter"/>
                <a:ea typeface="Inter"/>
                <a:cs typeface="Inter"/>
                <a:sym typeface="Inter"/>
              </a:rPr>
              <a:t>AT&amp;T TELECOM • CERTIFICATION CDSD</a:t>
            </a:r>
            <a:endParaRPr b="1" sz="1000">
              <a:solidFill>
                <a:srgbClr val="00A8E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5" name="Google Shape;85;p1"/>
          <p:cNvSpPr txBox="1"/>
          <p:nvPr/>
        </p:nvSpPr>
        <p:spPr>
          <a:xfrm>
            <a:off x="762000" y="1524000"/>
            <a:ext cx="10668000" cy="1221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sp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lang="en-US" sz="5200">
                <a:solidFill>
                  <a:srgbClr val="FFFFFF"/>
                </a:solidFill>
                <a:latin typeface="Inter ExtraBold"/>
                <a:ea typeface="Inter ExtraBold"/>
                <a:cs typeface="Inter ExtraBold"/>
                <a:sym typeface="Inter ExtraBold"/>
              </a:rPr>
              <a:t>SMS Spam Detector</a:t>
            </a:r>
            <a:endParaRPr b="0" sz="5200">
              <a:solidFill>
                <a:srgbClr val="FFFFFF"/>
              </a:solidFill>
              <a:latin typeface="Inter ExtraBold"/>
              <a:ea typeface="Inter ExtraBold"/>
              <a:cs typeface="Inter ExtraBold"/>
              <a:sym typeface="Inter ExtraBold"/>
            </a:endParaRPr>
          </a:p>
          <a:p>
            <a:pPr indent="0" lvl="0" marL="0" rtl="0" algn="l">
              <a:spcBef>
                <a:spcPts val="1125"/>
              </a:spcBef>
              <a:spcAft>
                <a:spcPts val="0"/>
              </a:spcAft>
              <a:buNone/>
            </a:pPr>
            <a:r>
              <a:rPr b="0" lang="en-US" sz="1800">
                <a:solidFill>
                  <a:srgbClr val="00A8E0"/>
                </a:solidFill>
                <a:latin typeface="Inter"/>
                <a:ea typeface="Inter"/>
                <a:cs typeface="Inter"/>
                <a:sym typeface="Inter"/>
              </a:rPr>
              <a:t>Filtrage intelligent des menaces mobiles par Deep Learning &amp; Réseaux Récurrents (Bi-LSTM)</a:t>
            </a:r>
            <a:endParaRPr b="0" sz="1800">
              <a:solidFill>
                <a:srgbClr val="00A8E0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6" name="Google Shape;86;p1"/>
          <p:cNvSpPr/>
          <p:nvPr/>
        </p:nvSpPr>
        <p:spPr>
          <a:xfrm>
            <a:off x="762000" y="4191000"/>
            <a:ext cx="10668000" cy="1714500"/>
          </a:xfrm>
          <a:prstGeom prst="roundRect">
            <a:avLst>
              <a:gd fmla="val 8888" name="adj"/>
            </a:avLst>
          </a:prstGeom>
          <a:solidFill>
            <a:srgbClr val="103458"/>
          </a:solidFill>
          <a:ln cap="flat" cmpd="sng" w="14300">
            <a:solidFill>
              <a:srgbClr val="00A8E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87" name="Google Shape;87;p1"/>
          <p:cNvSpPr txBox="1"/>
          <p:nvPr/>
        </p:nvSpPr>
        <p:spPr>
          <a:xfrm>
            <a:off x="1143000" y="4524375"/>
            <a:ext cx="26670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A8E0"/>
                </a:solidFill>
                <a:latin typeface="Inter"/>
                <a:ea typeface="Inter"/>
                <a:cs typeface="Inter"/>
                <a:sym typeface="Inter"/>
              </a:rPr>
              <a:t>Présenté par</a:t>
            </a:r>
            <a:endParaRPr b="1" sz="1000">
              <a:solidFill>
                <a:srgbClr val="00A8E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Christopher Gilleron</a:t>
            </a:r>
            <a:endParaRPr b="1" sz="18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8" name="Google Shape;88;p1"/>
          <p:cNvSpPr txBox="1"/>
          <p:nvPr/>
        </p:nvSpPr>
        <p:spPr>
          <a:xfrm>
            <a:off x="4572000" y="4524375"/>
            <a:ext cx="26670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A8E0"/>
                </a:solidFill>
                <a:latin typeface="Inter"/>
                <a:ea typeface="Inter"/>
                <a:cs typeface="Inter"/>
                <a:sym typeface="Inter"/>
              </a:rPr>
              <a:t>Date de session</a:t>
            </a:r>
            <a:endParaRPr b="1" sz="1000">
              <a:solidFill>
                <a:srgbClr val="00A8E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FFFFFF"/>
                </a:solidFill>
                <a:latin typeface="Inter"/>
                <a:ea typeface="Inter"/>
                <a:cs typeface="Inter"/>
                <a:sym typeface="Inter"/>
              </a:rPr>
              <a:t>8 octobre 2026</a:t>
            </a:r>
            <a:endParaRPr b="1" sz="1800">
              <a:solidFill>
                <a:srgbClr val="FFFFFF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sp>
        <p:nvSpPr>
          <p:cNvPr id="89" name="Google Shape;89;p1"/>
          <p:cNvSpPr txBox="1"/>
          <p:nvPr/>
        </p:nvSpPr>
        <p:spPr>
          <a:xfrm>
            <a:off x="8001000" y="4524375"/>
            <a:ext cx="3048000" cy="1047900"/>
          </a:xfrm>
          <a:prstGeom prst="rect">
            <a:avLst/>
          </a:prstGeom>
          <a:solidFill>
            <a:srgbClr val="000000">
              <a:alpha val="0"/>
            </a:srgbClr>
          </a:solidFill>
          <a:ln>
            <a:noFill/>
          </a:ln>
        </p:spPr>
        <p:txBody>
          <a:bodyPr anchorCtr="0" anchor="t" bIns="0" lIns="0" spcFirstLastPara="1" rIns="0" wrap="square" tIns="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US" sz="1000">
                <a:solidFill>
                  <a:srgbClr val="00A8E0"/>
                </a:solidFill>
                <a:latin typeface="Inter"/>
                <a:ea typeface="Inter"/>
                <a:cs typeface="Inter"/>
                <a:sym typeface="Inter"/>
              </a:rPr>
              <a:t>Certification</a:t>
            </a:r>
            <a:endParaRPr b="1" sz="1000">
              <a:solidFill>
                <a:srgbClr val="00A8E0"/>
              </a:solidFill>
              <a:latin typeface="Inter"/>
              <a:ea typeface="Inter"/>
              <a:cs typeface="Inter"/>
              <a:sym typeface="Inter"/>
            </a:endParaRPr>
          </a:p>
          <a:p>
            <a:pPr indent="0" lvl="0" marL="0" rtl="0" algn="l">
              <a:spcBef>
                <a:spcPts val="600"/>
              </a:spcBef>
              <a:spcAft>
                <a:spcPts val="0"/>
              </a:spcAft>
              <a:buNone/>
            </a:pPr>
            <a:r>
              <a:rPr b="1" lang="en-US" sz="1800">
                <a:solidFill>
                  <a:srgbClr val="3FDAD2"/>
                </a:solidFill>
                <a:latin typeface="Inter"/>
                <a:ea typeface="Inter"/>
                <a:cs typeface="Inter"/>
                <a:sym typeface="Inter"/>
              </a:rPr>
              <a:t>CDSD BLOC 4</a:t>
            </a:r>
            <a:endParaRPr b="1" sz="1800">
              <a:solidFill>
                <a:srgbClr val="3FDAD2"/>
              </a:solidFill>
              <a:latin typeface="Inter"/>
              <a:ea typeface="Inter"/>
              <a:cs typeface="Inter"/>
              <a:sym typeface="Inter"/>
            </a:endParaRPr>
          </a:p>
        </p:txBody>
      </p:sp>
      <p:pic>
        <p:nvPicPr>
          <p:cNvPr id="90" name="Google Shape;90;p1"/>
          <p:cNvPicPr preferRelativeResize="0"/>
          <p:nvPr/>
        </p:nvPicPr>
        <p:blipFill rotWithShape="1">
          <a:blip r:embed="rId3">
            <a:alphaModFix/>
          </a:blip>
          <a:srcRect b="0" l="0" r="10" t="0"/>
          <a:stretch/>
        </p:blipFill>
        <p:spPr>
          <a:xfrm>
            <a:off x="10708958" y="762000"/>
            <a:ext cx="720900" cy="7593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A"/>
        </a:solidFill>
      </p:bgPr>
    </p:bg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2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1. CONTEXTE &amp; ENJEU MÉTIER</a:t>
            </a:r>
            <a:endParaRPr/>
          </a:p>
        </p:txBody>
      </p:sp>
      <p:sp>
        <p:nvSpPr>
          <p:cNvPr id="96" name="Google Shape;96;p2"/>
          <p:cNvSpPr txBox="1"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Le défi du Smishing : un coût d'erreur asymétrique</a:t>
            </a:r>
            <a:endParaRPr/>
          </a:p>
        </p:txBody>
      </p:sp>
      <p:sp>
        <p:nvSpPr>
          <p:cNvPr id="97" name="Google Shape;97;p2"/>
          <p:cNvSpPr/>
          <p:nvPr/>
        </p:nvSpPr>
        <p:spPr>
          <a:xfrm>
            <a:off x="731520" y="1645920"/>
            <a:ext cx="3383280" cy="457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98" name="Google Shape;98;p2"/>
          <p:cNvSpPr txBox="1"/>
          <p:nvPr/>
        </p:nvSpPr>
        <p:spPr>
          <a:xfrm>
            <a:off x="914400" y="1828800"/>
            <a:ext cx="301752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🚨 L'Explosion du Smishing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Hameçonnage bancaire, faux colis, escroqueries au gain d'argent.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Dégradation de la confiance abonnés envers le réseau AT&amp;T.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Nécessité absolue d'un filtrage automatique en amont à la réception.</a:t>
            </a:r>
            <a:endParaRPr/>
          </a:p>
        </p:txBody>
      </p:sp>
      <p:sp>
        <p:nvSpPr>
          <p:cNvPr id="99" name="Google Shape;99;p2"/>
          <p:cNvSpPr/>
          <p:nvPr/>
        </p:nvSpPr>
        <p:spPr>
          <a:xfrm>
            <a:off x="4389120" y="1645920"/>
            <a:ext cx="3383280" cy="457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0" name="Google Shape;100;p2"/>
          <p:cNvSpPr txBox="1"/>
          <p:nvPr/>
        </p:nvSpPr>
        <p:spPr>
          <a:xfrm>
            <a:off x="4572000" y="1828800"/>
            <a:ext cx="301752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⚖️ La Contrainte Métier Clé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Faux Négatif (Spam qui passe) :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 -&gt; Simple désagrément, l'utilisateur efface le message.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Faux Positif (SMS légitime bloqué) :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 -&gt; Rejet d'un code 2FA bancaire, confirmation médicale ou alerte d'urgence.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 -&gt; INACCEPTABLE pour un opérateur.</a:t>
            </a:r>
            <a:endParaRPr/>
          </a:p>
        </p:txBody>
      </p:sp>
      <p:sp>
        <p:nvSpPr>
          <p:cNvPr id="101" name="Google Shape;101;p2"/>
          <p:cNvSpPr/>
          <p:nvPr/>
        </p:nvSpPr>
        <p:spPr>
          <a:xfrm>
            <a:off x="8046720" y="1645920"/>
            <a:ext cx="3383280" cy="457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02" name="Google Shape;102;p2"/>
          <p:cNvSpPr txBox="1"/>
          <p:nvPr/>
        </p:nvSpPr>
        <p:spPr>
          <a:xfrm>
            <a:off x="8229600" y="1828800"/>
            <a:ext cx="301752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🎯 Spécifications Cibles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1. Comprendre la sémantique et la séquence des mots (dépasser les filtres par mots-clés).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2. Maximiser le Recall sur les spams tout en garantissant un taux de Faux Positifs &lt; 0,5 %.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3. Fournir une inférence temps réel ultra-légère pour le réseau.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A"/>
        </a:solidFill>
      </p:bgPr>
    </p:bg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3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2. ANALYSE EXPLORATOIRE</a:t>
            </a:r>
            <a:endParaRPr/>
          </a:p>
        </p:txBody>
      </p:sp>
      <p:sp>
        <p:nvSpPr>
          <p:cNvPr id="108" name="Google Shape;108;p3"/>
          <p:cNvSpPr txBox="1"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Dataset AT&amp;T : 5 572 SMS et forte asymétrie de classes</a:t>
            </a:r>
            <a:endParaRPr/>
          </a:p>
        </p:txBody>
      </p:sp>
      <p:sp>
        <p:nvSpPr>
          <p:cNvPr id="109" name="Google Shape;109;p3"/>
          <p:cNvSpPr/>
          <p:nvPr/>
        </p:nvSpPr>
        <p:spPr>
          <a:xfrm>
            <a:off x="731520" y="1645920"/>
            <a:ext cx="3383280" cy="14630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0" name="Google Shape;110;p3"/>
          <p:cNvSpPr txBox="1"/>
          <p:nvPr/>
        </p:nvSpPr>
        <p:spPr>
          <a:xfrm>
            <a:off x="914400" y="1737360"/>
            <a:ext cx="30175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5 572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SMS analysés (100% étiquetés)</a:t>
            </a:r>
            <a:endParaRPr/>
          </a:p>
        </p:txBody>
      </p:sp>
      <p:sp>
        <p:nvSpPr>
          <p:cNvPr id="111" name="Google Shape;111;p3"/>
          <p:cNvSpPr/>
          <p:nvPr/>
        </p:nvSpPr>
        <p:spPr>
          <a:xfrm>
            <a:off x="4389120" y="1645920"/>
            <a:ext cx="3383280" cy="14630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2" name="Google Shape;112;p3"/>
          <p:cNvSpPr txBox="1"/>
          <p:nvPr/>
        </p:nvSpPr>
        <p:spPr>
          <a:xfrm>
            <a:off x="4572000" y="1737360"/>
            <a:ext cx="30175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86,6 %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Messages légitimes (4 825 Ham)</a:t>
            </a:r>
            <a:endParaRPr/>
          </a:p>
        </p:txBody>
      </p:sp>
      <p:sp>
        <p:nvSpPr>
          <p:cNvPr id="113" name="Google Shape;113;p3"/>
          <p:cNvSpPr/>
          <p:nvPr/>
        </p:nvSpPr>
        <p:spPr>
          <a:xfrm>
            <a:off x="8046720" y="1645920"/>
            <a:ext cx="3383280" cy="14630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4" name="Google Shape;114;p3"/>
          <p:cNvSpPr txBox="1"/>
          <p:nvPr/>
        </p:nvSpPr>
        <p:spPr>
          <a:xfrm>
            <a:off x="8229600" y="1737360"/>
            <a:ext cx="3017520" cy="12801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8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13,4 %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Spams malveillants (747 Spam)</a:t>
            </a:r>
            <a:endParaRPr/>
          </a:p>
        </p:txBody>
      </p:sp>
      <p:sp>
        <p:nvSpPr>
          <p:cNvPr id="115" name="Google Shape;115;p3"/>
          <p:cNvSpPr/>
          <p:nvPr/>
        </p:nvSpPr>
        <p:spPr>
          <a:xfrm>
            <a:off x="731520" y="3383280"/>
            <a:ext cx="10698480" cy="292608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16" name="Google Shape;116;p3"/>
          <p:cNvSpPr txBox="1"/>
          <p:nvPr/>
        </p:nvSpPr>
        <p:spPr>
          <a:xfrm>
            <a:off x="1005840" y="3566160"/>
            <a:ext cx="10149840" cy="256032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8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Morphologie &amp; Enjeux de Modélisation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Longueur des textes : Les spams sont calibrés et longs (moyenne = 139 caractères, écart-type = 29), souvent saturés d'appels à l'action. Les hams sont courts et variables (moyenne = 71 caractères, écart-type = 58).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Piège de l'Accuracy : Un modèle prédisant bêtement 'Ham' atteindrait 86,6 % d'accuracy avec 0% d'utilité.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Rigueur méthodologique : Séparation Train / Test 80 / 20 avec stratification obligatoire (stratify=y) pour préserver strictement le ratio 86,6 / 13,4 dans les deux partitions.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A"/>
        </a:solidFill>
      </p:bgPr>
    </p:bg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4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3. BENCHMARK &amp; BASELINE</a:t>
            </a:r>
            <a:endParaRPr/>
          </a:p>
        </p:txBody>
      </p:sp>
      <p:sp>
        <p:nvSpPr>
          <p:cNvPr id="122" name="Google Shape;122;p4"/>
          <p:cNvSpPr txBox="1"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Baseline classique : TF-IDF + Régression Logistique</a:t>
            </a:r>
            <a:endParaRPr/>
          </a:p>
        </p:txBody>
      </p:sp>
      <p:sp>
        <p:nvSpPr>
          <p:cNvPr id="123" name="Google Shape;123;p4"/>
          <p:cNvSpPr/>
          <p:nvPr/>
        </p:nvSpPr>
        <p:spPr>
          <a:xfrm>
            <a:off x="731520" y="1645920"/>
            <a:ext cx="5120640" cy="457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4" name="Google Shape;124;p4"/>
          <p:cNvSpPr txBox="1"/>
          <p:nvPr/>
        </p:nvSpPr>
        <p:spPr>
          <a:xfrm>
            <a:off x="1005840" y="1828800"/>
            <a:ext cx="457200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Approche Sac de Mots (N-Grammes)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1. Nettoyage &amp; Normalisation textuelle.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2. Vectorisation TF-IDF (mots + bigrammes, max_features=5 000).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  -&gt; Capte les paires révélatrices ('claim prize', 'call now', 'txt stop').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3. Classifieur linéaire : Régression Logistique (L2 penalty).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E53E3E"/>
                </a:solidFill>
                <a:latin typeface="Calibri"/>
                <a:ea typeface="Calibri"/>
                <a:cs typeface="Calibri"/>
                <a:sym typeface="Calibri"/>
              </a:rPr>
              <a:t>⚠️ Limite structurelle de la Baseline :</a:t>
            </a:r>
            <a:br>
              <a:rPr b="0" i="0" lang="en-US" sz="1200" u="none" cap="none" strike="noStrike">
                <a:solidFill>
                  <a:srgbClr val="E53E3E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E53E3E"/>
                </a:solidFill>
                <a:latin typeface="Calibri"/>
                <a:ea typeface="Calibri"/>
                <a:cs typeface="Calibri"/>
                <a:sym typeface="Calibri"/>
              </a:rPr>
              <a:t>Elle traite les mots comme des sacs indépendants, sans ordre ni dépendances séquentielles lointaines.</a:t>
            </a:r>
            <a:endParaRPr/>
          </a:p>
        </p:txBody>
      </p:sp>
      <p:sp>
        <p:nvSpPr>
          <p:cNvPr id="125" name="Google Shape;125;p4"/>
          <p:cNvSpPr/>
          <p:nvPr/>
        </p:nvSpPr>
        <p:spPr>
          <a:xfrm>
            <a:off x="6217920" y="1645920"/>
            <a:ext cx="5212080" cy="457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26" name="Google Shape;126;p4"/>
          <p:cNvSpPr txBox="1"/>
          <p:nvPr/>
        </p:nvSpPr>
        <p:spPr>
          <a:xfrm>
            <a:off x="6492240" y="1828800"/>
            <a:ext cx="466344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Performances de Référence (Seuil 0,50)</a:t>
            </a:r>
            <a:endParaRPr/>
          </a:p>
          <a:p>
            <a:pPr indent="0" lvl="0" marL="0" marR="0" rtl="0" algn="l">
              <a:spcBef>
                <a:spcPts val="140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• Accuracy globale : 97,8 %</a:t>
            </a:r>
            <a:br>
              <a:rPr b="1" i="0" lang="en-US" sz="14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4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• Précision (Spam) : 98,4 %</a:t>
            </a:r>
            <a:br>
              <a:rPr b="1" i="0" lang="en-US" sz="14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4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• Rappel / Recall (Spam) : 85,2 %  (1 spam sur 7 non détecté)</a:t>
            </a:r>
            <a:br>
              <a:rPr b="1" i="0" lang="en-US" sz="14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4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• F1-Score (Spam) : 0,913</a:t>
            </a:r>
            <a:br>
              <a:rPr b="1" i="0" lang="en-US" sz="14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1" i="0" lang="en-US" sz="14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• ROC-AUC : 0,985</a:t>
            </a:r>
            <a:endParaRPr/>
          </a:p>
          <a:p>
            <a:pPr indent="0" lvl="0" marL="0" marR="0" rtl="0" algn="l">
              <a:spcBef>
                <a:spcPts val="16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Verdict Baseline : Très bon niveau de précision, mais le rappel laisse s'échapper 15 % des spams malveillants. Un modèle séquentiel profond est nécessaire.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A"/>
        </a:solidFill>
      </p:bgPr>
    </p:bg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5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4. ARCHITECTURE DEEP LEARNING</a:t>
            </a:r>
            <a:endParaRPr/>
          </a:p>
        </p:txBody>
      </p:sp>
      <p:sp>
        <p:nvSpPr>
          <p:cNvPr id="132" name="Google Shape;132;p5"/>
          <p:cNvSpPr txBox="1"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Réseau Récurrent Bidirectionnel (Embedding + Bi-LSTM)</a:t>
            </a:r>
            <a:endParaRPr/>
          </a:p>
        </p:txBody>
      </p:sp>
      <p:sp>
        <p:nvSpPr>
          <p:cNvPr id="133" name="Google Shape;133;p5"/>
          <p:cNvSpPr/>
          <p:nvPr/>
        </p:nvSpPr>
        <p:spPr>
          <a:xfrm>
            <a:off x="731520" y="1645920"/>
            <a:ext cx="5486400" cy="10058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4" name="Google Shape;134;p5"/>
          <p:cNvSpPr txBox="1"/>
          <p:nvPr/>
        </p:nvSpPr>
        <p:spPr>
          <a:xfrm>
            <a:off x="914400" y="1737360"/>
            <a:ext cx="51206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1. Tokenizer &amp; Padding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Vocabulaire 10 000 mots + &lt;OOV&gt;</a:t>
            </a:r>
            <a:br>
              <a:rPr b="0" i="0" lang="en-US" sz="11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Padding fixe maxlen=100 tokens</a:t>
            </a:r>
            <a:endParaRPr/>
          </a:p>
        </p:txBody>
      </p:sp>
      <p:sp>
        <p:nvSpPr>
          <p:cNvPr id="135" name="Google Shape;135;p5"/>
          <p:cNvSpPr/>
          <p:nvPr/>
        </p:nvSpPr>
        <p:spPr>
          <a:xfrm>
            <a:off x="731520" y="2788920"/>
            <a:ext cx="5486400" cy="10058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6" name="Google Shape;136;p5"/>
          <p:cNvSpPr txBox="1"/>
          <p:nvPr/>
        </p:nvSpPr>
        <p:spPr>
          <a:xfrm>
            <a:off x="914400" y="2880360"/>
            <a:ext cx="51206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2. Embedding Layer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Espace dense 32 dimensions</a:t>
            </a:r>
            <a:br>
              <a:rPr b="0" i="0" lang="en-US" sz="11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Apprentissage des proximités sémantiques</a:t>
            </a:r>
            <a:endParaRPr/>
          </a:p>
        </p:txBody>
      </p:sp>
      <p:sp>
        <p:nvSpPr>
          <p:cNvPr id="137" name="Google Shape;137;p5"/>
          <p:cNvSpPr/>
          <p:nvPr/>
        </p:nvSpPr>
        <p:spPr>
          <a:xfrm>
            <a:off x="731520" y="3931920"/>
            <a:ext cx="5486400" cy="10058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38" name="Google Shape;138;p5"/>
          <p:cNvSpPr txBox="1"/>
          <p:nvPr/>
        </p:nvSpPr>
        <p:spPr>
          <a:xfrm>
            <a:off x="914400" y="4023360"/>
            <a:ext cx="51206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3. Bidirectional LSTM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32 unités par sens (64 features)</a:t>
            </a:r>
            <a:br>
              <a:rPr b="0" i="0" lang="en-US" sz="11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Capture du contexte gauche &amp; droite</a:t>
            </a:r>
            <a:endParaRPr/>
          </a:p>
        </p:txBody>
      </p:sp>
      <p:sp>
        <p:nvSpPr>
          <p:cNvPr id="139" name="Google Shape;139;p5"/>
          <p:cNvSpPr/>
          <p:nvPr/>
        </p:nvSpPr>
        <p:spPr>
          <a:xfrm>
            <a:off x="731520" y="5074920"/>
            <a:ext cx="5486400" cy="100584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0" name="Google Shape;140;p5"/>
          <p:cNvSpPr txBox="1"/>
          <p:nvPr/>
        </p:nvSpPr>
        <p:spPr>
          <a:xfrm>
            <a:off x="914400" y="5166360"/>
            <a:ext cx="5120640" cy="8229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4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4. Dense + Dropout + Output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Dense ReLU 32 -&gt; Dropout 0.2</a:t>
            </a:r>
            <a:br>
              <a:rPr b="0" i="0" lang="en-US" sz="11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1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Dense Sigmoid 1 -&gt; P(Spam) [0, 1]</a:t>
            </a:r>
            <a:endParaRPr/>
          </a:p>
        </p:txBody>
      </p:sp>
      <p:sp>
        <p:nvSpPr>
          <p:cNvPr id="141" name="Google Shape;141;p5"/>
          <p:cNvSpPr/>
          <p:nvPr/>
        </p:nvSpPr>
        <p:spPr>
          <a:xfrm>
            <a:off x="6583680" y="1645920"/>
            <a:ext cx="4846320" cy="448056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42" name="Google Shape;142;p5"/>
          <p:cNvSpPr txBox="1"/>
          <p:nvPr/>
        </p:nvSpPr>
        <p:spPr>
          <a:xfrm>
            <a:off x="6858000" y="1828800"/>
            <a:ext cx="429768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Atouts Clés de l'Architecture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Pourquoi l'Embedding ?</a:t>
            </a:r>
            <a:b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 Remplace le one-hot sparse par des vecteurs sémantiques riches. Deux mots proches en sens ont des vecteurs voisins.</a:t>
            </a:r>
            <a:b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Pourquoi Bidirectionnel ?</a:t>
            </a:r>
            <a:b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 Dans un SMS de phishing, le lien d'arnaque est souvent à la fin mais modifie le sens des mots du début ('Urgent, vérifiez ici').</a:t>
            </a:r>
            <a:b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Régularisation &amp; Early Stopping :</a:t>
            </a:r>
            <a:b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 Dropout 20 % et arrêt automatique avec restauration des meilleurs poids pour éliminer tout surapprentissage.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A"/>
        </a:solidFill>
      </p:bgPr>
    </p:bg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6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5. ÉVALUATION DES PERFORMANCES</a:t>
            </a:r>
            <a:endParaRPr/>
          </a:p>
        </p:txBody>
      </p:sp>
      <p:sp>
        <p:nvSpPr>
          <p:cNvPr id="148" name="Google Shape;148;p6"/>
          <p:cNvSpPr txBox="1"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Gain substantiel sur le rappel des spams sans perte de précision</a:t>
            </a:r>
            <a:endParaRPr/>
          </a:p>
        </p:txBody>
      </p:sp>
      <p:sp>
        <p:nvSpPr>
          <p:cNvPr id="149" name="Google Shape;149;p6"/>
          <p:cNvSpPr/>
          <p:nvPr/>
        </p:nvSpPr>
        <p:spPr>
          <a:xfrm>
            <a:off x="731520" y="1645920"/>
            <a:ext cx="5486400" cy="457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0" name="Google Shape;150;p6"/>
          <p:cNvSpPr txBox="1"/>
          <p:nvPr/>
        </p:nvSpPr>
        <p:spPr>
          <a:xfrm>
            <a:off x="1005840" y="1828800"/>
            <a:ext cx="493776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Tableau Comparatif (Test Set n=1 115)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100" u="none" cap="none" strike="noStrike">
                <a:solidFill>
                  <a:srgbClr val="4A5568"/>
                </a:solidFill>
                <a:latin typeface="Consolas"/>
                <a:ea typeface="Consolas"/>
                <a:cs typeface="Consolas"/>
                <a:sym typeface="Consolas"/>
              </a:rPr>
              <a:t>Métrique                Baseline LogReg     Bi-LSTM Keras</a:t>
            </a:r>
            <a:br>
              <a:rPr b="0" i="0" lang="en-US" sz="1100" u="none" cap="none" strike="noStrike">
                <a:solidFill>
                  <a:srgbClr val="4A556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4A5568"/>
                </a:solidFill>
                <a:latin typeface="Consolas"/>
                <a:ea typeface="Consolas"/>
                <a:cs typeface="Consolas"/>
                <a:sym typeface="Consolas"/>
              </a:rPr>
              <a:t>--------------------------------------------------------</a:t>
            </a:r>
            <a:br>
              <a:rPr b="0" i="0" lang="en-US" sz="1100" u="none" cap="none" strike="noStrike">
                <a:solidFill>
                  <a:srgbClr val="4A556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4A5568"/>
                </a:solidFill>
                <a:latin typeface="Consolas"/>
                <a:ea typeface="Consolas"/>
                <a:cs typeface="Consolas"/>
                <a:sym typeface="Consolas"/>
              </a:rPr>
              <a:t>Accuracy                  97,8 %               98,6 %</a:t>
            </a:r>
            <a:br>
              <a:rPr b="0" i="0" lang="en-US" sz="1100" u="none" cap="none" strike="noStrike">
                <a:solidFill>
                  <a:srgbClr val="4A556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4A5568"/>
                </a:solidFill>
                <a:latin typeface="Consolas"/>
                <a:ea typeface="Consolas"/>
                <a:cs typeface="Consolas"/>
                <a:sym typeface="Consolas"/>
              </a:rPr>
              <a:t>Précision (Spam)          98,4 %               96,5 %</a:t>
            </a:r>
            <a:br>
              <a:rPr b="0" i="0" lang="en-US" sz="1100" u="none" cap="none" strike="noStrike">
                <a:solidFill>
                  <a:srgbClr val="4A556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4A5568"/>
                </a:solidFill>
                <a:latin typeface="Consolas"/>
                <a:ea typeface="Consolas"/>
                <a:cs typeface="Consolas"/>
                <a:sym typeface="Consolas"/>
              </a:rPr>
              <a:t>Rappel / Recall (Spam)    85,2 %               93,3 %  (+8,1 pts)</a:t>
            </a:r>
            <a:br>
              <a:rPr b="0" i="0" lang="en-US" sz="1100" u="none" cap="none" strike="noStrike">
                <a:solidFill>
                  <a:srgbClr val="4A556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4A5568"/>
                </a:solidFill>
                <a:latin typeface="Consolas"/>
                <a:ea typeface="Consolas"/>
                <a:cs typeface="Consolas"/>
                <a:sym typeface="Consolas"/>
              </a:rPr>
              <a:t>F1-Score (Spam)           0,913                0,949   (+3,6 pts)</a:t>
            </a:r>
            <a:br>
              <a:rPr b="0" i="0" lang="en-US" sz="1100" u="none" cap="none" strike="noStrike">
                <a:solidFill>
                  <a:srgbClr val="4A556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4A5568"/>
                </a:solidFill>
                <a:latin typeface="Consolas"/>
                <a:ea typeface="Consolas"/>
                <a:cs typeface="Consolas"/>
                <a:sym typeface="Consolas"/>
              </a:rPr>
              <a:t>ROC-AUC                   0,985                0,991</a:t>
            </a:r>
            <a:br>
              <a:rPr b="0" i="0" lang="en-US" sz="1100" u="none" cap="none" strike="noStrike">
                <a:solidFill>
                  <a:srgbClr val="4A556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4A5568"/>
                </a:solidFill>
                <a:latin typeface="Consolas"/>
                <a:ea typeface="Consolas"/>
                <a:cs typeface="Consolas"/>
                <a:sym typeface="Consolas"/>
              </a:rPr>
              <a:t>Faux Négatifs (Ratés)       22                   10    (Divisé par 2 !)</a:t>
            </a:r>
            <a:br>
              <a:rPr b="0" i="0" lang="en-US" sz="1100" u="none" cap="none" strike="noStrike">
                <a:solidFill>
                  <a:srgbClr val="4A5568"/>
                </a:solidFill>
                <a:latin typeface="Consolas"/>
                <a:ea typeface="Consolas"/>
                <a:cs typeface="Consolas"/>
                <a:sym typeface="Consolas"/>
              </a:rPr>
            </a:br>
            <a:r>
              <a:rPr b="0" i="0" lang="en-US" sz="1100" u="none" cap="none" strike="noStrike">
                <a:solidFill>
                  <a:srgbClr val="4A5568"/>
                </a:solidFill>
                <a:latin typeface="Consolas"/>
                <a:ea typeface="Consolas"/>
                <a:cs typeface="Consolas"/>
                <a:sym typeface="Consolas"/>
              </a:rPr>
              <a:t>Faux Positifs (Erreurs)      2                    5</a:t>
            </a:r>
            <a:endParaRPr/>
          </a:p>
        </p:txBody>
      </p:sp>
      <p:sp>
        <p:nvSpPr>
          <p:cNvPr id="151" name="Google Shape;151;p6"/>
          <p:cNvSpPr/>
          <p:nvPr/>
        </p:nvSpPr>
        <p:spPr>
          <a:xfrm>
            <a:off x="6583680" y="1645920"/>
            <a:ext cx="4846320" cy="457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52" name="Google Shape;152;p6"/>
          <p:cNvSpPr txBox="1"/>
          <p:nvPr/>
        </p:nvSpPr>
        <p:spPr>
          <a:xfrm>
            <a:off x="6858000" y="1828800"/>
            <a:ext cx="429768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Analyse Opérationnelle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1. Détection accrue :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Le Bi-LSTM divise par plus de deux le volume de spams non interceptés (de 22 à 10 spams manqués sur 149).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2. Compréhension du contexte :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Le modèle neutralise les variantes lexicales et repère les structures grammaticales types du hameçonnage.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3. Stabilité :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La courbe de validation montre une convergence rapide sans divergence entre train_loss et val_loss.</a:t>
            </a:r>
            <a:endParaRPr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F8F9FA"/>
        </a:solidFill>
      </p:bgPr>
    </p:bg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7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6. DÉPLOIEMENT &amp; AJUSTEMENT MÉTIER</a:t>
            </a:r>
            <a:endParaRPr/>
          </a:p>
        </p:txBody>
      </p:sp>
      <p:sp>
        <p:nvSpPr>
          <p:cNvPr id="158" name="Google Shape;158;p7"/>
          <p:cNvSpPr txBox="1"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Pilotage du seuil de décision &amp; Application Streamlit</a:t>
            </a:r>
            <a:endParaRPr/>
          </a:p>
        </p:txBody>
      </p:sp>
      <p:sp>
        <p:nvSpPr>
          <p:cNvPr id="159" name="Google Shape;159;p7"/>
          <p:cNvSpPr/>
          <p:nvPr/>
        </p:nvSpPr>
        <p:spPr>
          <a:xfrm>
            <a:off x="731520" y="1645920"/>
            <a:ext cx="5120640" cy="457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0" name="Google Shape;160;p7"/>
          <p:cNvSpPr txBox="1"/>
          <p:nvPr/>
        </p:nvSpPr>
        <p:spPr>
          <a:xfrm>
            <a:off x="1005840" y="1828800"/>
            <a:ext cx="457200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A2540"/>
                </a:solidFill>
                <a:latin typeface="Calibri"/>
                <a:ea typeface="Calibri"/>
                <a:cs typeface="Calibri"/>
                <a:sym typeface="Calibri"/>
              </a:rPr>
              <a:t>Le Seuil comme Curseur Métier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Politique Défensive AT&amp;T (Seuil = 0,70) :</a:t>
            </a:r>
            <a:b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 Priorité absolue : 0 Faux Positif. Seuls les spams ultra-confiants sont bloqués. Taux d'interception = 90 %.</a:t>
            </a:r>
            <a:b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Politique Équilibrée (Seuil = 0,23 - 0,35) :</a:t>
            </a:r>
            <a:b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  Maximise le F1-score à 0,95. Capture 93,5 % des spams avec seulement 5 cas limites réorientés en quarantaine.</a:t>
            </a:r>
            <a:b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b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En production : Mise en place d'un dossier 'Quarantaine / Courrier indésirable' pour les probabilités intermédiaires (0,30 à 0,70).</a:t>
            </a:r>
            <a:endParaRPr/>
          </a:p>
        </p:txBody>
      </p:sp>
      <p:sp>
        <p:nvSpPr>
          <p:cNvPr id="161" name="Google Shape;161;p7"/>
          <p:cNvSpPr/>
          <p:nvPr/>
        </p:nvSpPr>
        <p:spPr>
          <a:xfrm>
            <a:off x="6217920" y="1645920"/>
            <a:ext cx="5212080" cy="4572000"/>
          </a:xfrm>
          <a:prstGeom prst="roundRect">
            <a:avLst>
              <a:gd fmla="val 16667" name="adj"/>
            </a:avLst>
          </a:prstGeom>
          <a:solidFill>
            <a:srgbClr val="FFFFFF"/>
          </a:solidFill>
          <a:ln cap="flat" cmpd="sng" w="12700">
            <a:solidFill>
              <a:srgbClr val="E2E8F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62" name="Google Shape;162;p7"/>
          <p:cNvSpPr txBox="1"/>
          <p:nvPr/>
        </p:nvSpPr>
        <p:spPr>
          <a:xfrm>
            <a:off x="6492240" y="1828800"/>
            <a:ext cx="466344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Interface Interactive Streamlit (app.py)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Analyse en direct d'un SMS saisi ou test d'exemples types.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Jauge visuelle de probabilité de spam.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Curseur dynamique de seuil ajustable pour simuler les politiques de sécurité du réseau.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Surlignage immédiat des mots et patterns suspects.</a:t>
            </a:r>
            <a:b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300" u="none" cap="none" strike="noStrike">
                <a:solidFill>
                  <a:srgbClr val="4A5568"/>
                </a:solidFill>
                <a:latin typeface="Calibri"/>
                <a:ea typeface="Calibri"/>
                <a:cs typeface="Calibri"/>
                <a:sym typeface="Calibri"/>
              </a:rPr>
              <a:t>• Démonstration opérationnelle à disposition du jury.</a:t>
            </a:r>
            <a:endParaRPr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xmlns:ahyp="http://schemas.microsoft.com/office/drawing/2018/hyperlinkcolor">
  <p:cSld>
    <p:bg>
      <p:bgPr>
        <a:solidFill>
          <a:srgbClr val="0A2540"/>
        </a:solidFill>
      </p:bgPr>
    </p:bg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8"/>
          <p:cNvSpPr txBox="1"/>
          <p:nvPr/>
        </p:nvSpPr>
        <p:spPr>
          <a:xfrm>
            <a:off x="731520" y="457200"/>
            <a:ext cx="10698480" cy="3657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100" u="none" cap="none" strike="noStrike">
                <a:solidFill>
                  <a:srgbClr val="00A8E0"/>
                </a:solidFill>
                <a:latin typeface="Calibri"/>
                <a:ea typeface="Calibri"/>
                <a:cs typeface="Calibri"/>
                <a:sym typeface="Calibri"/>
              </a:rPr>
              <a:t>7. SYNTHÈSE &amp; PERSPECTIVES</a:t>
            </a:r>
            <a:endParaRPr/>
          </a:p>
        </p:txBody>
      </p:sp>
      <p:sp>
        <p:nvSpPr>
          <p:cNvPr id="168" name="Google Shape;168;p8"/>
          <p:cNvSpPr txBox="1"/>
          <p:nvPr/>
        </p:nvSpPr>
        <p:spPr>
          <a:xfrm>
            <a:off x="731520" y="777240"/>
            <a:ext cx="10698480" cy="594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22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Bilan du Bloc 4 et trajectoire industrielle</a:t>
            </a:r>
            <a:endParaRPr/>
          </a:p>
        </p:txBody>
      </p:sp>
      <p:sp>
        <p:nvSpPr>
          <p:cNvPr id="169" name="Google Shape;169;p8"/>
          <p:cNvSpPr/>
          <p:nvPr/>
        </p:nvSpPr>
        <p:spPr>
          <a:xfrm>
            <a:off x="731520" y="1645920"/>
            <a:ext cx="3383280" cy="4572000"/>
          </a:xfrm>
          <a:prstGeom prst="roundRect">
            <a:avLst>
              <a:gd fmla="val 16667" name="adj"/>
            </a:avLst>
          </a:prstGeom>
          <a:solidFill>
            <a:srgbClr val="103458"/>
          </a:solidFill>
          <a:ln cap="flat" cmpd="sng" w="12700">
            <a:solidFill>
              <a:srgbClr val="00A8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0" name="Google Shape;170;p8"/>
          <p:cNvSpPr txBox="1"/>
          <p:nvPr/>
        </p:nvSpPr>
        <p:spPr>
          <a:xfrm>
            <a:off x="914400" y="1828800"/>
            <a:ext cx="301752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🏆 Bilan du Projet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BED7F0"/>
                </a:solidFill>
                <a:latin typeface="Calibri"/>
                <a:ea typeface="Calibri"/>
                <a:cs typeface="Calibri"/>
                <a:sym typeface="Calibri"/>
              </a:rPr>
              <a:t>• Pipeline Deep Learning séquentiel complet validé.</a:t>
            </a:r>
            <a:br>
              <a:rPr b="0" i="0" lang="en-US" sz="1200" u="none" cap="none" strike="noStrike">
                <a:solidFill>
                  <a:srgbClr val="BED7F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BED7F0"/>
                </a:solidFill>
                <a:latin typeface="Calibri"/>
                <a:ea typeface="Calibri"/>
                <a:cs typeface="Calibri"/>
                <a:sym typeface="Calibri"/>
              </a:rPr>
              <a:t>• F1-score de 0,949 et Recall de 93,3 % sur la classe minoritaire.</a:t>
            </a:r>
            <a:br>
              <a:rPr b="0" i="0" lang="en-US" sz="1200" u="none" cap="none" strike="noStrike">
                <a:solidFill>
                  <a:srgbClr val="BED7F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BED7F0"/>
                </a:solidFill>
                <a:latin typeface="Calibri"/>
                <a:ea typeface="Calibri"/>
                <a:cs typeface="Calibri"/>
                <a:sym typeface="Calibri"/>
              </a:rPr>
              <a:t>• Maîtrise prouvée des mécanismes d'Embedding, Bi-LSTM et régulation.</a:t>
            </a:r>
            <a:endParaRPr/>
          </a:p>
        </p:txBody>
      </p:sp>
      <p:sp>
        <p:nvSpPr>
          <p:cNvPr id="171" name="Google Shape;171;p8"/>
          <p:cNvSpPr/>
          <p:nvPr/>
        </p:nvSpPr>
        <p:spPr>
          <a:xfrm>
            <a:off x="4389120" y="1645920"/>
            <a:ext cx="3383280" cy="4572000"/>
          </a:xfrm>
          <a:prstGeom prst="roundRect">
            <a:avLst>
              <a:gd fmla="val 16667" name="adj"/>
            </a:avLst>
          </a:prstGeom>
          <a:solidFill>
            <a:srgbClr val="103458"/>
          </a:solidFill>
          <a:ln cap="flat" cmpd="sng" w="12700">
            <a:solidFill>
              <a:srgbClr val="00A8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2" name="Google Shape;172;p8"/>
          <p:cNvSpPr txBox="1"/>
          <p:nvPr/>
        </p:nvSpPr>
        <p:spPr>
          <a:xfrm>
            <a:off x="4572000" y="1828800"/>
            <a:ext cx="301752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⚡ Déploiement &amp; Latence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BED7F0"/>
                </a:solidFill>
                <a:latin typeface="Calibri"/>
                <a:ea typeface="Calibri"/>
                <a:cs typeface="Calibri"/>
                <a:sym typeface="Calibri"/>
              </a:rPr>
              <a:t>• Modèle ultra-léger (&lt; 150k paramètres) assurant une inférence &lt; 5 ms par SMS.</a:t>
            </a:r>
            <a:br>
              <a:rPr b="0" i="0" lang="en-US" sz="1200" u="none" cap="none" strike="noStrike">
                <a:solidFill>
                  <a:srgbClr val="BED7F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BED7F0"/>
                </a:solidFill>
                <a:latin typeface="Calibri"/>
                <a:ea typeface="Calibri"/>
                <a:cs typeface="Calibri"/>
                <a:sym typeface="Calibri"/>
              </a:rPr>
              <a:t>• Possibilité d'export TensorFlow Lite pour un filtrage 'on-device' sur le smartphone (respect de la vie privée).</a:t>
            </a:r>
            <a:endParaRPr/>
          </a:p>
        </p:txBody>
      </p:sp>
      <p:sp>
        <p:nvSpPr>
          <p:cNvPr id="173" name="Google Shape;173;p8"/>
          <p:cNvSpPr/>
          <p:nvPr/>
        </p:nvSpPr>
        <p:spPr>
          <a:xfrm>
            <a:off x="8046720" y="1645920"/>
            <a:ext cx="3383280" cy="4572000"/>
          </a:xfrm>
          <a:prstGeom prst="roundRect">
            <a:avLst>
              <a:gd fmla="val 16667" name="adj"/>
            </a:avLst>
          </a:prstGeom>
          <a:solidFill>
            <a:srgbClr val="103458"/>
          </a:solidFill>
          <a:ln cap="flat" cmpd="sng" w="12700">
            <a:solidFill>
              <a:srgbClr val="00A8E0"/>
            </a:solidFill>
            <a:prstDash val="solid"/>
            <a:round/>
            <a:headEnd len="sm" w="sm" type="none"/>
            <a:tailEnd len="sm" w="sm" type="none"/>
          </a:ln>
          <a:effectLst>
            <a:outerShdw blurRad="40000" rotWithShape="0" dir="5400000" dist="23000">
              <a:srgbClr val="000000">
                <a:alpha val="34902"/>
              </a:srgbClr>
            </a:outerShdw>
          </a:effectLst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0" i="0" sz="18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  <p:sp>
        <p:nvSpPr>
          <p:cNvPr id="174" name="Google Shape;174;p8"/>
          <p:cNvSpPr txBox="1"/>
          <p:nvPr/>
        </p:nvSpPr>
        <p:spPr>
          <a:xfrm>
            <a:off x="8229600" y="1828800"/>
            <a:ext cx="3017520" cy="420624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sp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i="0" lang="en-US" sz="1700" u="none" cap="none" strike="noStrike">
                <a:solidFill>
                  <a:srgbClr val="FFFFFF"/>
                </a:solidFill>
                <a:latin typeface="Calibri"/>
                <a:ea typeface="Calibri"/>
                <a:cs typeface="Calibri"/>
                <a:sym typeface="Calibri"/>
              </a:rPr>
              <a:t>🚀 Évolutions Futures</a:t>
            </a:r>
            <a:endParaRPr/>
          </a:p>
          <a:p>
            <a:pPr indent="0" lvl="0" marL="0" marR="0" rtl="0" algn="l">
              <a:spcBef>
                <a:spcPts val="1200"/>
              </a:spcBef>
              <a:spcAft>
                <a:spcPts val="0"/>
              </a:spcAft>
              <a:buNone/>
            </a:pPr>
            <a:r>
              <a:rPr b="0" i="0" lang="en-US" sz="1200" u="none" cap="none" strike="noStrike">
                <a:solidFill>
                  <a:srgbClr val="BED7F0"/>
                </a:solidFill>
                <a:latin typeface="Calibri"/>
                <a:ea typeface="Calibri"/>
                <a:cs typeface="Calibri"/>
                <a:sym typeface="Calibri"/>
              </a:rPr>
              <a:t>• Gestion multilingue : extension aux corpus multilingues (espagnol, français).</a:t>
            </a:r>
            <a:br>
              <a:rPr b="0" i="0" lang="en-US" sz="1200" u="none" cap="none" strike="noStrike">
                <a:solidFill>
                  <a:srgbClr val="BED7F0"/>
                </a:solidFill>
                <a:latin typeface="Calibri"/>
                <a:ea typeface="Calibri"/>
                <a:cs typeface="Calibri"/>
                <a:sym typeface="Calibri"/>
              </a:rPr>
            </a:br>
            <a:r>
              <a:rPr b="0" i="0" lang="en-US" sz="1200" u="none" cap="none" strike="noStrike">
                <a:solidFill>
                  <a:srgbClr val="BED7F0"/>
                </a:solidFill>
                <a:latin typeface="Calibri"/>
                <a:ea typeface="Calibri"/>
                <a:cs typeface="Calibri"/>
                <a:sym typeface="Calibri"/>
              </a:rPr>
              <a:t>• Transformers : fine-tuning d'un DistilBERT pour une compréhension encore plus fine du leetspeak.</a:t>
            </a:r>
            <a:endParaRPr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terms:created xsi:type="dcterms:W3CDTF">2013-01-27T09:14:16Z</dcterms:created>
</cp:coreProperties>
</file>